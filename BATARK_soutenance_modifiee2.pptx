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9" r:id="rId4"/>
    <p:sldId id="260" r:id="rId5"/>
    <p:sldId id="263" r:id="rId6"/>
    <p:sldId id="264" r:id="rId7"/>
    <p:sldId id="262" r:id="rId8"/>
    <p:sldId id="265" r:id="rId9"/>
    <p:sldId id="266" r:id="rId10"/>
    <p:sldId id="291" r:id="rId11"/>
    <p:sldId id="292" r:id="rId12"/>
    <p:sldId id="293" r:id="rId13"/>
    <p:sldId id="267" r:id="rId14"/>
    <p:sldId id="268" r:id="rId15"/>
    <p:sldId id="269" r:id="rId16"/>
    <p:sldId id="270" r:id="rId17"/>
    <p:sldId id="271" r:id="rId18"/>
    <p:sldId id="272" r:id="rId19"/>
    <p:sldId id="274" r:id="rId20"/>
    <p:sldId id="273" r:id="rId21"/>
    <p:sldId id="275" r:id="rId22"/>
    <p:sldId id="276" r:id="rId23"/>
    <p:sldId id="277" r:id="rId24"/>
    <p:sldId id="278" r:id="rId25"/>
    <p:sldId id="279" r:id="rId26"/>
    <p:sldId id="280" r:id="rId27"/>
    <p:sldId id="281" r:id="rId28"/>
    <p:sldId id="282" r:id="rId29"/>
    <p:sldId id="283" r:id="rId30"/>
    <p:sldId id="284" r:id="rId31"/>
    <p:sldId id="294" r:id="rId32"/>
    <p:sldId id="285" r:id="rId33"/>
    <p:sldId id="286" r:id="rId34"/>
    <p:sldId id="287" r:id="rId35"/>
    <p:sldId id="288" r:id="rId36"/>
    <p:sldId id="290"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290" autoAdjust="0"/>
  </p:normalViewPr>
  <p:slideViewPr>
    <p:cSldViewPr snapToGrid="0" snapToObjects="1">
      <p:cViewPr varScale="1">
        <p:scale>
          <a:sx n="47" d="100"/>
          <a:sy n="47" d="100"/>
        </p:scale>
        <p:origin x="906" y="4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977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Bonjour, je </a:t>
            </a:r>
            <a:r>
              <a:rPr dirty="0" err="1"/>
              <a:t>m'appelle</a:t>
            </a:r>
            <a:r>
              <a:rPr dirty="0"/>
              <a:t> </a:t>
            </a:r>
            <a:r>
              <a:rPr lang="fr-FR" dirty="0"/>
              <a:t>Antoine PONVIENNE</a:t>
            </a:r>
            <a:r>
              <a:rPr dirty="0"/>
              <a:t>. </a:t>
            </a:r>
            <a:r>
              <a:rPr lang="fr-FR" dirty="0"/>
              <a:t>Aujourd’hui j</a:t>
            </a:r>
            <a:r>
              <a:rPr dirty="0"/>
              <a:t>e </a:t>
            </a:r>
            <a:r>
              <a:rPr dirty="0" err="1"/>
              <a:t>vais</a:t>
            </a:r>
            <a:r>
              <a:rPr dirty="0"/>
              <a:t> </a:t>
            </a:r>
            <a:r>
              <a:rPr dirty="0" err="1"/>
              <a:t>vous</a:t>
            </a:r>
            <a:r>
              <a:rPr dirty="0"/>
              <a:t> </a:t>
            </a:r>
            <a:r>
              <a:rPr dirty="0" err="1"/>
              <a:t>présenter</a:t>
            </a:r>
            <a:r>
              <a:rPr dirty="0"/>
              <a:t> </a:t>
            </a:r>
            <a:r>
              <a:rPr dirty="0" err="1"/>
              <a:t>mon</a:t>
            </a:r>
            <a:r>
              <a:rPr dirty="0"/>
              <a:t> </a:t>
            </a:r>
            <a:r>
              <a:rPr dirty="0" err="1"/>
              <a:t>projet</a:t>
            </a:r>
            <a:r>
              <a:rPr dirty="0"/>
              <a:t> de fin de formation </a:t>
            </a:r>
            <a:r>
              <a:rPr lang="fr-FR" dirty="0"/>
              <a:t>LES </a:t>
            </a:r>
            <a:r>
              <a:rPr dirty="0"/>
              <a:t>BATARK, </a:t>
            </a:r>
            <a:r>
              <a:rPr dirty="0" err="1"/>
              <a:t>une</a:t>
            </a:r>
            <a:r>
              <a:rPr dirty="0"/>
              <a:t> </a:t>
            </a:r>
            <a:r>
              <a:rPr dirty="0" err="1"/>
              <a:t>plateforme</a:t>
            </a:r>
            <a:r>
              <a:rPr dirty="0"/>
              <a:t> </a:t>
            </a:r>
            <a:r>
              <a:rPr dirty="0" err="1"/>
              <a:t>communautaire</a:t>
            </a:r>
            <a:r>
              <a:rPr dirty="0"/>
              <a:t> pour un </a:t>
            </a:r>
            <a:r>
              <a:rPr lang="fr-FR" dirty="0"/>
              <a:t>cluster de </a:t>
            </a:r>
            <a:r>
              <a:rPr dirty="0" err="1"/>
              <a:t>serveur</a:t>
            </a:r>
            <a:r>
              <a:rPr dirty="0"/>
              <a:t> ARK : Survival </a:t>
            </a:r>
            <a:r>
              <a:rPr lang="fr-FR" dirty="0"/>
              <a:t>Ascended</a:t>
            </a:r>
            <a:r>
              <a:rPr dirty="0"/>
              <a:t>, </a:t>
            </a:r>
            <a:r>
              <a:rPr dirty="0" err="1"/>
              <a:t>intégrant</a:t>
            </a:r>
            <a:r>
              <a:rPr dirty="0"/>
              <a:t> </a:t>
            </a:r>
            <a:r>
              <a:rPr dirty="0" err="1"/>
              <a:t>une</a:t>
            </a:r>
            <a:r>
              <a:rPr dirty="0"/>
              <a:t> boutique </a:t>
            </a:r>
            <a:r>
              <a:rPr dirty="0" err="1"/>
              <a:t>en</a:t>
            </a:r>
            <a:r>
              <a:rPr dirty="0"/>
              <a:t> </a:t>
            </a:r>
            <a:r>
              <a:rPr dirty="0" err="1"/>
              <a:t>ligne</a:t>
            </a:r>
            <a:r>
              <a:rPr dirty="0"/>
              <a:t> avec </a:t>
            </a:r>
            <a:r>
              <a:rPr dirty="0" err="1"/>
              <a:t>paiement</a:t>
            </a:r>
            <a:r>
              <a:rPr dirty="0"/>
              <a:t> Stripe. Ma </a:t>
            </a:r>
            <a:r>
              <a:rPr dirty="0" err="1"/>
              <a:t>soutenance</a:t>
            </a:r>
            <a:r>
              <a:rPr dirty="0"/>
              <a:t> </a:t>
            </a:r>
            <a:r>
              <a:rPr dirty="0" err="1"/>
              <a:t>va</a:t>
            </a:r>
            <a:r>
              <a:rPr dirty="0"/>
              <a:t> </a:t>
            </a:r>
            <a:r>
              <a:rPr dirty="0" err="1"/>
              <a:t>suivre</a:t>
            </a:r>
            <a:r>
              <a:rPr dirty="0"/>
              <a:t> 7 étapes : </a:t>
            </a:r>
            <a:r>
              <a:rPr dirty="0" err="1"/>
              <a:t>présentation</a:t>
            </a:r>
            <a:r>
              <a:rPr dirty="0"/>
              <a:t> </a:t>
            </a:r>
            <a:r>
              <a:rPr dirty="0" err="1"/>
              <a:t>personnelle</a:t>
            </a:r>
            <a:r>
              <a:rPr dirty="0"/>
              <a:t>, </a:t>
            </a:r>
            <a:r>
              <a:rPr dirty="0" err="1"/>
              <a:t>présentation</a:t>
            </a:r>
            <a:r>
              <a:rPr dirty="0"/>
              <a:t> du </a:t>
            </a:r>
            <a:r>
              <a:rPr dirty="0" err="1"/>
              <a:t>projet</a:t>
            </a:r>
            <a:r>
              <a:rPr dirty="0"/>
              <a:t>, conception, mise </a:t>
            </a:r>
            <a:r>
              <a:rPr dirty="0" err="1"/>
              <a:t>en</a:t>
            </a:r>
            <a:r>
              <a:rPr dirty="0"/>
              <a:t> place de </a:t>
            </a:r>
            <a:r>
              <a:rPr dirty="0" err="1"/>
              <a:t>l'environnement</a:t>
            </a:r>
            <a:r>
              <a:rPr dirty="0"/>
              <a:t>, </a:t>
            </a:r>
            <a:r>
              <a:rPr dirty="0" err="1"/>
              <a:t>démonstration</a:t>
            </a:r>
            <a:r>
              <a:rPr dirty="0"/>
              <a:t> </a:t>
            </a:r>
            <a:r>
              <a:rPr dirty="0" err="1"/>
              <a:t>côté</a:t>
            </a:r>
            <a:r>
              <a:rPr dirty="0"/>
              <a:t> </a:t>
            </a:r>
            <a:r>
              <a:rPr dirty="0" err="1"/>
              <a:t>utilisateur</a:t>
            </a:r>
            <a:r>
              <a:rPr dirty="0"/>
              <a:t>, </a:t>
            </a:r>
            <a:r>
              <a:rPr dirty="0" err="1"/>
              <a:t>partie</a:t>
            </a:r>
            <a:r>
              <a:rPr dirty="0"/>
              <a:t> technique, </a:t>
            </a:r>
            <a:r>
              <a:rPr dirty="0" err="1"/>
              <a:t>puis</a:t>
            </a:r>
            <a:r>
              <a:rPr dirty="0"/>
              <a:t> conclusion.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Bonjour, je m’appelle Antoine </a:t>
            </a:r>
            <a:r>
              <a:rPr lang="fr-FR" dirty="0" err="1"/>
              <a:t>Ponvienne</a:t>
            </a:r>
            <a:r>
              <a:rPr lang="fr-FR" dirty="0"/>
              <a:t>. Mon intérêt pour le développement web est venu au moment où j’ai voulu créer un site vitrine pour ma communauté de joueurs sur </a:t>
            </a:r>
            <a:r>
              <a:rPr lang="fr-FR" b="1" dirty="0"/>
              <a:t>ARK: Survival Evolved</a:t>
            </a:r>
            <a:r>
              <a:rPr lang="fr-FR" dirty="0"/>
              <a:t>, sur Nintendo Switch.</a:t>
            </a:r>
          </a:p>
          <a:p>
            <a:r>
              <a:rPr lang="fr-FR" dirty="0"/>
              <a:t>en travaillant sur ce site, j’ai commencé à m’intéresser à la création web, aux outils utilisés et à la manière de construire un projet proprement.</a:t>
            </a:r>
          </a:p>
          <a:p>
            <a:r>
              <a:rPr lang="fr-FR" dirty="0"/>
              <a:t>C’est ce qui m’a donné envie d’aller plus loin et de suivre cette formation. Pour mon projet de certification, j’ai donc choisi de rester dans un univers que je connais bien, celui de </a:t>
            </a:r>
            <a:r>
              <a:rPr lang="fr-FR" b="1" dirty="0"/>
              <a:t>ARK: Survival Ascended</a:t>
            </a:r>
            <a:r>
              <a:rPr lang="fr-FR" dirty="0"/>
              <a:t>, tout en développant une application plus complète, avec une vraie structure, une base de données et des fonctionnalités dynamiques.</a:t>
            </a:r>
          </a:p>
          <a:p>
            <a:r>
              <a:rPr lang="fr-FR" dirty="0"/>
              <a:t>Ce projet m’a permis de mettre en pratique les compétences vues en formation et de confirmer mon orientation vers le développement web.</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solidFill>
                  <a:schemeClr val="bg1"/>
                </a:solidFill>
                <a:effectLst/>
                <a:latin typeface="Times New Roman" panose="02020603050405020304" pitchFamily="18" charset="0"/>
                <a:ea typeface="Times New Roman" panose="02020603050405020304" pitchFamily="18" charset="0"/>
              </a:rPr>
              <a:t>Le projet consiste à développer un site communautaire autour du jeu vidéo ARK: Survival Ascended pour pouvoir rassembler au même endroit toutes les informations utiles pour les joueurs souhaitant rejoindre la communauté BatArk, les administrateurs ont un espace dédié pour gérer facilement le contenu via un panel d'administration. Comme le site peut être référencé sur des plateformes dédiées aux clusters ARK, il sert de vitrine pour faire connaître la communauté, valoriser son sérieux, et attirer de nouveaux joueurs.</a:t>
            </a:r>
            <a:endParaRPr lang="fr-FR" dirty="0">
              <a:solidFill>
                <a:schemeClr val="bg1"/>
              </a:solidFill>
              <a:effectLst/>
              <a:latin typeface="Arial" panose="020B0604020202020204" pitchFamily="34" charset="0"/>
              <a:ea typeface="Arial" panose="020B0604020202020204" pitchFamily="34" charset="0"/>
            </a:endParaRPr>
          </a:p>
          <a:p>
            <a:r>
              <a:rPr lang="fr-FR" dirty="0">
                <a:solidFill>
                  <a:schemeClr val="bg1"/>
                </a:solidFill>
                <a:effectLst/>
                <a:latin typeface="Times New Roman" panose="02020603050405020304" pitchFamily="18" charset="0"/>
                <a:ea typeface="Times New Roman" panose="02020603050405020304" pitchFamily="18" charset="0"/>
              </a:rPr>
              <a:t>Les joueurs pourront consulter les événements organisés pour la communauté, et accéder à une boutique en ligne permettant aux utilisateurs connectés d'acheter des objets virtuels afin d'améliorer leur expérience de jeu, </a:t>
            </a:r>
            <a:r>
              <a:rPr lang="fr-FR" b="1" dirty="0">
                <a:solidFill>
                  <a:schemeClr val="bg1"/>
                </a:solidFill>
              </a:rPr>
              <a:t>Les revenus générés par cette boutique contribuent au financement du cluster et à l’ajout progressif de nouveaux serveurs, pour proposer davantage de cartes du jeu à la communauté.</a:t>
            </a:r>
            <a:endParaRPr lang="fr-FR" dirty="0">
              <a:solidFill>
                <a:schemeClr val="bg1"/>
              </a:solidFill>
              <a:effectLst/>
              <a:latin typeface="Arial" panose="020B0604020202020204" pitchFamily="34" charset="0"/>
              <a:ea typeface="Arial" panose="020B0604020202020204" pitchFamily="34" charset="0"/>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La communauté étant principalement organisée sur Discord, les nouveaux joueurs n’avaient pas réellement de moyen de découvrir la communauté sans rejoindre directement le serveur Discord. Le site </a:t>
            </a:r>
            <a:r>
              <a:rPr lang="fr-FR" b="1" dirty="0" err="1"/>
              <a:t>resoud</a:t>
            </a:r>
            <a:r>
              <a:rPr lang="fr-FR" b="1" dirty="0"/>
              <a:t> ce </a:t>
            </a:r>
            <a:r>
              <a:rPr lang="fr-FR" b="1" dirty="0" err="1"/>
              <a:t>probleme</a:t>
            </a:r>
            <a:r>
              <a:rPr lang="fr-FR" b="1" dirty="0"/>
              <a:t> puisque les joueurs le trouverons sur les sites de </a:t>
            </a:r>
            <a:r>
              <a:rPr lang="fr-FR" b="1" dirty="0" err="1"/>
              <a:t>referencement</a:t>
            </a:r>
            <a:r>
              <a:rPr lang="fr-FR" b="1" dirty="0"/>
              <a:t> avec le lien discord, et la boutique nous permet de faire participer les joueurs a l’</a:t>
            </a:r>
            <a:r>
              <a:rPr lang="fr-FR" b="1" dirty="0" err="1"/>
              <a:t>agrandissment</a:t>
            </a:r>
            <a:r>
              <a:rPr lang="fr-FR" b="1" dirty="0"/>
              <a:t> de leur cluster de serveur pour plus de carte du  jeux et plus de place sur les serveurs pour des serveurs plus fluide et sans bug</a:t>
            </a:r>
            <a:endParaRPr lang="fr-F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b="1" dirty="0"/>
              <a:t>Avant de commencer a coder j’ai d’abord réfléchi à la conception de l’application, en identifiant les besoins et les différents utilisateurs grâce a un use cases.</a:t>
            </a:r>
            <a:endParaRPr lang="fr-FR" dirty="0"/>
          </a:p>
          <a:p>
            <a:r>
              <a:rPr lang="fr-FR" b="1" dirty="0"/>
              <a:t>Ensuite, j’ai travaillé sur l’organisation des pages avec le zoning, puis j’ai réalisé des wireframes pour définir plus précisément la structure des interfaces,</a:t>
            </a:r>
          </a:p>
          <a:p>
            <a:r>
              <a:rPr lang="fr-FR" b="1" dirty="0"/>
              <a:t>Enfin, j’ai conçu la base de données avec la méthode Merise, en réalisant le MCD, le MLD puis le MPD. Cela m’a permis de prévoir les entités, leurs relations et la structure finale de la base avant de coder l’application.</a:t>
            </a:r>
            <a:endParaRPr lang="fr-F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J’ai</a:t>
            </a:r>
            <a:r>
              <a:rPr dirty="0"/>
              <a:t> </a:t>
            </a:r>
            <a:r>
              <a:rPr dirty="0" err="1"/>
              <a:t>identifié</a:t>
            </a:r>
            <a:r>
              <a:rPr dirty="0"/>
              <a:t> trois </a:t>
            </a:r>
            <a:r>
              <a:rPr dirty="0" err="1"/>
              <a:t>niveaux</a:t>
            </a:r>
            <a:r>
              <a:rPr dirty="0"/>
              <a:t> </a:t>
            </a:r>
            <a:r>
              <a:rPr dirty="0" err="1"/>
              <a:t>d’utilisateurs</a:t>
            </a:r>
            <a:r>
              <a:rPr dirty="0"/>
              <a:t>. Le v</a:t>
            </a:r>
            <a:r>
              <a:rPr lang="fr-FR" dirty="0" err="1"/>
              <a:t>isiteur</a:t>
            </a:r>
            <a:r>
              <a:rPr dirty="0"/>
              <a:t> </a:t>
            </a:r>
            <a:r>
              <a:rPr dirty="0" err="1"/>
              <a:t>représente</a:t>
            </a:r>
            <a:r>
              <a:rPr dirty="0"/>
              <a:t> </a:t>
            </a:r>
            <a:r>
              <a:rPr dirty="0" err="1"/>
              <a:t>une</a:t>
            </a:r>
            <a:r>
              <a:rPr dirty="0"/>
              <a:t> </a:t>
            </a:r>
            <a:r>
              <a:rPr dirty="0" err="1"/>
              <a:t>personne</a:t>
            </a:r>
            <a:r>
              <a:rPr dirty="0"/>
              <a:t> non </a:t>
            </a:r>
            <a:r>
              <a:rPr dirty="0" err="1"/>
              <a:t>connectée</a:t>
            </a:r>
            <a:r>
              <a:rPr dirty="0"/>
              <a:t> : il </a:t>
            </a:r>
            <a:r>
              <a:rPr dirty="0" err="1"/>
              <a:t>peut</a:t>
            </a:r>
            <a:r>
              <a:rPr dirty="0"/>
              <a:t> consulter le site, </a:t>
            </a:r>
            <a:r>
              <a:rPr dirty="0" err="1"/>
              <a:t>puis</a:t>
            </a:r>
            <a:r>
              <a:rPr dirty="0"/>
              <a:t> </a:t>
            </a:r>
            <a:r>
              <a:rPr dirty="0" err="1"/>
              <a:t>s’inscrire</a:t>
            </a:r>
            <a:r>
              <a:rPr dirty="0"/>
              <a:t> </a:t>
            </a:r>
            <a:r>
              <a:rPr dirty="0" err="1"/>
              <a:t>ou</a:t>
            </a:r>
            <a:r>
              <a:rPr dirty="0"/>
              <a:t> se connecter. Le </a:t>
            </a:r>
            <a:r>
              <a:rPr dirty="0" err="1"/>
              <a:t>membre</a:t>
            </a:r>
            <a:r>
              <a:rPr dirty="0"/>
              <a:t> </a:t>
            </a:r>
            <a:r>
              <a:rPr dirty="0" err="1"/>
              <a:t>est</a:t>
            </a:r>
            <a:r>
              <a:rPr dirty="0"/>
              <a:t> </a:t>
            </a:r>
            <a:r>
              <a:rPr dirty="0" err="1"/>
              <a:t>une</a:t>
            </a:r>
            <a:r>
              <a:rPr dirty="0"/>
              <a:t> </a:t>
            </a:r>
            <a:r>
              <a:rPr dirty="0" err="1"/>
              <a:t>spécialisation</a:t>
            </a:r>
            <a:r>
              <a:rPr dirty="0"/>
              <a:t> du v</a:t>
            </a:r>
            <a:r>
              <a:rPr lang="fr-FR" dirty="0" err="1"/>
              <a:t>isiteur</a:t>
            </a:r>
            <a:r>
              <a:rPr dirty="0"/>
              <a:t> : il conserve </a:t>
            </a:r>
            <a:r>
              <a:rPr dirty="0" err="1"/>
              <a:t>donc</a:t>
            </a:r>
            <a:r>
              <a:rPr dirty="0"/>
              <a:t> </a:t>
            </a:r>
            <a:r>
              <a:rPr dirty="0" err="1"/>
              <a:t>toutes</a:t>
            </a:r>
            <a:r>
              <a:rPr dirty="0"/>
              <a:t> les actions du </a:t>
            </a:r>
            <a:r>
              <a:rPr dirty="0" err="1"/>
              <a:t>visiteur</a:t>
            </a:r>
            <a:r>
              <a:rPr dirty="0"/>
              <a:t> et </a:t>
            </a:r>
            <a:r>
              <a:rPr dirty="0" err="1"/>
              <a:t>peut</a:t>
            </a:r>
            <a:r>
              <a:rPr dirty="0"/>
              <a:t> </a:t>
            </a:r>
            <a:r>
              <a:rPr dirty="0" err="1"/>
              <a:t>en</a:t>
            </a:r>
            <a:r>
              <a:rPr dirty="0"/>
              <a:t> plus </a:t>
            </a:r>
            <a:r>
              <a:rPr dirty="0" err="1"/>
              <a:t>gérer</a:t>
            </a:r>
            <a:r>
              <a:rPr dirty="0"/>
              <a:t> son panier, passer </a:t>
            </a:r>
            <a:r>
              <a:rPr dirty="0" err="1"/>
              <a:t>une</a:t>
            </a:r>
            <a:r>
              <a:rPr dirty="0"/>
              <a:t> </a:t>
            </a:r>
            <a:r>
              <a:rPr dirty="0" err="1"/>
              <a:t>commande</a:t>
            </a:r>
            <a:r>
              <a:rPr dirty="0"/>
              <a:t> et payer. </a:t>
            </a:r>
            <a:r>
              <a:rPr dirty="0" err="1"/>
              <a:t>L’administrateur</a:t>
            </a:r>
            <a:r>
              <a:rPr dirty="0"/>
              <a:t> </a:t>
            </a:r>
            <a:r>
              <a:rPr dirty="0" err="1"/>
              <a:t>est</a:t>
            </a:r>
            <a:r>
              <a:rPr dirty="0"/>
              <a:t> </a:t>
            </a:r>
            <a:r>
              <a:rPr dirty="0" err="1"/>
              <a:t>une</a:t>
            </a:r>
            <a:r>
              <a:rPr dirty="0"/>
              <a:t> </a:t>
            </a:r>
            <a:r>
              <a:rPr dirty="0" err="1"/>
              <a:t>spécialisation</a:t>
            </a:r>
            <a:r>
              <a:rPr dirty="0"/>
              <a:t> du </a:t>
            </a:r>
            <a:r>
              <a:rPr dirty="0" err="1"/>
              <a:t>membre</a:t>
            </a:r>
            <a:r>
              <a:rPr dirty="0"/>
              <a:t> : il </a:t>
            </a:r>
            <a:r>
              <a:rPr dirty="0" err="1"/>
              <a:t>peut</a:t>
            </a:r>
            <a:r>
              <a:rPr dirty="0"/>
              <a:t> </a:t>
            </a:r>
            <a:r>
              <a:rPr dirty="0" err="1"/>
              <a:t>utiliser</a:t>
            </a:r>
            <a:r>
              <a:rPr dirty="0"/>
              <a:t> le site </a:t>
            </a:r>
            <a:r>
              <a:rPr dirty="0" err="1"/>
              <a:t>comme</a:t>
            </a:r>
            <a:r>
              <a:rPr dirty="0"/>
              <a:t> un </a:t>
            </a:r>
            <a:r>
              <a:rPr dirty="0" err="1"/>
              <a:t>membre</a:t>
            </a:r>
            <a:r>
              <a:rPr dirty="0"/>
              <a:t> </a:t>
            </a:r>
            <a:r>
              <a:rPr dirty="0" err="1"/>
              <a:t>classique</a:t>
            </a:r>
            <a:r>
              <a:rPr dirty="0"/>
              <a:t>, </a:t>
            </a:r>
            <a:r>
              <a:rPr dirty="0" err="1"/>
              <a:t>mais</a:t>
            </a:r>
            <a:r>
              <a:rPr dirty="0"/>
              <a:t> il </a:t>
            </a:r>
            <a:r>
              <a:rPr dirty="0" err="1"/>
              <a:t>possède</a:t>
            </a:r>
            <a:r>
              <a:rPr dirty="0"/>
              <a:t> </a:t>
            </a:r>
            <a:r>
              <a:rPr dirty="0" err="1"/>
              <a:t>aussi</a:t>
            </a:r>
            <a:r>
              <a:rPr dirty="0"/>
              <a:t> les </a:t>
            </a:r>
            <a:r>
              <a:rPr dirty="0" err="1"/>
              <a:t>fonctions</a:t>
            </a:r>
            <a:r>
              <a:rPr dirty="0"/>
              <a:t> de gestion. </a:t>
            </a:r>
            <a:r>
              <a:rPr lang="fr-FR" dirty="0"/>
              <a:t>( </a:t>
            </a:r>
            <a:r>
              <a:rPr dirty="0"/>
              <a:t>Les </a:t>
            </a:r>
            <a:r>
              <a:rPr dirty="0" err="1"/>
              <a:t>lignes</a:t>
            </a:r>
            <a:r>
              <a:rPr dirty="0"/>
              <a:t> </a:t>
            </a:r>
            <a:r>
              <a:rPr dirty="0" err="1"/>
              <a:t>en</a:t>
            </a:r>
            <a:r>
              <a:rPr dirty="0"/>
              <a:t> </a:t>
            </a:r>
            <a:r>
              <a:rPr dirty="0" err="1"/>
              <a:t>pointillés</a:t>
            </a:r>
            <a:r>
              <a:rPr dirty="0"/>
              <a:t> </a:t>
            </a:r>
            <a:r>
              <a:rPr dirty="0" err="1"/>
              <a:t>terminées</a:t>
            </a:r>
            <a:r>
              <a:rPr dirty="0"/>
              <a:t> par un triangle vide </a:t>
            </a:r>
            <a:r>
              <a:rPr dirty="0" err="1"/>
              <a:t>représentent</a:t>
            </a:r>
            <a:r>
              <a:rPr dirty="0"/>
              <a:t> </a:t>
            </a:r>
            <a:r>
              <a:rPr dirty="0" err="1"/>
              <a:t>cette</a:t>
            </a:r>
            <a:r>
              <a:rPr dirty="0"/>
              <a:t> </a:t>
            </a:r>
            <a:r>
              <a:rPr dirty="0" err="1"/>
              <a:t>généralisation</a:t>
            </a:r>
            <a:r>
              <a:rPr dirty="0"/>
              <a:t> UML. La </a:t>
            </a:r>
            <a:r>
              <a:rPr dirty="0" err="1"/>
              <a:t>flèche</a:t>
            </a:r>
            <a:r>
              <a:rPr dirty="0"/>
              <a:t> pointe </a:t>
            </a:r>
            <a:r>
              <a:rPr dirty="0" err="1"/>
              <a:t>vers</a:t>
            </a:r>
            <a:r>
              <a:rPr dirty="0"/>
              <a:t> </a:t>
            </a:r>
            <a:r>
              <a:rPr dirty="0" err="1"/>
              <a:t>l’acteur</a:t>
            </a:r>
            <a:r>
              <a:rPr dirty="0"/>
              <a:t> </a:t>
            </a:r>
            <a:r>
              <a:rPr dirty="0" err="1"/>
              <a:t>général</a:t>
            </a:r>
            <a:r>
              <a:rPr dirty="0"/>
              <a:t> </a:t>
            </a:r>
            <a:r>
              <a:rPr dirty="0" err="1"/>
              <a:t>dont</a:t>
            </a:r>
            <a:r>
              <a:rPr dirty="0"/>
              <a:t> les droits </a:t>
            </a:r>
            <a:r>
              <a:rPr dirty="0" err="1"/>
              <a:t>sont</a:t>
            </a:r>
            <a:r>
              <a:rPr dirty="0"/>
              <a:t> </a:t>
            </a:r>
            <a:r>
              <a:rPr dirty="0" err="1"/>
              <a:t>hérités</a:t>
            </a:r>
            <a:r>
              <a:rPr dirty="0"/>
              <a:t> : Admin </a:t>
            </a:r>
            <a:r>
              <a:rPr dirty="0" err="1"/>
              <a:t>vers</a:t>
            </a:r>
            <a:r>
              <a:rPr dirty="0"/>
              <a:t> </a:t>
            </a:r>
            <a:r>
              <a:rPr dirty="0" err="1"/>
              <a:t>Membre</a:t>
            </a:r>
            <a:r>
              <a:rPr dirty="0"/>
              <a:t>, </a:t>
            </a:r>
            <a:r>
              <a:rPr dirty="0" err="1"/>
              <a:t>puis</a:t>
            </a:r>
            <a:r>
              <a:rPr dirty="0"/>
              <a:t> </a:t>
            </a:r>
            <a:r>
              <a:rPr dirty="0" err="1"/>
              <a:t>Membre</a:t>
            </a:r>
            <a:r>
              <a:rPr dirty="0"/>
              <a:t> </a:t>
            </a:r>
            <a:r>
              <a:rPr dirty="0" err="1"/>
              <a:t>vers</a:t>
            </a:r>
            <a:r>
              <a:rPr dirty="0"/>
              <a:t> Voyageur</a:t>
            </a:r>
            <a:r>
              <a:rPr lang="fr-FR" dirty="0"/>
              <a:t> )</a:t>
            </a:r>
            <a:r>
              <a:rPr dirty="0"/>
              <a:t>. Le lien « include » </a:t>
            </a:r>
            <a:r>
              <a:rPr dirty="0" err="1"/>
              <a:t>indique</a:t>
            </a:r>
            <a:r>
              <a:rPr dirty="0"/>
              <a:t> </a:t>
            </a:r>
            <a:r>
              <a:rPr lang="fr-FR" dirty="0"/>
              <a:t>que se constituer un panier est obligatoire </a:t>
            </a:r>
            <a:r>
              <a:rPr dirty="0"/>
              <a:t>pour </a:t>
            </a:r>
            <a:r>
              <a:rPr lang="fr-FR" dirty="0"/>
              <a:t>payer son panier</a:t>
            </a:r>
            <a:r>
              <a:rPr dirty="0"/>
              <a:t>. </a:t>
            </a:r>
            <a:r>
              <a:rPr dirty="0" err="1"/>
              <a:t>Ici</a:t>
            </a:r>
            <a:r>
              <a:rPr dirty="0"/>
              <a:t>, le </a:t>
            </a:r>
            <a:r>
              <a:rPr dirty="0" err="1"/>
              <a:t>paiement</a:t>
            </a:r>
            <a:r>
              <a:rPr dirty="0"/>
              <a:t> Stripe </a:t>
            </a:r>
            <a:r>
              <a:rPr dirty="0" err="1"/>
              <a:t>intervient</a:t>
            </a:r>
            <a:r>
              <a:rPr dirty="0"/>
              <a:t> au moment de </a:t>
            </a:r>
            <a:r>
              <a:rPr dirty="0" err="1"/>
              <a:t>valider</a:t>
            </a:r>
            <a:r>
              <a:rPr dirty="0"/>
              <a:t> la </a:t>
            </a:r>
            <a:r>
              <a:rPr dirty="0" err="1"/>
              <a:t>commande</a:t>
            </a:r>
            <a:r>
              <a:rPr dirty="0"/>
              <a:t>. </a:t>
            </a:r>
            <a:r>
              <a:rPr lang="fr-FR" dirty="0"/>
              <a:t> ( </a:t>
            </a:r>
            <a:r>
              <a:rPr dirty="0"/>
              <a:t>Stripe </a:t>
            </a:r>
            <a:r>
              <a:rPr dirty="0" err="1"/>
              <a:t>est</a:t>
            </a:r>
            <a:r>
              <a:rPr dirty="0"/>
              <a:t> </a:t>
            </a:r>
            <a:r>
              <a:rPr dirty="0" err="1"/>
              <a:t>placé</a:t>
            </a:r>
            <a:r>
              <a:rPr dirty="0"/>
              <a:t> à droite </a:t>
            </a:r>
            <a:r>
              <a:rPr dirty="0" err="1"/>
              <a:t>parce</a:t>
            </a:r>
            <a:r>
              <a:rPr dirty="0"/>
              <a:t> </a:t>
            </a:r>
            <a:r>
              <a:rPr dirty="0" err="1"/>
              <a:t>qu’il</a:t>
            </a:r>
            <a:r>
              <a:rPr dirty="0"/>
              <a:t> </a:t>
            </a:r>
            <a:r>
              <a:rPr dirty="0" err="1"/>
              <a:t>s’agit</a:t>
            </a:r>
            <a:r>
              <a:rPr dirty="0"/>
              <a:t> d’un service </a:t>
            </a:r>
            <a:r>
              <a:rPr dirty="0" err="1"/>
              <a:t>externe</a:t>
            </a:r>
            <a:r>
              <a:rPr dirty="0"/>
              <a:t> qui aide le </a:t>
            </a:r>
            <a:r>
              <a:rPr dirty="0" err="1"/>
              <a:t>système</a:t>
            </a:r>
            <a:r>
              <a:rPr dirty="0"/>
              <a:t> à </a:t>
            </a:r>
            <a:r>
              <a:rPr dirty="0" err="1"/>
              <a:t>réaliser</a:t>
            </a:r>
            <a:r>
              <a:rPr dirty="0"/>
              <a:t> le </a:t>
            </a:r>
            <a:r>
              <a:rPr dirty="0" err="1"/>
              <a:t>paiement</a:t>
            </a:r>
            <a:r>
              <a:rPr dirty="0"/>
              <a:t> ; </a:t>
            </a:r>
            <a:r>
              <a:rPr dirty="0" err="1"/>
              <a:t>cette</a:t>
            </a:r>
            <a:r>
              <a:rPr dirty="0"/>
              <a:t> position </a:t>
            </a:r>
            <a:r>
              <a:rPr dirty="0" err="1"/>
              <a:t>est</a:t>
            </a:r>
            <a:r>
              <a:rPr dirty="0"/>
              <a:t> </a:t>
            </a:r>
            <a:r>
              <a:rPr dirty="0" err="1"/>
              <a:t>une</a:t>
            </a:r>
            <a:r>
              <a:rPr dirty="0"/>
              <a:t> convention de lecture, pas </a:t>
            </a:r>
            <a:r>
              <a:rPr dirty="0" err="1"/>
              <a:t>une</a:t>
            </a:r>
            <a:r>
              <a:rPr dirty="0"/>
              <a:t> obligation UML. </a:t>
            </a:r>
            <a:r>
              <a:rPr lang="fr-FR"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Côté</a:t>
            </a:r>
            <a:r>
              <a:rPr dirty="0"/>
              <a:t> </a:t>
            </a:r>
            <a:r>
              <a:rPr dirty="0" err="1"/>
              <a:t>fonctionnel</a:t>
            </a:r>
            <a:r>
              <a:rPr dirty="0"/>
              <a:t>, </a:t>
            </a:r>
            <a:r>
              <a:rPr dirty="0" err="1"/>
              <a:t>l'utilisateur</a:t>
            </a:r>
            <a:r>
              <a:rPr dirty="0"/>
              <a:t> </a:t>
            </a:r>
            <a:r>
              <a:rPr dirty="0" err="1"/>
              <a:t>peut</a:t>
            </a:r>
            <a:r>
              <a:rPr dirty="0"/>
              <a:t> </a:t>
            </a:r>
            <a:r>
              <a:rPr dirty="0" err="1"/>
              <a:t>s'inscrire</a:t>
            </a:r>
            <a:r>
              <a:rPr dirty="0"/>
              <a:t>, consulter les </a:t>
            </a:r>
            <a:r>
              <a:rPr dirty="0" err="1"/>
              <a:t>événements</a:t>
            </a:r>
            <a:r>
              <a:rPr dirty="0"/>
              <a:t> du, </a:t>
            </a:r>
            <a:r>
              <a:rPr dirty="0" err="1"/>
              <a:t>parcourir</a:t>
            </a:r>
            <a:r>
              <a:rPr dirty="0"/>
              <a:t> la boutique, </a:t>
            </a:r>
            <a:r>
              <a:rPr dirty="0" err="1"/>
              <a:t>ajouter</a:t>
            </a:r>
            <a:r>
              <a:rPr dirty="0"/>
              <a:t> des </a:t>
            </a:r>
            <a:r>
              <a:rPr dirty="0" err="1"/>
              <a:t>produits</a:t>
            </a:r>
            <a:r>
              <a:rPr dirty="0"/>
              <a:t> au panier, </a:t>
            </a:r>
            <a:r>
              <a:rPr dirty="0" err="1"/>
              <a:t>puis</a:t>
            </a:r>
            <a:r>
              <a:rPr dirty="0"/>
              <a:t> payer via Stripe. Un </a:t>
            </a:r>
            <a:r>
              <a:rPr dirty="0" err="1"/>
              <a:t>administrateur</a:t>
            </a:r>
            <a:r>
              <a:rPr dirty="0"/>
              <a:t> </a:t>
            </a:r>
            <a:r>
              <a:rPr dirty="0" err="1"/>
              <a:t>peut</a:t>
            </a:r>
            <a:r>
              <a:rPr dirty="0"/>
              <a:t> </a:t>
            </a:r>
            <a:r>
              <a:rPr dirty="0" err="1"/>
              <a:t>gérer</a:t>
            </a:r>
            <a:r>
              <a:rPr dirty="0"/>
              <a:t> les </a:t>
            </a:r>
            <a:r>
              <a:rPr dirty="0" err="1"/>
              <a:t>événements</a:t>
            </a:r>
            <a:r>
              <a:rPr dirty="0"/>
              <a:t> et les </a:t>
            </a:r>
            <a:r>
              <a:rPr dirty="0" err="1"/>
              <a:t>produits</a:t>
            </a:r>
            <a:r>
              <a:rPr dirty="0"/>
              <a:t>. </a:t>
            </a:r>
            <a:r>
              <a:rPr dirty="0" err="1"/>
              <a:t>Côté</a:t>
            </a:r>
            <a:r>
              <a:rPr dirty="0"/>
              <a:t> technique, </a:t>
            </a:r>
            <a:r>
              <a:rPr dirty="0" err="1"/>
              <a:t>l'objectif</a:t>
            </a:r>
            <a:r>
              <a:rPr dirty="0"/>
              <a:t> </a:t>
            </a:r>
            <a:r>
              <a:rPr dirty="0" err="1"/>
              <a:t>était</a:t>
            </a:r>
            <a:r>
              <a:rPr dirty="0"/>
              <a:t> de </a:t>
            </a:r>
            <a:r>
              <a:rPr dirty="0" err="1"/>
              <a:t>mettre</a:t>
            </a:r>
            <a:r>
              <a:rPr dirty="0"/>
              <a:t> </a:t>
            </a:r>
            <a:r>
              <a:rPr dirty="0" err="1"/>
              <a:t>en</a:t>
            </a:r>
            <a:r>
              <a:rPr dirty="0"/>
              <a:t> pratique </a:t>
            </a:r>
            <a:r>
              <a:rPr dirty="0" err="1"/>
              <a:t>une</a:t>
            </a:r>
            <a:r>
              <a:rPr dirty="0"/>
              <a:t> architecture MVC propre avec Symfony, </a:t>
            </a:r>
            <a:r>
              <a:rPr dirty="0" err="1"/>
              <a:t>une</a:t>
            </a:r>
            <a:r>
              <a:rPr dirty="0"/>
              <a:t> </a:t>
            </a:r>
            <a:r>
              <a:rPr dirty="0" err="1"/>
              <a:t>modélisation</a:t>
            </a:r>
            <a:r>
              <a:rPr dirty="0"/>
              <a:t> Doctrine </a:t>
            </a:r>
            <a:r>
              <a:rPr dirty="0" err="1"/>
              <a:t>rigoureuse</a:t>
            </a:r>
            <a:r>
              <a:rPr dirty="0"/>
              <a:t>, </a:t>
            </a:r>
            <a:r>
              <a:rPr dirty="0" err="1"/>
              <a:t>une</a:t>
            </a:r>
            <a:r>
              <a:rPr dirty="0"/>
              <a:t> </a:t>
            </a:r>
            <a:r>
              <a:rPr dirty="0" err="1"/>
              <a:t>sécurité</a:t>
            </a:r>
            <a:r>
              <a:rPr dirty="0"/>
              <a:t> </a:t>
            </a:r>
            <a:r>
              <a:rPr dirty="0" err="1"/>
              <a:t>complète</a:t>
            </a:r>
            <a:r>
              <a:rPr dirty="0"/>
              <a:t>, et </a:t>
            </a:r>
            <a:r>
              <a:rPr dirty="0" err="1"/>
              <a:t>une</a:t>
            </a:r>
            <a:r>
              <a:rPr dirty="0"/>
              <a:t> </a:t>
            </a:r>
            <a:r>
              <a:rPr dirty="0" err="1"/>
              <a:t>intégration</a:t>
            </a:r>
            <a:r>
              <a:rPr dirty="0"/>
              <a:t> de </a:t>
            </a:r>
            <a:r>
              <a:rPr dirty="0" err="1"/>
              <a:t>paiement</a:t>
            </a:r>
            <a:r>
              <a:rPr dirty="0"/>
              <a:t> </a:t>
            </a:r>
            <a:r>
              <a:rPr dirty="0" err="1"/>
              <a:t>réelle</a:t>
            </a:r>
            <a:r>
              <a:rPr dirty="0"/>
              <a:t> avec Stripe, le tout dans un </a:t>
            </a:r>
            <a:r>
              <a:rPr dirty="0" err="1"/>
              <a:t>environnement</a:t>
            </a:r>
            <a:r>
              <a:rPr dirty="0"/>
              <a:t> Docker reproductible.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Avant de coder, </a:t>
            </a:r>
            <a:r>
              <a:rPr dirty="0" err="1"/>
              <a:t>j'ai</a:t>
            </a:r>
            <a:r>
              <a:rPr dirty="0"/>
              <a:t> </a:t>
            </a:r>
            <a:r>
              <a:rPr dirty="0" err="1"/>
              <a:t>travaillé</a:t>
            </a:r>
            <a:r>
              <a:rPr dirty="0"/>
              <a:t> </a:t>
            </a:r>
            <a:r>
              <a:rPr dirty="0" err="1"/>
              <a:t>l'expérience</a:t>
            </a:r>
            <a:r>
              <a:rPr dirty="0"/>
              <a:t> </a:t>
            </a:r>
            <a:r>
              <a:rPr dirty="0" err="1"/>
              <a:t>utilisateur</a:t>
            </a:r>
            <a:r>
              <a:rPr dirty="0"/>
              <a:t> </a:t>
            </a:r>
            <a:r>
              <a:rPr dirty="0" err="1"/>
              <a:t>en</a:t>
            </a:r>
            <a:r>
              <a:rPr dirty="0"/>
              <a:t> trois étapes : le zoning pour poser les </a:t>
            </a:r>
            <a:r>
              <a:rPr dirty="0" err="1"/>
              <a:t>grandes</a:t>
            </a:r>
            <a:r>
              <a:rPr dirty="0"/>
              <a:t> zones de </a:t>
            </a:r>
            <a:r>
              <a:rPr dirty="0" err="1"/>
              <a:t>chaque</a:t>
            </a:r>
            <a:r>
              <a:rPr dirty="0"/>
              <a:t> page, le wireframe pour structurer le </a:t>
            </a:r>
            <a:r>
              <a:rPr dirty="0" err="1"/>
              <a:t>contenu</a:t>
            </a:r>
            <a:r>
              <a:rPr dirty="0"/>
              <a:t> sans </a:t>
            </a:r>
            <a:r>
              <a:rPr dirty="0" err="1"/>
              <a:t>habillage</a:t>
            </a:r>
            <a:r>
              <a:rPr dirty="0"/>
              <a:t> </a:t>
            </a:r>
            <a:r>
              <a:rPr dirty="0" err="1"/>
              <a:t>graphique</a:t>
            </a:r>
            <a:r>
              <a:rPr dirty="0"/>
              <a:t>, </a:t>
            </a:r>
            <a:r>
              <a:rPr dirty="0" err="1"/>
              <a:t>puis</a:t>
            </a:r>
            <a:r>
              <a:rPr dirty="0"/>
              <a:t> la maquette finale avec la </a:t>
            </a:r>
            <a:r>
              <a:rPr dirty="0" err="1"/>
              <a:t>charte</a:t>
            </a:r>
            <a:r>
              <a:rPr dirty="0"/>
              <a:t> </a:t>
            </a:r>
            <a:r>
              <a:rPr dirty="0" err="1"/>
              <a:t>graphique</a:t>
            </a:r>
            <a:r>
              <a:rPr dirty="0"/>
              <a:t> </a:t>
            </a:r>
            <a:r>
              <a:rPr dirty="0" err="1"/>
              <a:t>retenue</a:t>
            </a:r>
            <a:r>
              <a:rPr dirty="0"/>
              <a:t> — un </a:t>
            </a:r>
            <a:r>
              <a:rPr dirty="0" err="1"/>
              <a:t>thème</a:t>
            </a:r>
            <a:r>
              <a:rPr dirty="0"/>
              <a:t> </a:t>
            </a:r>
            <a:r>
              <a:rPr dirty="0" err="1"/>
              <a:t>sombre</a:t>
            </a:r>
            <a:r>
              <a:rPr dirty="0"/>
              <a:t> </a:t>
            </a:r>
            <a:r>
              <a:rPr dirty="0" err="1"/>
              <a:t>proche</a:t>
            </a:r>
            <a:r>
              <a:rPr dirty="0"/>
              <a:t> </a:t>
            </a:r>
            <a:r>
              <a:rPr lang="fr-FR" dirty="0"/>
              <a:t>du thème </a:t>
            </a:r>
            <a:r>
              <a:rPr lang="fr-FR" dirty="0" err="1"/>
              <a:t>Vapor</a:t>
            </a:r>
            <a:r>
              <a:rPr lang="fr-FR" dirty="0"/>
              <a:t> de</a:t>
            </a:r>
            <a:r>
              <a:rPr dirty="0"/>
              <a:t> </a:t>
            </a:r>
            <a:r>
              <a:rPr dirty="0" err="1"/>
              <a:t>Bootswatch</a:t>
            </a:r>
            <a:r>
              <a:rPr dirty="0"/>
              <a:t>, </a:t>
            </a:r>
            <a:r>
              <a:rPr dirty="0" err="1"/>
              <a:t>cohérent</a:t>
            </a:r>
            <a:r>
              <a:rPr dirty="0"/>
              <a:t> avec </a:t>
            </a:r>
            <a:r>
              <a:rPr dirty="0" err="1"/>
              <a:t>l'univers</a:t>
            </a:r>
            <a:r>
              <a:rPr dirty="0"/>
              <a:t> du jeu </a:t>
            </a:r>
            <a:r>
              <a:rPr lang="fr-FR" dirty="0"/>
              <a:t>vidéo</a:t>
            </a:r>
          </a:p>
          <a:p>
            <a:r>
              <a:rPr dirty="0" err="1"/>
              <a:t>j'ai</a:t>
            </a:r>
            <a:r>
              <a:rPr dirty="0"/>
              <a:t> </a:t>
            </a:r>
            <a:r>
              <a:rPr dirty="0" err="1"/>
              <a:t>associé</a:t>
            </a:r>
            <a:r>
              <a:rPr dirty="0"/>
              <a:t> un fond </a:t>
            </a:r>
            <a:r>
              <a:rPr dirty="0" err="1"/>
              <a:t>d'écran</a:t>
            </a:r>
            <a:r>
              <a:rPr dirty="0"/>
              <a:t> </a:t>
            </a:r>
            <a:r>
              <a:rPr dirty="0" err="1"/>
              <a:t>thématique</a:t>
            </a:r>
            <a:r>
              <a:rPr dirty="0"/>
              <a:t> </a:t>
            </a:r>
            <a:r>
              <a:rPr dirty="0" err="1"/>
              <a:t>différent</a:t>
            </a:r>
            <a:r>
              <a:rPr dirty="0"/>
              <a:t> à </a:t>
            </a:r>
            <a:r>
              <a:rPr dirty="0" err="1"/>
              <a:t>chaque</a:t>
            </a:r>
            <a:r>
              <a:rPr dirty="0"/>
              <a:t> </a:t>
            </a:r>
            <a:r>
              <a:rPr dirty="0" err="1"/>
              <a:t>grande</a:t>
            </a:r>
            <a:r>
              <a:rPr dirty="0"/>
              <a:t> zone </a:t>
            </a:r>
            <a:r>
              <a:rPr dirty="0" err="1"/>
              <a:t>fonctionnelle</a:t>
            </a:r>
            <a:r>
              <a:rPr dirty="0"/>
              <a:t> du site, pour </a:t>
            </a:r>
            <a:r>
              <a:rPr dirty="0" err="1"/>
              <a:t>créer</a:t>
            </a:r>
            <a:r>
              <a:rPr dirty="0"/>
              <a:t> </a:t>
            </a:r>
            <a:r>
              <a:rPr dirty="0" err="1"/>
              <a:t>une</a:t>
            </a:r>
            <a:r>
              <a:rPr dirty="0"/>
              <a:t> </a:t>
            </a:r>
            <a:r>
              <a:rPr dirty="0" err="1"/>
              <a:t>cohérence</a:t>
            </a:r>
            <a:r>
              <a:rPr dirty="0"/>
              <a:t> entre </a:t>
            </a:r>
            <a:r>
              <a:rPr dirty="0" err="1"/>
              <a:t>l'univers</a:t>
            </a:r>
            <a:r>
              <a:rPr dirty="0"/>
              <a:t> </a:t>
            </a:r>
            <a:r>
              <a:rPr dirty="0" err="1"/>
              <a:t>visuel</a:t>
            </a:r>
            <a:r>
              <a:rPr dirty="0"/>
              <a:t> et la nature de la page. La jungle </a:t>
            </a:r>
            <a:r>
              <a:rPr dirty="0" err="1"/>
              <a:t>est</a:t>
            </a:r>
            <a:r>
              <a:rPr dirty="0"/>
              <a:t> </a:t>
            </a:r>
            <a:r>
              <a:rPr dirty="0" err="1"/>
              <a:t>utilisée</a:t>
            </a:r>
            <a:r>
              <a:rPr dirty="0"/>
              <a:t> sur la page </a:t>
            </a:r>
            <a:r>
              <a:rPr dirty="0" err="1"/>
              <a:t>d'accueil</a:t>
            </a:r>
            <a:r>
              <a:rPr dirty="0"/>
              <a:t> et la page des </a:t>
            </a:r>
            <a:r>
              <a:rPr dirty="0" err="1"/>
              <a:t>événements</a:t>
            </a:r>
            <a:r>
              <a:rPr dirty="0"/>
              <a:t> </a:t>
            </a:r>
            <a:r>
              <a:rPr lang="fr-FR" dirty="0"/>
              <a:t>parce que</a:t>
            </a:r>
            <a:r>
              <a:rPr dirty="0"/>
              <a:t> </a:t>
            </a:r>
            <a:r>
              <a:rPr dirty="0" err="1"/>
              <a:t>ce</a:t>
            </a:r>
            <a:r>
              <a:rPr dirty="0"/>
              <a:t> </a:t>
            </a:r>
            <a:r>
              <a:rPr dirty="0" err="1"/>
              <a:t>sont</a:t>
            </a:r>
            <a:r>
              <a:rPr dirty="0"/>
              <a:t> des pages </a:t>
            </a:r>
            <a:r>
              <a:rPr dirty="0" err="1"/>
              <a:t>informatives</a:t>
            </a:r>
            <a:r>
              <a:rPr dirty="0"/>
              <a:t> sur la </a:t>
            </a:r>
            <a:r>
              <a:rPr dirty="0" err="1"/>
              <a:t>communauté</a:t>
            </a:r>
            <a:r>
              <a:rPr dirty="0"/>
              <a:t>,. La </a:t>
            </a:r>
            <a:r>
              <a:rPr dirty="0" err="1"/>
              <a:t>grotte</a:t>
            </a:r>
            <a:r>
              <a:rPr dirty="0"/>
              <a:t> au </a:t>
            </a:r>
            <a:r>
              <a:rPr dirty="0" err="1"/>
              <a:t>trésor</a:t>
            </a:r>
            <a:r>
              <a:rPr dirty="0"/>
              <a:t> </a:t>
            </a:r>
            <a:r>
              <a:rPr dirty="0" err="1"/>
              <a:t>est</a:t>
            </a:r>
            <a:r>
              <a:rPr dirty="0"/>
              <a:t> </a:t>
            </a:r>
            <a:r>
              <a:rPr dirty="0" err="1"/>
              <a:t>réservée</a:t>
            </a:r>
            <a:r>
              <a:rPr dirty="0"/>
              <a:t> aux pages boutique et panier, car </a:t>
            </a:r>
            <a:r>
              <a:rPr dirty="0" err="1"/>
              <a:t>ces</a:t>
            </a:r>
            <a:r>
              <a:rPr dirty="0"/>
              <a:t> pages correspondent à </a:t>
            </a:r>
            <a:r>
              <a:rPr dirty="0" err="1"/>
              <a:t>une</a:t>
            </a:r>
            <a:r>
              <a:rPr dirty="0"/>
              <a:t> </a:t>
            </a:r>
            <a:r>
              <a:rPr dirty="0" err="1"/>
              <a:t>logique</a:t>
            </a:r>
            <a:r>
              <a:rPr dirty="0"/>
              <a:t> de don des </a:t>
            </a:r>
            <a:r>
              <a:rPr dirty="0" err="1"/>
              <a:t>joueurs</a:t>
            </a:r>
            <a:r>
              <a:rPr dirty="0"/>
              <a:t> </a:t>
            </a:r>
            <a:r>
              <a:rPr dirty="0" err="1"/>
              <a:t>envers</a:t>
            </a:r>
            <a:r>
              <a:rPr dirty="0"/>
              <a:t> la </a:t>
            </a:r>
            <a:r>
              <a:rPr dirty="0" err="1"/>
              <a:t>communauté</a:t>
            </a:r>
            <a:r>
              <a:rPr lang="fr-FR" dirty="0"/>
              <a:t>, </a:t>
            </a:r>
            <a:r>
              <a:rPr dirty="0" err="1"/>
              <a:t>Enfin</a:t>
            </a:r>
            <a:r>
              <a:rPr dirty="0"/>
              <a:t>, le </a:t>
            </a:r>
            <a:r>
              <a:rPr dirty="0" err="1"/>
              <a:t>visuel</a:t>
            </a:r>
            <a:r>
              <a:rPr dirty="0"/>
              <a:t> de la carte Aberration </a:t>
            </a:r>
            <a:r>
              <a:rPr dirty="0" err="1"/>
              <a:t>est</a:t>
            </a:r>
            <a:r>
              <a:rPr dirty="0"/>
              <a:t> </a:t>
            </a:r>
            <a:r>
              <a:rPr dirty="0" err="1"/>
              <a:t>dédié</a:t>
            </a:r>
            <a:r>
              <a:rPr dirty="0"/>
              <a:t> aux pages </a:t>
            </a:r>
            <a:r>
              <a:rPr dirty="0" err="1"/>
              <a:t>d'authentification</a:t>
            </a:r>
            <a:r>
              <a:rPr dirty="0"/>
              <a:t>, </a:t>
            </a:r>
            <a:r>
              <a:rPr dirty="0" err="1"/>
              <a:t>connexion</a:t>
            </a:r>
            <a:r>
              <a:rPr dirty="0"/>
              <a:t> et inscription. </a:t>
            </a:r>
            <a:r>
              <a:rPr dirty="0" err="1"/>
              <a:t>contrairement</a:t>
            </a:r>
            <a:r>
              <a:rPr dirty="0"/>
              <a:t> aux </a:t>
            </a:r>
            <a:r>
              <a:rPr dirty="0" err="1"/>
              <a:t>visuels</a:t>
            </a:r>
            <a:r>
              <a:rPr dirty="0"/>
              <a:t> jungle et </a:t>
            </a:r>
            <a:r>
              <a:rPr dirty="0" err="1"/>
              <a:t>grotte</a:t>
            </a:r>
            <a:r>
              <a:rPr dirty="0"/>
              <a:t>, </a:t>
            </a:r>
            <a:r>
              <a:rPr dirty="0" err="1"/>
              <a:t>générés</a:t>
            </a:r>
            <a:r>
              <a:rPr dirty="0"/>
              <a:t> par IA </a:t>
            </a:r>
            <a:r>
              <a:rPr dirty="0" err="1"/>
              <a:t>spécifiquement</a:t>
            </a:r>
            <a:r>
              <a:rPr dirty="0"/>
              <a:t> pour BATARK, le </a:t>
            </a:r>
            <a:r>
              <a:rPr dirty="0" err="1"/>
              <a:t>visuel</a:t>
            </a:r>
            <a:r>
              <a:rPr dirty="0"/>
              <a:t> Aberration </a:t>
            </a:r>
            <a:r>
              <a:rPr dirty="0" err="1"/>
              <a:t>est</a:t>
            </a:r>
            <a:r>
              <a:rPr dirty="0"/>
              <a:t> </a:t>
            </a:r>
            <a:r>
              <a:rPr dirty="0" err="1"/>
              <a:t>une</a:t>
            </a:r>
            <a:r>
              <a:rPr dirty="0"/>
              <a:t> capture </a:t>
            </a:r>
            <a:r>
              <a:rPr dirty="0" err="1"/>
              <a:t>officielle</a:t>
            </a:r>
            <a:r>
              <a:rPr dirty="0"/>
              <a:t> du jeu, </a:t>
            </a:r>
            <a:r>
              <a:rPr dirty="0" err="1"/>
              <a:t>dont</a:t>
            </a:r>
            <a:r>
              <a:rPr dirty="0"/>
              <a:t> </a:t>
            </a:r>
            <a:r>
              <a:rPr dirty="0" err="1"/>
              <a:t>l'usage</a:t>
            </a:r>
            <a:r>
              <a:rPr lang="fr-FR" dirty="0"/>
              <a:t> est </a:t>
            </a:r>
            <a:r>
              <a:rPr dirty="0" err="1"/>
              <a:t>encadré</a:t>
            </a:r>
            <a:r>
              <a:rPr dirty="0"/>
              <a:t> par les conditions de Wildcard Alliance</a:t>
            </a:r>
            <a:r>
              <a:rPr lang="fr-FR" dirty="0"/>
              <a:t> qui autorise l’utilisation de leurs images officiels pour la création d’un shop communautaire,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Apres ca</a:t>
            </a:r>
            <a:r>
              <a:rPr dirty="0"/>
              <a:t> </a:t>
            </a:r>
            <a:r>
              <a:rPr dirty="0" err="1"/>
              <a:t>j’ai</a:t>
            </a:r>
            <a:r>
              <a:rPr dirty="0"/>
              <a:t> </a:t>
            </a:r>
            <a:r>
              <a:rPr dirty="0" err="1"/>
              <a:t>structuré</a:t>
            </a:r>
            <a:r>
              <a:rPr dirty="0"/>
              <a:t> la base de </a:t>
            </a:r>
            <a:r>
              <a:rPr dirty="0" err="1"/>
              <a:t>données</a:t>
            </a:r>
            <a:r>
              <a:rPr dirty="0"/>
              <a:t> avec la </a:t>
            </a:r>
            <a:r>
              <a:rPr dirty="0" err="1"/>
              <a:t>méthode</a:t>
            </a:r>
            <a:r>
              <a:rPr dirty="0"/>
              <a:t> </a:t>
            </a:r>
            <a:r>
              <a:rPr dirty="0" err="1"/>
              <a:t>Merise</a:t>
            </a:r>
            <a:r>
              <a:rPr dirty="0"/>
              <a:t>. Le MCD </a:t>
            </a:r>
            <a:r>
              <a:rPr dirty="0" err="1"/>
              <a:t>décrit</a:t>
            </a:r>
            <a:r>
              <a:rPr dirty="0"/>
              <a:t> les </a:t>
            </a:r>
            <a:r>
              <a:rPr dirty="0" err="1"/>
              <a:t>besoins</a:t>
            </a:r>
            <a:r>
              <a:rPr dirty="0"/>
              <a:t> métier avec les </a:t>
            </a:r>
            <a:r>
              <a:rPr dirty="0" err="1"/>
              <a:t>entités</a:t>
            </a:r>
            <a:r>
              <a:rPr dirty="0"/>
              <a:t>, les associations et les </a:t>
            </a:r>
            <a:r>
              <a:rPr dirty="0" err="1"/>
              <a:t>cardinalités</a:t>
            </a:r>
            <a:r>
              <a:rPr dirty="0"/>
              <a:t>. Le MLD </a:t>
            </a:r>
            <a:r>
              <a:rPr dirty="0" err="1"/>
              <a:t>traduit</a:t>
            </a:r>
            <a:r>
              <a:rPr dirty="0"/>
              <a:t> </a:t>
            </a:r>
            <a:r>
              <a:rPr dirty="0" err="1"/>
              <a:t>ensuite</a:t>
            </a:r>
            <a:r>
              <a:rPr dirty="0"/>
              <a:t> </a:t>
            </a:r>
            <a:r>
              <a:rPr dirty="0" err="1"/>
              <a:t>ce</a:t>
            </a:r>
            <a:r>
              <a:rPr dirty="0"/>
              <a:t> </a:t>
            </a:r>
            <a:r>
              <a:rPr dirty="0" err="1"/>
              <a:t>modèle</a:t>
            </a:r>
            <a:r>
              <a:rPr dirty="0"/>
              <a:t> sous </a:t>
            </a:r>
            <a:r>
              <a:rPr dirty="0" err="1"/>
              <a:t>forme</a:t>
            </a:r>
            <a:r>
              <a:rPr dirty="0"/>
              <a:t> de tables avec des </a:t>
            </a:r>
            <a:r>
              <a:rPr dirty="0" err="1"/>
              <a:t>clés</a:t>
            </a:r>
            <a:r>
              <a:rPr dirty="0"/>
              <a:t> </a:t>
            </a:r>
            <a:r>
              <a:rPr dirty="0" err="1"/>
              <a:t>primaires</a:t>
            </a:r>
            <a:r>
              <a:rPr dirty="0"/>
              <a:t> et </a:t>
            </a:r>
            <a:r>
              <a:rPr dirty="0" err="1"/>
              <a:t>étrangères</a:t>
            </a:r>
            <a:r>
              <a:rPr dirty="0"/>
              <a:t>. </a:t>
            </a:r>
            <a:r>
              <a:rPr dirty="0" err="1"/>
              <a:t>Enfin</a:t>
            </a:r>
            <a:r>
              <a:rPr dirty="0"/>
              <a:t>, le MPD correspond à </a:t>
            </a:r>
            <a:r>
              <a:rPr dirty="0" err="1"/>
              <a:t>l’implémentation</a:t>
            </a:r>
            <a:r>
              <a:rPr dirty="0"/>
              <a:t> </a:t>
            </a:r>
            <a:r>
              <a:rPr dirty="0" err="1"/>
              <a:t>réelle</a:t>
            </a:r>
            <a:r>
              <a:rPr dirty="0"/>
              <a:t> dans MySQL, avec les types de </a:t>
            </a:r>
            <a:r>
              <a:rPr dirty="0" err="1"/>
              <a:t>colonnes</a:t>
            </a:r>
            <a:r>
              <a:rPr dirty="0"/>
              <a:t> et les </a:t>
            </a:r>
            <a:r>
              <a:rPr dirty="0" err="1"/>
              <a:t>contraintes</a:t>
            </a:r>
            <a:r>
              <a:rPr dirty="0"/>
              <a:t>. </a:t>
            </a:r>
            <a:r>
              <a:rPr dirty="0" err="1"/>
              <a:t>Cette</a:t>
            </a:r>
            <a:r>
              <a:rPr dirty="0"/>
              <a:t> démarche </a:t>
            </a:r>
            <a:r>
              <a:rPr dirty="0" err="1"/>
              <a:t>m’a</a:t>
            </a:r>
            <a:r>
              <a:rPr dirty="0"/>
              <a:t> </a:t>
            </a:r>
            <a:r>
              <a:rPr dirty="0" err="1"/>
              <a:t>permis</a:t>
            </a:r>
            <a:r>
              <a:rPr dirty="0"/>
              <a:t> de </a:t>
            </a:r>
            <a:r>
              <a:rPr dirty="0" err="1"/>
              <a:t>vérifier</a:t>
            </a:r>
            <a:r>
              <a:rPr dirty="0"/>
              <a:t> la </a:t>
            </a:r>
            <a:r>
              <a:rPr dirty="0" err="1"/>
              <a:t>cohérence</a:t>
            </a:r>
            <a:r>
              <a:rPr dirty="0"/>
              <a:t> de la base </a:t>
            </a:r>
            <a:r>
              <a:rPr dirty="0" err="1"/>
              <a:t>avant</a:t>
            </a:r>
            <a:r>
              <a:rPr dirty="0"/>
              <a:t> de </a:t>
            </a:r>
            <a:r>
              <a:rPr dirty="0" err="1"/>
              <a:t>créer</a:t>
            </a:r>
            <a:r>
              <a:rPr dirty="0"/>
              <a:t> les </a:t>
            </a:r>
            <a:r>
              <a:rPr dirty="0" err="1"/>
              <a:t>entités</a:t>
            </a:r>
            <a:r>
              <a:rPr dirty="0"/>
              <a:t> Doctrine.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MCD </a:t>
            </a:r>
            <a:r>
              <a:rPr dirty="0" err="1"/>
              <a:t>représente</a:t>
            </a:r>
            <a:r>
              <a:rPr dirty="0"/>
              <a:t> les </a:t>
            </a:r>
            <a:r>
              <a:rPr dirty="0" err="1"/>
              <a:t>principales</a:t>
            </a:r>
            <a:r>
              <a:rPr dirty="0"/>
              <a:t> </a:t>
            </a:r>
            <a:r>
              <a:rPr dirty="0" err="1"/>
              <a:t>entités</a:t>
            </a:r>
            <a:r>
              <a:rPr dirty="0"/>
              <a:t> </a:t>
            </a:r>
            <a:r>
              <a:rPr dirty="0" err="1"/>
              <a:t>comme</a:t>
            </a:r>
            <a:r>
              <a:rPr dirty="0"/>
              <a:t> User, Product, Cart, Order et Event, </a:t>
            </a:r>
            <a:r>
              <a:rPr dirty="0" err="1"/>
              <a:t>puis</a:t>
            </a:r>
            <a:r>
              <a:rPr dirty="0"/>
              <a:t> </a:t>
            </a:r>
            <a:r>
              <a:rPr dirty="0" err="1"/>
              <a:t>leurs</a:t>
            </a:r>
            <a:r>
              <a:rPr dirty="0"/>
              <a:t> associations et </a:t>
            </a:r>
            <a:r>
              <a:rPr dirty="0" err="1"/>
              <a:t>leurs</a:t>
            </a:r>
            <a:r>
              <a:rPr dirty="0"/>
              <a:t> </a:t>
            </a:r>
            <a:r>
              <a:rPr dirty="0" err="1"/>
              <a:t>cardinalités</a:t>
            </a:r>
            <a:r>
              <a:rPr dirty="0"/>
              <a:t>. Par </a:t>
            </a:r>
            <a:r>
              <a:rPr dirty="0" err="1"/>
              <a:t>exemple</a:t>
            </a:r>
            <a:r>
              <a:rPr dirty="0"/>
              <a:t>, un </a:t>
            </a:r>
            <a:r>
              <a:rPr dirty="0" err="1"/>
              <a:t>utilisateur</a:t>
            </a:r>
            <a:r>
              <a:rPr dirty="0"/>
              <a:t> </a:t>
            </a:r>
            <a:r>
              <a:rPr dirty="0" err="1"/>
              <a:t>peut</a:t>
            </a:r>
            <a:r>
              <a:rPr dirty="0"/>
              <a:t> passer </a:t>
            </a:r>
            <a:r>
              <a:rPr dirty="0" err="1"/>
              <a:t>plusieurs</a:t>
            </a:r>
            <a:r>
              <a:rPr dirty="0"/>
              <a:t> </a:t>
            </a:r>
            <a:r>
              <a:rPr dirty="0" err="1"/>
              <a:t>commandes</a:t>
            </a:r>
            <a:r>
              <a:rPr dirty="0"/>
              <a:t>, </a:t>
            </a:r>
            <a:r>
              <a:rPr dirty="0" err="1"/>
              <a:t>tandis</a:t>
            </a:r>
            <a:r>
              <a:rPr dirty="0"/>
              <a:t> </a:t>
            </a:r>
            <a:r>
              <a:rPr dirty="0" err="1"/>
              <a:t>qu’une</a:t>
            </a:r>
            <a:r>
              <a:rPr dirty="0"/>
              <a:t> </a:t>
            </a:r>
            <a:r>
              <a:rPr dirty="0" err="1"/>
              <a:t>commande</a:t>
            </a:r>
            <a:r>
              <a:rPr dirty="0"/>
              <a:t> </a:t>
            </a:r>
            <a:r>
              <a:rPr dirty="0" err="1"/>
              <a:t>appartient</a:t>
            </a:r>
            <a:r>
              <a:rPr dirty="0"/>
              <a:t> à un </a:t>
            </a:r>
            <a:r>
              <a:rPr dirty="0" err="1"/>
              <a:t>seul</a:t>
            </a:r>
            <a:r>
              <a:rPr dirty="0"/>
              <a:t> </a:t>
            </a:r>
            <a:r>
              <a:rPr dirty="0" err="1"/>
              <a:t>utilisateur</a:t>
            </a:r>
            <a:r>
              <a:rPr dirty="0"/>
              <a:t>. Les </a:t>
            </a:r>
            <a:r>
              <a:rPr dirty="0" err="1"/>
              <a:t>entités</a:t>
            </a:r>
            <a:r>
              <a:rPr dirty="0"/>
              <a:t> </a:t>
            </a:r>
            <a:r>
              <a:rPr dirty="0" err="1"/>
              <a:t>CartItem</a:t>
            </a:r>
            <a:r>
              <a:rPr dirty="0"/>
              <a:t> et </a:t>
            </a:r>
            <a:r>
              <a:rPr dirty="0" err="1"/>
              <a:t>OrderItem</a:t>
            </a:r>
            <a:r>
              <a:rPr dirty="0"/>
              <a:t> </a:t>
            </a:r>
            <a:r>
              <a:rPr dirty="0" err="1"/>
              <a:t>permettent</a:t>
            </a:r>
            <a:r>
              <a:rPr dirty="0"/>
              <a:t> de </a:t>
            </a:r>
            <a:r>
              <a:rPr dirty="0" err="1"/>
              <a:t>représenter</a:t>
            </a:r>
            <a:r>
              <a:rPr dirty="0"/>
              <a:t> les </a:t>
            </a:r>
            <a:r>
              <a:rPr dirty="0" err="1"/>
              <a:t>lignes</a:t>
            </a:r>
            <a:r>
              <a:rPr dirty="0"/>
              <a:t> du panier et de la </a:t>
            </a:r>
            <a:r>
              <a:rPr dirty="0" err="1"/>
              <a:t>commande</a:t>
            </a:r>
            <a:r>
              <a:rPr dirty="0"/>
              <a:t> avec </a:t>
            </a:r>
            <a:r>
              <a:rPr dirty="0" err="1"/>
              <a:t>leur</a:t>
            </a:r>
            <a:r>
              <a:rPr dirty="0"/>
              <a:t> </a:t>
            </a:r>
            <a:r>
              <a:rPr dirty="0" err="1"/>
              <a:t>quantité</a:t>
            </a:r>
            <a:r>
              <a:rPr dirty="0"/>
              <a:t> et </a:t>
            </a:r>
            <a:r>
              <a:rPr dirty="0" err="1"/>
              <a:t>leur</a:t>
            </a:r>
            <a:r>
              <a:rPr dirty="0"/>
              <a:t> prix.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Le MLD est obtenu à partir du MCD. Chaque entité devient une table et son identifiant devient une clé primaire. Des clés étrangères sont ensuite ajoutées pour relier les informations entre les tables. Par exemple, </a:t>
            </a:r>
            <a:r>
              <a:rPr lang="fr-FR" dirty="0" err="1"/>
              <a:t>id_user</a:t>
            </a:r>
            <a:r>
              <a:rPr lang="fr-FR" dirty="0"/>
              <a:t> est ajouté dans la table </a:t>
            </a:r>
            <a:r>
              <a:rPr lang="fr-FR" dirty="0" err="1"/>
              <a:t>Order</a:t>
            </a:r>
            <a:r>
              <a:rPr lang="fr-FR" dirty="0"/>
              <a:t> pour savoir à quel utilisateur appartient chaque commande. Les associations qui contiennent leurs propres données deviennent des tables, comme </a:t>
            </a:r>
            <a:r>
              <a:rPr lang="fr-FR" dirty="0" err="1"/>
              <a:t>CartItem</a:t>
            </a:r>
            <a:r>
              <a:rPr lang="fr-FR" dirty="0"/>
              <a:t> et </a:t>
            </a:r>
            <a:r>
              <a:rPr lang="fr-FR" dirty="0" err="1"/>
              <a:t>OrderItem</a:t>
            </a:r>
            <a:r>
              <a:rPr lang="fr-FR" dirty="0"/>
              <a:t>, qui stockent la quantité, le prix unitaire et les options Type et </a:t>
            </a:r>
            <a:r>
              <a:rPr lang="fr-FR" dirty="0" err="1"/>
              <a:t>Quality</a:t>
            </a:r>
            <a:r>
              <a:rPr lang="fr-FR"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MPD correspond à la structure </a:t>
            </a:r>
            <a:r>
              <a:rPr dirty="0" err="1"/>
              <a:t>réellement</a:t>
            </a:r>
            <a:r>
              <a:rPr dirty="0"/>
              <a:t> </a:t>
            </a:r>
            <a:r>
              <a:rPr dirty="0" err="1"/>
              <a:t>créée</a:t>
            </a:r>
            <a:r>
              <a:rPr dirty="0"/>
              <a:t> dans MySQL. Pour passer du MLD au MPD, </a:t>
            </a:r>
            <a:r>
              <a:rPr dirty="0" err="1"/>
              <a:t>chaque</a:t>
            </a:r>
            <a:r>
              <a:rPr dirty="0"/>
              <a:t> </a:t>
            </a:r>
            <a:r>
              <a:rPr dirty="0" err="1"/>
              <a:t>colonne</a:t>
            </a:r>
            <a:r>
              <a:rPr dirty="0"/>
              <a:t> </a:t>
            </a:r>
            <a:r>
              <a:rPr dirty="0" err="1"/>
              <a:t>reçoit</a:t>
            </a:r>
            <a:r>
              <a:rPr dirty="0"/>
              <a:t> un type précis </a:t>
            </a:r>
            <a:r>
              <a:rPr dirty="0" err="1"/>
              <a:t>comme</a:t>
            </a:r>
            <a:r>
              <a:rPr dirty="0"/>
              <a:t> int, varchar, datetime </a:t>
            </a:r>
            <a:r>
              <a:rPr dirty="0" err="1"/>
              <a:t>ou</a:t>
            </a:r>
            <a:r>
              <a:rPr dirty="0"/>
              <a:t> JSON, </a:t>
            </a:r>
            <a:r>
              <a:rPr dirty="0" err="1"/>
              <a:t>puis</a:t>
            </a:r>
            <a:r>
              <a:rPr dirty="0"/>
              <a:t> les </a:t>
            </a:r>
            <a:r>
              <a:rPr dirty="0" err="1"/>
              <a:t>clés</a:t>
            </a:r>
            <a:r>
              <a:rPr dirty="0"/>
              <a:t> </a:t>
            </a:r>
            <a:r>
              <a:rPr dirty="0" err="1"/>
              <a:t>étrangères</a:t>
            </a:r>
            <a:r>
              <a:rPr dirty="0"/>
              <a:t> et les </a:t>
            </a:r>
            <a:r>
              <a:rPr dirty="0" err="1"/>
              <a:t>contraintes</a:t>
            </a:r>
            <a:r>
              <a:rPr dirty="0"/>
              <a:t> </a:t>
            </a:r>
            <a:r>
              <a:rPr dirty="0" err="1"/>
              <a:t>sont</a:t>
            </a:r>
            <a:r>
              <a:rPr dirty="0"/>
              <a:t> </a:t>
            </a:r>
            <a:r>
              <a:rPr dirty="0" err="1"/>
              <a:t>appliquées</a:t>
            </a:r>
            <a:r>
              <a:rPr dirty="0"/>
              <a:t>. Dans </a:t>
            </a:r>
            <a:r>
              <a:rPr dirty="0" err="1"/>
              <a:t>mon</a:t>
            </a:r>
            <a:r>
              <a:rPr dirty="0"/>
              <a:t> </a:t>
            </a:r>
            <a:r>
              <a:rPr dirty="0" err="1"/>
              <a:t>projet</a:t>
            </a:r>
            <a:r>
              <a:rPr dirty="0"/>
              <a:t>, je </a:t>
            </a:r>
            <a:r>
              <a:rPr dirty="0" err="1"/>
              <a:t>définis</a:t>
            </a:r>
            <a:r>
              <a:rPr dirty="0"/>
              <a:t> </a:t>
            </a:r>
            <a:r>
              <a:rPr dirty="0" err="1"/>
              <a:t>cette</a:t>
            </a:r>
            <a:r>
              <a:rPr dirty="0"/>
              <a:t> structure dans les </a:t>
            </a:r>
            <a:r>
              <a:rPr dirty="0" err="1"/>
              <a:t>entités</a:t>
            </a:r>
            <a:r>
              <a:rPr dirty="0"/>
              <a:t> Doctrine et je </a:t>
            </a:r>
            <a:r>
              <a:rPr dirty="0" err="1"/>
              <a:t>génère</a:t>
            </a:r>
            <a:r>
              <a:rPr dirty="0"/>
              <a:t> les modifications SQL avec les migrations Symfony. Dans phpMyAdmin, on </a:t>
            </a:r>
            <a:r>
              <a:rPr dirty="0" err="1"/>
              <a:t>retrouve</a:t>
            </a:r>
            <a:r>
              <a:rPr dirty="0"/>
              <a:t> les tables </a:t>
            </a:r>
            <a:r>
              <a:rPr dirty="0" err="1"/>
              <a:t>prévues</a:t>
            </a:r>
            <a:r>
              <a:rPr dirty="0"/>
              <a:t> dans le MLD </a:t>
            </a:r>
            <a:r>
              <a:rPr dirty="0" err="1"/>
              <a:t>ainsi</a:t>
            </a:r>
            <a:r>
              <a:rPr dirty="0"/>
              <a:t> que </a:t>
            </a:r>
            <a:r>
              <a:rPr dirty="0" err="1"/>
              <a:t>leurs</a:t>
            </a:r>
            <a:r>
              <a:rPr dirty="0"/>
              <a:t> relations </a:t>
            </a:r>
            <a:r>
              <a:rPr dirty="0" err="1"/>
              <a:t>réelles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Je vais maintenant vous expliquer comment </a:t>
            </a:r>
            <a:r>
              <a:rPr lang="fr-FR" dirty="0" err="1"/>
              <a:t>jai</a:t>
            </a:r>
            <a:r>
              <a:rPr lang="fr-FR" dirty="0"/>
              <a:t> mis en place le projet avec Jira docker et </a:t>
            </a:r>
            <a:r>
              <a:rPr lang="fr-FR" dirty="0" err="1"/>
              <a:t>github</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J’ai organisé mon projet avec la méthode Scrum, en utilisant un tableau Kanban sur Jira pour suivre l’avancement des tâches dans trois colonnes : à faire, en cours et terminé.</a:t>
            </a:r>
            <a:r>
              <a:rPr dirty="0"/>
              <a:t> </a:t>
            </a:r>
            <a:r>
              <a:rPr dirty="0" err="1"/>
              <a:t>Chaque</a:t>
            </a:r>
            <a:r>
              <a:rPr dirty="0"/>
              <a:t> ticket </a:t>
            </a:r>
            <a:r>
              <a:rPr dirty="0" err="1"/>
              <a:t>correspondait</a:t>
            </a:r>
            <a:r>
              <a:rPr dirty="0"/>
              <a:t> à </a:t>
            </a:r>
            <a:r>
              <a:rPr dirty="0" err="1"/>
              <a:t>une</a:t>
            </a:r>
            <a:r>
              <a:rPr dirty="0"/>
              <a:t> </a:t>
            </a:r>
            <a:r>
              <a:rPr dirty="0" err="1"/>
              <a:t>fonctionnalité</a:t>
            </a:r>
            <a:r>
              <a:rPr dirty="0"/>
              <a:t> </a:t>
            </a:r>
            <a:r>
              <a:rPr dirty="0" err="1"/>
              <a:t>précise</a:t>
            </a:r>
            <a:r>
              <a:rPr dirty="0"/>
              <a:t>, par </a:t>
            </a:r>
            <a:r>
              <a:rPr dirty="0" err="1"/>
              <a:t>exemple</a:t>
            </a:r>
            <a:r>
              <a:rPr dirty="0"/>
              <a:t> </a:t>
            </a:r>
            <a:r>
              <a:rPr dirty="0" err="1"/>
              <a:t>l'authentification</a:t>
            </a:r>
            <a:r>
              <a:rPr dirty="0"/>
              <a:t>, l</a:t>
            </a:r>
            <a:r>
              <a:rPr lang="fr-FR" dirty="0"/>
              <a:t>a page d’accueil</a:t>
            </a:r>
            <a:r>
              <a:rPr dirty="0"/>
              <a:t>, </a:t>
            </a:r>
            <a:r>
              <a:rPr dirty="0" err="1"/>
              <a:t>ou</a:t>
            </a:r>
            <a:r>
              <a:rPr dirty="0"/>
              <a:t> </a:t>
            </a:r>
            <a:r>
              <a:rPr dirty="0" err="1"/>
              <a:t>l'intégration</a:t>
            </a:r>
            <a:r>
              <a:rPr dirty="0"/>
              <a:t> Stripe. </a:t>
            </a:r>
            <a:endParaRPr lang="fr-FR" dirty="0"/>
          </a:p>
          <a:p>
            <a:endParaRPr lang="fr-FR" dirty="0"/>
          </a:p>
          <a:p>
            <a:r>
              <a:rPr lang="fr-FR" dirty="0"/>
              <a:t>La méthode Scrum est une méthode de gestion de projet agile qui permet d’avancer progressivement.</a:t>
            </a:r>
          </a:p>
          <a:p>
            <a:r>
              <a:rPr lang="fr-FR" dirty="0"/>
              <a:t>Le </a:t>
            </a:r>
            <a:r>
              <a:rPr lang="fr-FR" dirty="0" err="1"/>
              <a:t>backlog</a:t>
            </a:r>
            <a:r>
              <a:rPr lang="fr-FR" dirty="0"/>
              <a:t> est la liste de toutes les fonctionnalités et tâches à réaliser.</a:t>
            </a:r>
          </a:p>
          <a:p>
            <a:r>
              <a:rPr lang="fr-FR" dirty="0"/>
              <a:t>Une user story décrit un besoin du point de vue de l’utilisateur, par exemple : « En tant qu’utilisateur, je veux ajouter un produit au panier. »</a:t>
            </a:r>
          </a:p>
          <a:p>
            <a:r>
              <a:rPr lang="fr-FR" dirty="0"/>
              <a:t>Un sprint est une courte période de travail pendant laquelle une partie du </a:t>
            </a:r>
            <a:r>
              <a:rPr lang="fr-FR" dirty="0" err="1"/>
              <a:t>backlog</a:t>
            </a:r>
            <a:r>
              <a:rPr lang="fr-FR" dirty="0"/>
              <a:t> est réalisée.</a:t>
            </a:r>
          </a:p>
          <a:p>
            <a:endParaRPr lang="fr-FR" dirty="0"/>
          </a:p>
          <a:p>
            <a:r>
              <a:rPr lang="fr-FR" dirty="0"/>
              <a:t>Dans une équipe Scrum complète, il y a généralement :</a:t>
            </a:r>
          </a:p>
          <a:p>
            <a:pPr>
              <a:buFont typeface="Arial" panose="020B0604020202020204" pitchFamily="34" charset="0"/>
              <a:buChar char="•"/>
            </a:pPr>
            <a:r>
              <a:rPr lang="fr-FR" dirty="0"/>
              <a:t>le </a:t>
            </a:r>
            <a:r>
              <a:rPr lang="fr-FR" b="1" dirty="0"/>
              <a:t>Scrum Master</a:t>
            </a:r>
            <a:r>
              <a:rPr lang="fr-FR" dirty="0"/>
              <a:t>, qui aide l’équipe à appliquer Scrum et à résoudre les blocages ; </a:t>
            </a:r>
          </a:p>
          <a:p>
            <a:pPr>
              <a:buFont typeface="Arial" panose="020B0604020202020204" pitchFamily="34" charset="0"/>
              <a:buChar char="•"/>
            </a:pPr>
            <a:r>
              <a:rPr lang="fr-FR" dirty="0"/>
              <a:t>le </a:t>
            </a:r>
            <a:r>
              <a:rPr lang="fr-FR" b="1" dirty="0"/>
              <a:t>Product </a:t>
            </a:r>
            <a:r>
              <a:rPr lang="fr-FR" b="1" dirty="0" err="1"/>
              <a:t>Owner</a:t>
            </a:r>
            <a:r>
              <a:rPr lang="fr-FR" dirty="0"/>
              <a:t>, qui définit et priorise les besoins dans le </a:t>
            </a:r>
            <a:r>
              <a:rPr lang="fr-FR" dirty="0" err="1"/>
              <a:t>backlog</a:t>
            </a:r>
            <a:r>
              <a:rPr lang="fr-FR" dirty="0"/>
              <a:t> ; </a:t>
            </a:r>
          </a:p>
          <a:p>
            <a:pPr>
              <a:buFont typeface="Arial" panose="020B0604020202020204" pitchFamily="34" charset="0"/>
              <a:buChar char="•"/>
            </a:pPr>
            <a:r>
              <a:rPr lang="fr-FR" dirty="0"/>
              <a:t>l’</a:t>
            </a:r>
            <a:r>
              <a:rPr lang="fr-FR" b="1" dirty="0"/>
              <a:t>équipe de développement</a:t>
            </a:r>
            <a:r>
              <a:rPr lang="fr-FR" dirty="0"/>
              <a:t>, qui réalise les fonctionnalités. </a:t>
            </a:r>
          </a:p>
          <a:p>
            <a:r>
              <a:rPr lang="fr-FR" dirty="0"/>
              <a:t>Il existe aussi plusieurs réunions, notamment le </a:t>
            </a:r>
            <a:r>
              <a:rPr lang="fr-FR" b="1" dirty="0"/>
              <a:t>Daily Scrum</a:t>
            </a:r>
            <a:r>
              <a:rPr lang="fr-FR" dirty="0"/>
              <a:t>, une courte réunion quotidienne pour faire le point, ainsi que la planification du sprint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FR" dirty="0"/>
              <a:t>Mon environnement de développement utilise Docker avec quatre services séparés. PHP exécute l’application Symfony, Nginx est le serveur web qui permet d’afficher le site dans le navigateur sur le port 8080, MySQL stocke les données de l’application dans la base de </a:t>
            </a:r>
            <a:r>
              <a:rPr lang="fr-FR" dirty="0" err="1"/>
              <a:t>donées</a:t>
            </a:r>
            <a:r>
              <a:rPr lang="fr-FR" dirty="0"/>
              <a:t>, et phpMyAdmin permet de consulter et modifier cette base depuis une interface accessible sur le port 8081.</a:t>
            </a:r>
          </a:p>
          <a:p>
            <a:r>
              <a:rPr lang="fr-FR" dirty="0"/>
              <a:t>Grâce à Docker, tous ces services sont lancés ensemble avec la même configuration, sans devoir installer et configurer manuellement chaque outil sur l’ordinateur.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GitHub, j'ai travaillé avec une branche par grande fonctionnalité : feature/login-register, feature/events, feature/admin, feature/shop, puis une branche refactor pour les améliorations transverses. Mes commits sont préfixés par type — feature, refactor, fix — pour qu'on comprenne immédiatement la nature du changement, comme on le voit dans cet extrait de mon historique.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Cinquième partie : place à la démonstration en direct de l'application.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Je </a:t>
            </a:r>
            <a:r>
              <a:rPr dirty="0" err="1"/>
              <a:t>vais</a:t>
            </a:r>
            <a:r>
              <a:rPr dirty="0"/>
              <a:t> </a:t>
            </a:r>
            <a:r>
              <a:rPr dirty="0" err="1"/>
              <a:t>maintenant</a:t>
            </a:r>
            <a:r>
              <a:rPr dirty="0"/>
              <a:t> </a:t>
            </a:r>
            <a:r>
              <a:rPr dirty="0" err="1"/>
              <a:t>dérouler</a:t>
            </a:r>
            <a:r>
              <a:rPr dirty="0"/>
              <a:t> un </a:t>
            </a:r>
            <a:r>
              <a:rPr dirty="0" err="1"/>
              <a:t>parcours</a:t>
            </a:r>
            <a:r>
              <a:rPr dirty="0"/>
              <a:t> </a:t>
            </a:r>
            <a:r>
              <a:rPr dirty="0" err="1"/>
              <a:t>utilisateur</a:t>
            </a:r>
            <a:r>
              <a:rPr dirty="0"/>
              <a:t> </a:t>
            </a:r>
            <a:r>
              <a:rPr dirty="0" err="1"/>
              <a:t>complet</a:t>
            </a:r>
            <a:r>
              <a:rPr dirty="0"/>
              <a:t>. </a:t>
            </a:r>
            <a:r>
              <a:rPr dirty="0" err="1"/>
              <a:t>L’utilisateur</a:t>
            </a:r>
            <a:r>
              <a:rPr dirty="0"/>
              <a:t> </a:t>
            </a:r>
            <a:r>
              <a:rPr dirty="0" err="1"/>
              <a:t>s’inscrit</a:t>
            </a:r>
            <a:r>
              <a:rPr dirty="0"/>
              <a:t>, se </a:t>
            </a:r>
            <a:r>
              <a:rPr dirty="0" err="1"/>
              <a:t>connecte</a:t>
            </a:r>
            <a:r>
              <a:rPr dirty="0"/>
              <a:t>, </a:t>
            </a:r>
            <a:r>
              <a:rPr dirty="0" err="1"/>
              <a:t>choisit</a:t>
            </a:r>
            <a:r>
              <a:rPr dirty="0"/>
              <a:t> un </a:t>
            </a:r>
            <a:r>
              <a:rPr dirty="0" err="1"/>
              <a:t>produit</a:t>
            </a:r>
            <a:r>
              <a:rPr dirty="0"/>
              <a:t> et </a:t>
            </a:r>
            <a:r>
              <a:rPr dirty="0" err="1"/>
              <a:t>l’ajoute</a:t>
            </a:r>
            <a:r>
              <a:rPr dirty="0"/>
              <a:t> au panier avec son type et </a:t>
            </a:r>
            <a:r>
              <a:rPr dirty="0" err="1"/>
              <a:t>sa</a:t>
            </a:r>
            <a:r>
              <a:rPr dirty="0"/>
              <a:t> </a:t>
            </a:r>
            <a:r>
              <a:rPr dirty="0" err="1"/>
              <a:t>qualité</a:t>
            </a:r>
            <a:r>
              <a:rPr dirty="0"/>
              <a:t> </a:t>
            </a:r>
            <a:r>
              <a:rPr dirty="0" err="1"/>
              <a:t>si</a:t>
            </a:r>
            <a:r>
              <a:rPr dirty="0"/>
              <a:t> </a:t>
            </a:r>
            <a:r>
              <a:rPr dirty="0" err="1"/>
              <a:t>nécessaire</a:t>
            </a:r>
            <a:r>
              <a:rPr dirty="0"/>
              <a:t>. </a:t>
            </a:r>
            <a:r>
              <a:rPr dirty="0" err="1"/>
              <a:t>Lorsqu’il</a:t>
            </a:r>
            <a:r>
              <a:rPr dirty="0"/>
              <a:t> </a:t>
            </a:r>
            <a:r>
              <a:rPr dirty="0" err="1"/>
              <a:t>valide</a:t>
            </a:r>
            <a:r>
              <a:rPr dirty="0"/>
              <a:t>, il </a:t>
            </a:r>
            <a:r>
              <a:rPr dirty="0" err="1"/>
              <a:t>est</a:t>
            </a:r>
            <a:r>
              <a:rPr dirty="0"/>
              <a:t> </a:t>
            </a:r>
            <a:r>
              <a:rPr dirty="0" err="1"/>
              <a:t>redirigé</a:t>
            </a:r>
            <a:r>
              <a:rPr dirty="0"/>
              <a:t> </a:t>
            </a:r>
            <a:r>
              <a:rPr dirty="0" err="1"/>
              <a:t>vers</a:t>
            </a:r>
            <a:r>
              <a:rPr dirty="0"/>
              <a:t> Stripe Checkout. Après confirmation du </a:t>
            </a:r>
            <a:r>
              <a:rPr dirty="0" err="1"/>
              <a:t>paiement</a:t>
            </a:r>
            <a:r>
              <a:rPr dirty="0"/>
              <a:t>, </a:t>
            </a:r>
            <a:r>
              <a:rPr dirty="0" err="1"/>
              <a:t>l’application</a:t>
            </a:r>
            <a:r>
              <a:rPr dirty="0"/>
              <a:t> </a:t>
            </a:r>
            <a:r>
              <a:rPr dirty="0" err="1"/>
              <a:t>crée</a:t>
            </a:r>
            <a:r>
              <a:rPr dirty="0"/>
              <a:t> la </a:t>
            </a:r>
            <a:r>
              <a:rPr dirty="0" err="1"/>
              <a:t>commande</a:t>
            </a:r>
            <a:r>
              <a:rPr dirty="0"/>
              <a:t> et affiche un code unique. Le client </a:t>
            </a:r>
            <a:r>
              <a:rPr dirty="0" err="1"/>
              <a:t>transmet</a:t>
            </a:r>
            <a:r>
              <a:rPr dirty="0"/>
              <a:t> </a:t>
            </a:r>
            <a:r>
              <a:rPr dirty="0" err="1"/>
              <a:t>ensuite</a:t>
            </a:r>
            <a:r>
              <a:rPr dirty="0"/>
              <a:t> </a:t>
            </a:r>
            <a:r>
              <a:rPr dirty="0" err="1"/>
              <a:t>ce</a:t>
            </a:r>
            <a:r>
              <a:rPr dirty="0"/>
              <a:t> code aux </a:t>
            </a:r>
            <a:r>
              <a:rPr dirty="0" err="1"/>
              <a:t>administrateurs</a:t>
            </a:r>
            <a:r>
              <a:rPr dirty="0"/>
              <a:t> sur Discord, </a:t>
            </a:r>
            <a:r>
              <a:rPr dirty="0" err="1"/>
              <a:t>ce</a:t>
            </a:r>
            <a:r>
              <a:rPr dirty="0"/>
              <a:t> qui </a:t>
            </a:r>
            <a:r>
              <a:rPr dirty="0" err="1"/>
              <a:t>leur</a:t>
            </a:r>
            <a:r>
              <a:rPr dirty="0"/>
              <a:t> </a:t>
            </a:r>
            <a:r>
              <a:rPr dirty="0" err="1"/>
              <a:t>permet</a:t>
            </a:r>
            <a:r>
              <a:rPr dirty="0"/>
              <a:t> de </a:t>
            </a:r>
            <a:r>
              <a:rPr dirty="0" err="1"/>
              <a:t>retrouver</a:t>
            </a:r>
            <a:r>
              <a:rPr dirty="0"/>
              <a:t> la </a:t>
            </a:r>
            <a:r>
              <a:rPr dirty="0" err="1"/>
              <a:t>commande</a:t>
            </a:r>
            <a:r>
              <a:rPr dirty="0"/>
              <a:t> et de </a:t>
            </a:r>
            <a:r>
              <a:rPr dirty="0" err="1"/>
              <a:t>livrer</a:t>
            </a:r>
            <a:r>
              <a:rPr dirty="0"/>
              <a:t> les </a:t>
            </a:r>
            <a:r>
              <a:rPr dirty="0" err="1"/>
              <a:t>objets</a:t>
            </a:r>
            <a:r>
              <a:rPr dirty="0"/>
              <a:t> </a:t>
            </a:r>
            <a:r>
              <a:rPr dirty="0" err="1"/>
              <a:t>directement</a:t>
            </a:r>
            <a:r>
              <a:rPr dirty="0"/>
              <a:t> </a:t>
            </a:r>
            <a:r>
              <a:rPr dirty="0" err="1"/>
              <a:t>en</a:t>
            </a:r>
            <a:r>
              <a:rPr dirty="0"/>
              <a:t> jeu.</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validation </a:t>
            </a:r>
            <a:r>
              <a:rPr dirty="0" err="1"/>
              <a:t>est</a:t>
            </a:r>
            <a:r>
              <a:rPr dirty="0"/>
              <a:t> </a:t>
            </a:r>
            <a:r>
              <a:rPr dirty="0" err="1"/>
              <a:t>faite</a:t>
            </a:r>
            <a:r>
              <a:rPr dirty="0"/>
              <a:t> à deux </a:t>
            </a:r>
            <a:r>
              <a:rPr dirty="0" err="1"/>
              <a:t>niveaux</a:t>
            </a:r>
            <a:r>
              <a:rPr dirty="0"/>
              <a:t>. </a:t>
            </a:r>
            <a:r>
              <a:rPr dirty="0" err="1"/>
              <a:t>Côté</a:t>
            </a:r>
            <a:r>
              <a:rPr dirty="0"/>
              <a:t> client, les champs </a:t>
            </a:r>
            <a:r>
              <a:rPr dirty="0" err="1"/>
              <a:t>utilisent</a:t>
            </a:r>
            <a:r>
              <a:rPr dirty="0"/>
              <a:t> les types HTML5 </a:t>
            </a:r>
            <a:r>
              <a:rPr dirty="0" err="1"/>
              <a:t>appropriés</a:t>
            </a:r>
            <a:r>
              <a:rPr dirty="0"/>
              <a:t>. </a:t>
            </a:r>
            <a:r>
              <a:rPr dirty="0" err="1"/>
              <a:t>Côté</a:t>
            </a:r>
            <a:r>
              <a:rPr dirty="0"/>
              <a:t> </a:t>
            </a:r>
            <a:r>
              <a:rPr dirty="0" err="1"/>
              <a:t>serveur</a:t>
            </a:r>
            <a:r>
              <a:rPr dirty="0"/>
              <a:t>, </a:t>
            </a:r>
            <a:r>
              <a:rPr dirty="0" err="1"/>
              <a:t>mon</a:t>
            </a:r>
            <a:r>
              <a:rPr dirty="0"/>
              <a:t> </a:t>
            </a:r>
            <a:r>
              <a:rPr dirty="0" err="1"/>
              <a:t>formulaire</a:t>
            </a:r>
            <a:r>
              <a:rPr dirty="0"/>
              <a:t> </a:t>
            </a:r>
            <a:r>
              <a:rPr dirty="0" err="1"/>
              <a:t>RegistrationFormType</a:t>
            </a:r>
            <a:r>
              <a:rPr dirty="0"/>
              <a:t> </a:t>
            </a:r>
            <a:r>
              <a:rPr dirty="0" err="1"/>
              <a:t>porte</a:t>
            </a:r>
            <a:r>
              <a:rPr dirty="0"/>
              <a:t> des </a:t>
            </a:r>
            <a:r>
              <a:rPr dirty="0" err="1"/>
              <a:t>contraintes</a:t>
            </a:r>
            <a:r>
              <a:rPr dirty="0"/>
              <a:t> Symfony : </a:t>
            </a:r>
            <a:r>
              <a:rPr dirty="0" err="1"/>
              <a:t>NotBlank</a:t>
            </a:r>
            <a:r>
              <a:rPr dirty="0"/>
              <a:t> sur </a:t>
            </a:r>
            <a:r>
              <a:rPr dirty="0" err="1"/>
              <a:t>tous</a:t>
            </a:r>
            <a:r>
              <a:rPr dirty="0"/>
              <a:t> les champs </a:t>
            </a:r>
            <a:r>
              <a:rPr dirty="0" err="1"/>
              <a:t>obligatoires</a:t>
            </a:r>
            <a:r>
              <a:rPr dirty="0"/>
              <a:t>, Length pour imposer un mot de passe </a:t>
            </a:r>
            <a:r>
              <a:rPr dirty="0" err="1"/>
              <a:t>d'au</a:t>
            </a:r>
            <a:r>
              <a:rPr dirty="0"/>
              <a:t> </a:t>
            </a:r>
            <a:r>
              <a:rPr dirty="0" err="1"/>
              <a:t>moins</a:t>
            </a:r>
            <a:r>
              <a:rPr dirty="0"/>
              <a:t> 12 </a:t>
            </a:r>
            <a:r>
              <a:rPr dirty="0" err="1"/>
              <a:t>caractères</a:t>
            </a:r>
            <a:r>
              <a:rPr lang="fr-FR" dirty="0"/>
              <a:t> Si je soumets un formulaire invalide, Symfony réaffiche le formulaire avec un message d'erreur clair pour chaque champ.</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L'interface repose sur Bootstrap 5, donc responsive par défaut grâce à sa grille et ses composants adaptatifs. Je vais ouvrir les DevTools du navigateur, passer en vue mobile 375 pixels, et naviguer dans l'application — la page d'accueil, la boutique et le panier — pour montrer que tout reste utilisable sur petit écran.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Sixième partie, la plus importante pour le jury technique. Je vais être précis et montrer du code réel à chaque étape.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fr-FR" dirty="0"/>
          </a:p>
          <a:p>
            <a:r>
              <a:rPr lang="fr-FR" dirty="0"/>
              <a:t>Mon application suit l’architecture MVC, c’est-à-dire </a:t>
            </a:r>
            <a:r>
              <a:rPr lang="fr-FR" b="1" dirty="0"/>
              <a:t>Modèle, Vue, Contrôleur</a:t>
            </a:r>
            <a:r>
              <a:rPr lang="fr-FR" dirty="0"/>
              <a:t>.</a:t>
            </a:r>
          </a:p>
          <a:p>
            <a:r>
              <a:rPr lang="fr-FR" dirty="0"/>
              <a:t>Le </a:t>
            </a:r>
            <a:r>
              <a:rPr lang="fr-FR" b="1" dirty="0"/>
              <a:t>modèle</a:t>
            </a:r>
            <a:r>
              <a:rPr lang="fr-FR" dirty="0"/>
              <a:t> gère les données de l’application. Il correspond par exemple aux produits, aux utilisateurs ou aux commandes, et il permet de communiquer avec la base de données.</a:t>
            </a:r>
          </a:p>
          <a:p>
            <a:r>
              <a:rPr lang="fr-FR" dirty="0"/>
              <a:t>Le </a:t>
            </a:r>
            <a:r>
              <a:rPr lang="fr-FR" b="1" dirty="0"/>
              <a:t>contrôleur</a:t>
            </a:r>
            <a:r>
              <a:rPr lang="fr-FR" dirty="0"/>
              <a:t> reçoit l’action de l’utilisateur. Il récupère les informations nécessaires dans le modèle, puis choisit la page à afficher.</a:t>
            </a:r>
          </a:p>
          <a:p>
            <a:r>
              <a:rPr lang="fr-FR" dirty="0"/>
              <a:t>La </a:t>
            </a:r>
            <a:r>
              <a:rPr lang="fr-FR" b="1" dirty="0"/>
              <a:t>vue</a:t>
            </a:r>
            <a:r>
              <a:rPr lang="fr-FR" dirty="0"/>
              <a:t>, créée avec </a:t>
            </a:r>
            <a:r>
              <a:rPr lang="fr-FR" dirty="0" err="1"/>
              <a:t>Twig</a:t>
            </a:r>
            <a:r>
              <a:rPr lang="fr-FR" dirty="0"/>
              <a:t>, s’occupe uniquement de l’affichage. Elle reçoit les données du contrôleur et génère la page HTML visible par l’utilisateur.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Dans mon exemple, </a:t>
            </a:r>
            <a:r>
              <a:rPr lang="fr-FR" dirty="0" err="1"/>
              <a:t>ProductController</a:t>
            </a:r>
            <a:r>
              <a:rPr lang="fr-FR" dirty="0"/>
              <a:t> récupère les informations d’un produit, ainsi que ses types et ses qualités, puis les envoie au </a:t>
            </a:r>
            <a:r>
              <a:rPr lang="fr-FR" dirty="0" err="1"/>
              <a:t>template</a:t>
            </a:r>
            <a:r>
              <a:rPr lang="fr-FR" dirty="0"/>
              <a:t> </a:t>
            </a:r>
            <a:r>
              <a:rPr lang="fr-FR" dirty="0" err="1"/>
              <a:t>product</a:t>
            </a:r>
            <a:r>
              <a:rPr lang="fr-FR" dirty="0"/>
              <a:t>/</a:t>
            </a:r>
            <a:r>
              <a:rPr lang="fr-FR" dirty="0" err="1"/>
              <a:t>show.html.twig</a:t>
            </a:r>
            <a:r>
              <a:rPr lang="fr-FR" dirty="0"/>
              <a:t> pour afficher la fiche produit. J’ai choisi l’architecture MVC parce qu’elle permet de </a:t>
            </a:r>
            <a:r>
              <a:rPr lang="fr-FR" b="1" dirty="0"/>
              <a:t>séparer clairement les données, la logique et l’affichage</a:t>
            </a:r>
            <a:r>
              <a:rPr lang="fr-FR" dirty="0"/>
              <a:t>. Le code est mieux organisé, plus facile à comprendre, et à maintenir. Ca permet aussi de travailler sur une partie de l’application sans devoir modifier tout le reste.</a:t>
            </a:r>
          </a:p>
          <a:p>
            <a:endParaRPr lang="fr-F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Voici</a:t>
            </a:r>
            <a:r>
              <a:rPr dirty="0"/>
              <a:t> </a:t>
            </a:r>
            <a:r>
              <a:rPr dirty="0" err="1"/>
              <a:t>mon</a:t>
            </a:r>
            <a:r>
              <a:rPr dirty="0"/>
              <a:t> </a:t>
            </a:r>
            <a:r>
              <a:rPr dirty="0" err="1"/>
              <a:t>entité</a:t>
            </a:r>
            <a:r>
              <a:rPr dirty="0"/>
              <a:t> User. </a:t>
            </a:r>
            <a:r>
              <a:rPr dirty="0" err="1"/>
              <a:t>L'attribut</a:t>
            </a:r>
            <a:r>
              <a:rPr dirty="0"/>
              <a:t> #[ORM\Column] </a:t>
            </a:r>
            <a:r>
              <a:rPr dirty="0" err="1"/>
              <a:t>indique</a:t>
            </a:r>
            <a:r>
              <a:rPr dirty="0"/>
              <a:t> à Doctrine que la </a:t>
            </a:r>
            <a:r>
              <a:rPr dirty="0" err="1"/>
              <a:t>propriété</a:t>
            </a:r>
            <a:r>
              <a:rPr dirty="0"/>
              <a:t> $email correspond à </a:t>
            </a:r>
            <a:r>
              <a:rPr dirty="0" err="1"/>
              <a:t>une</a:t>
            </a:r>
            <a:r>
              <a:rPr dirty="0"/>
              <a:t> </a:t>
            </a:r>
            <a:r>
              <a:rPr dirty="0" err="1"/>
              <a:t>colonne</a:t>
            </a:r>
            <a:r>
              <a:rPr dirty="0"/>
              <a:t> SQL. La relation #[ORM\OneToMany] </a:t>
            </a:r>
            <a:r>
              <a:rPr dirty="0" err="1"/>
              <a:t>vers</a:t>
            </a:r>
            <a:r>
              <a:rPr dirty="0"/>
              <a:t> Order </a:t>
            </a:r>
            <a:r>
              <a:rPr dirty="0" err="1"/>
              <a:t>traduit</a:t>
            </a:r>
            <a:r>
              <a:rPr dirty="0"/>
              <a:t> </a:t>
            </a:r>
            <a:r>
              <a:rPr dirty="0" err="1"/>
              <a:t>en</a:t>
            </a:r>
            <a:r>
              <a:rPr dirty="0"/>
              <a:t> base </a:t>
            </a:r>
            <a:r>
              <a:rPr dirty="0" err="1"/>
              <a:t>une</a:t>
            </a:r>
            <a:r>
              <a:rPr dirty="0"/>
              <a:t> </a:t>
            </a:r>
            <a:r>
              <a:rPr dirty="0" err="1"/>
              <a:t>clé</a:t>
            </a:r>
            <a:r>
              <a:rPr dirty="0"/>
              <a:t> </a:t>
            </a:r>
            <a:r>
              <a:rPr dirty="0" err="1"/>
              <a:t>étrangère</a:t>
            </a:r>
            <a:r>
              <a:rPr dirty="0"/>
              <a:t> </a:t>
            </a:r>
            <a:r>
              <a:rPr dirty="0" err="1"/>
              <a:t>user_id</a:t>
            </a:r>
            <a:r>
              <a:rPr dirty="0"/>
              <a:t> sur la table order, tout </a:t>
            </a:r>
            <a:r>
              <a:rPr dirty="0" err="1"/>
              <a:t>en</a:t>
            </a:r>
            <a:r>
              <a:rPr dirty="0"/>
              <a:t> me </a:t>
            </a:r>
            <a:r>
              <a:rPr dirty="0" err="1"/>
              <a:t>donnant</a:t>
            </a:r>
            <a:r>
              <a:rPr dirty="0"/>
              <a:t> </a:t>
            </a:r>
            <a:r>
              <a:rPr dirty="0" err="1"/>
              <a:t>côté</a:t>
            </a:r>
            <a:r>
              <a:rPr dirty="0"/>
              <a:t> PHP </a:t>
            </a:r>
            <a:r>
              <a:rPr dirty="0" err="1"/>
              <a:t>une</a:t>
            </a:r>
            <a:r>
              <a:rPr dirty="0"/>
              <a:t> Collection </a:t>
            </a:r>
            <a:r>
              <a:rPr dirty="0" err="1"/>
              <a:t>d'objets</a:t>
            </a:r>
            <a:r>
              <a:rPr dirty="0"/>
              <a:t> Order navigable </a:t>
            </a:r>
            <a:r>
              <a:rPr dirty="0" err="1"/>
              <a:t>directement</a:t>
            </a:r>
            <a:r>
              <a:rPr dirty="0"/>
              <a:t> </a:t>
            </a:r>
            <a:r>
              <a:rPr dirty="0" err="1"/>
              <a:t>depuis</a:t>
            </a:r>
            <a:r>
              <a:rPr dirty="0"/>
              <a:t> </a:t>
            </a:r>
            <a:r>
              <a:rPr dirty="0" err="1"/>
              <a:t>l'utilisateur</a:t>
            </a:r>
            <a:r>
              <a:rPr dirty="0"/>
              <a:t>. </a:t>
            </a:r>
            <a:r>
              <a:rPr dirty="0" err="1"/>
              <a:t>Quand</a:t>
            </a:r>
            <a:r>
              <a:rPr dirty="0"/>
              <a:t> je </a:t>
            </a:r>
            <a:r>
              <a:rPr dirty="0" err="1"/>
              <a:t>modifie</a:t>
            </a:r>
            <a:r>
              <a:rPr dirty="0"/>
              <a:t> </a:t>
            </a:r>
            <a:r>
              <a:rPr dirty="0" err="1"/>
              <a:t>une</a:t>
            </a:r>
            <a:r>
              <a:rPr dirty="0"/>
              <a:t> </a:t>
            </a:r>
            <a:r>
              <a:rPr dirty="0" err="1"/>
              <a:t>entité</a:t>
            </a:r>
            <a:r>
              <a:rPr dirty="0"/>
              <a:t>, la </a:t>
            </a:r>
            <a:r>
              <a:rPr dirty="0" err="1"/>
              <a:t>commande</a:t>
            </a:r>
            <a:r>
              <a:rPr dirty="0"/>
              <a:t> </a:t>
            </a:r>
            <a:r>
              <a:rPr dirty="0" err="1"/>
              <a:t>make:migration</a:t>
            </a:r>
            <a:r>
              <a:rPr dirty="0"/>
              <a:t> compare le mapping Doctrine au </a:t>
            </a:r>
            <a:r>
              <a:rPr dirty="0" err="1"/>
              <a:t>schéma</a:t>
            </a:r>
            <a:r>
              <a:rPr dirty="0"/>
              <a:t> </a:t>
            </a:r>
            <a:r>
              <a:rPr dirty="0" err="1"/>
              <a:t>réel</a:t>
            </a:r>
            <a:r>
              <a:rPr dirty="0"/>
              <a:t> de la base et </a:t>
            </a:r>
            <a:r>
              <a:rPr dirty="0" err="1"/>
              <a:t>génère</a:t>
            </a:r>
            <a:r>
              <a:rPr dirty="0"/>
              <a:t> </a:t>
            </a:r>
            <a:r>
              <a:rPr dirty="0" err="1"/>
              <a:t>automatiquement</a:t>
            </a:r>
            <a:r>
              <a:rPr dirty="0"/>
              <a:t> le </a:t>
            </a:r>
            <a:r>
              <a:rPr dirty="0" err="1"/>
              <a:t>fichier</a:t>
            </a:r>
            <a:r>
              <a:rPr dirty="0"/>
              <a:t> de migration avec les </a:t>
            </a:r>
            <a:r>
              <a:rPr dirty="0" err="1"/>
              <a:t>requêtes</a:t>
            </a:r>
            <a:r>
              <a:rPr dirty="0"/>
              <a:t> CREATE TABLE </a:t>
            </a:r>
            <a:r>
              <a:rPr dirty="0" err="1"/>
              <a:t>ou</a:t>
            </a:r>
            <a:r>
              <a:rPr dirty="0"/>
              <a:t> ALTER TABLE </a:t>
            </a:r>
            <a:r>
              <a:rPr dirty="0" err="1"/>
              <a:t>nécessaires</a:t>
            </a:r>
            <a:r>
              <a:rPr dirty="0"/>
              <a:t> — je </a:t>
            </a:r>
            <a:r>
              <a:rPr dirty="0" err="1"/>
              <a:t>n'écris</a:t>
            </a:r>
            <a:r>
              <a:rPr dirty="0"/>
              <a:t> jamais le SQL de structure à la main.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 authentification repose entièrement sur le composant Security de Symfony. Le firewall 'main' utilise le provider app_user_provider, qui charge l'utilisateur via l'entité User en utilisant l'email comme identifiant. Le form_login pointe vers la route app_login pour l'affichage et la vérification, avec enable_csrf à true. Le hash du mot de passe utilise l'algorithme 'auto', ce qui laisse Symfony choisir le meilleur algorithme disponible — bcrypt ou argon2 — je ne stocke jamais de mot de passe en clair.</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Côté</a:t>
            </a:r>
            <a:r>
              <a:rPr dirty="0"/>
              <a:t> </a:t>
            </a:r>
            <a:r>
              <a:rPr dirty="0" err="1"/>
              <a:t>autorisation</a:t>
            </a:r>
            <a:r>
              <a:rPr dirty="0"/>
              <a:t>, </a:t>
            </a:r>
            <a:r>
              <a:rPr dirty="0" err="1"/>
              <a:t>j'ai</a:t>
            </a:r>
            <a:r>
              <a:rPr dirty="0"/>
              <a:t> deux </a:t>
            </a:r>
            <a:r>
              <a:rPr dirty="0" err="1"/>
              <a:t>rôles</a:t>
            </a:r>
            <a:r>
              <a:rPr dirty="0"/>
              <a:t> : ROLE_USER, </a:t>
            </a:r>
            <a:r>
              <a:rPr dirty="0" err="1"/>
              <a:t>attribué</a:t>
            </a:r>
            <a:r>
              <a:rPr dirty="0"/>
              <a:t> par </a:t>
            </a:r>
            <a:r>
              <a:rPr dirty="0" err="1"/>
              <a:t>défaut</a:t>
            </a:r>
            <a:r>
              <a:rPr dirty="0"/>
              <a:t> à tout </a:t>
            </a:r>
            <a:r>
              <a:rPr dirty="0" err="1"/>
              <a:t>utilisateur</a:t>
            </a:r>
            <a:r>
              <a:rPr dirty="0"/>
              <a:t> </a:t>
            </a:r>
            <a:r>
              <a:rPr dirty="0" err="1"/>
              <a:t>connecté</a:t>
            </a:r>
            <a:r>
              <a:rPr dirty="0"/>
              <a:t> via </a:t>
            </a:r>
            <a:r>
              <a:rPr dirty="0" err="1"/>
              <a:t>getRoles</a:t>
            </a:r>
            <a:r>
              <a:rPr dirty="0"/>
              <a:t>(), et ROLE_ADMIN pour les </a:t>
            </a:r>
            <a:r>
              <a:rPr dirty="0" err="1"/>
              <a:t>administrateurs</a:t>
            </a:r>
            <a:r>
              <a:rPr dirty="0"/>
              <a:t>. La </a:t>
            </a:r>
            <a:r>
              <a:rPr dirty="0" err="1"/>
              <a:t>règle</a:t>
            </a:r>
            <a:r>
              <a:rPr dirty="0"/>
              <a:t> </a:t>
            </a:r>
            <a:r>
              <a:rPr dirty="0" err="1"/>
              <a:t>access_control</a:t>
            </a:r>
            <a:r>
              <a:rPr dirty="0"/>
              <a:t> dans </a:t>
            </a:r>
            <a:r>
              <a:rPr dirty="0" err="1"/>
              <a:t>security.yaml</a:t>
            </a:r>
            <a:r>
              <a:rPr dirty="0"/>
              <a:t> </a:t>
            </a:r>
            <a:r>
              <a:rPr dirty="0" err="1"/>
              <a:t>protège</a:t>
            </a:r>
            <a:r>
              <a:rPr dirty="0"/>
              <a:t> </a:t>
            </a:r>
            <a:r>
              <a:rPr dirty="0" err="1"/>
              <a:t>globalement</a:t>
            </a:r>
            <a:r>
              <a:rPr dirty="0"/>
              <a:t> tout le </a:t>
            </a:r>
            <a:r>
              <a:rPr dirty="0" err="1"/>
              <a:t>préfixe</a:t>
            </a:r>
            <a:r>
              <a:rPr dirty="0"/>
              <a:t> /admin. </a:t>
            </a:r>
            <a:r>
              <a:rPr dirty="0" err="1"/>
              <a:t>En</a:t>
            </a:r>
            <a:r>
              <a:rPr dirty="0"/>
              <a:t> </a:t>
            </a:r>
            <a:r>
              <a:rPr dirty="0" err="1"/>
              <a:t>complément</a:t>
            </a:r>
            <a:r>
              <a:rPr dirty="0"/>
              <a:t>, </a:t>
            </a:r>
            <a:r>
              <a:rPr dirty="0" err="1"/>
              <a:t>j'utilise</a:t>
            </a:r>
            <a:r>
              <a:rPr dirty="0"/>
              <a:t> </a:t>
            </a:r>
            <a:r>
              <a:rPr dirty="0" err="1"/>
              <a:t>l'attribut</a:t>
            </a:r>
            <a:r>
              <a:rPr dirty="0"/>
              <a:t> #[IsGranted] </a:t>
            </a:r>
            <a:r>
              <a:rPr dirty="0" err="1"/>
              <a:t>directement</a:t>
            </a:r>
            <a:r>
              <a:rPr dirty="0"/>
              <a:t> sur les </a:t>
            </a:r>
            <a:r>
              <a:rPr dirty="0" err="1"/>
              <a:t>contrôleurs</a:t>
            </a:r>
            <a:r>
              <a:rPr dirty="0"/>
              <a:t> : </a:t>
            </a:r>
            <a:r>
              <a:rPr dirty="0" err="1"/>
              <a:t>AdminController</a:t>
            </a:r>
            <a:r>
              <a:rPr dirty="0"/>
              <a:t>, </a:t>
            </a:r>
            <a:r>
              <a:rPr dirty="0" err="1"/>
              <a:t>AdminProductController</a:t>
            </a:r>
            <a:r>
              <a:rPr dirty="0"/>
              <a:t> et </a:t>
            </a:r>
            <a:r>
              <a:rPr dirty="0" err="1"/>
              <a:t>AdminEventController</a:t>
            </a:r>
            <a:r>
              <a:rPr dirty="0"/>
              <a:t> exigent ROLE_ADMIN, </a:t>
            </a:r>
            <a:r>
              <a:rPr dirty="0" err="1"/>
              <a:t>tandis</a:t>
            </a:r>
            <a:r>
              <a:rPr dirty="0"/>
              <a:t> que </a:t>
            </a:r>
            <a:r>
              <a:rPr dirty="0" err="1"/>
              <a:t>CartController</a:t>
            </a:r>
            <a:r>
              <a:rPr dirty="0"/>
              <a:t> et </a:t>
            </a:r>
            <a:r>
              <a:rPr dirty="0" err="1"/>
              <a:t>CheckoutController</a:t>
            </a:r>
            <a:r>
              <a:rPr dirty="0"/>
              <a:t> exigent ROLE_USER pour </a:t>
            </a:r>
            <a:r>
              <a:rPr dirty="0" err="1"/>
              <a:t>interdire</a:t>
            </a:r>
            <a:r>
              <a:rPr dirty="0"/>
              <a:t> </a:t>
            </a:r>
            <a:r>
              <a:rPr dirty="0" err="1"/>
              <a:t>l'accès</a:t>
            </a:r>
            <a:r>
              <a:rPr dirty="0"/>
              <a:t> au panier et au </a:t>
            </a:r>
            <a:r>
              <a:rPr dirty="0" err="1"/>
              <a:t>paiement</a:t>
            </a:r>
            <a:r>
              <a:rPr dirty="0"/>
              <a:t> à un </a:t>
            </a:r>
            <a:r>
              <a:rPr dirty="0" err="1"/>
              <a:t>visiteur</a:t>
            </a:r>
            <a:r>
              <a:rPr dirty="0"/>
              <a:t> non </a:t>
            </a:r>
            <a:r>
              <a:rPr dirty="0" err="1"/>
              <a:t>connecté</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répondre à la recommandation CNIL d'un mot de passe robuste, j'ai ajouté sur le champ plainPassword de mon RegistrationFormType une contrainte Length imposant 12 caractères minimum, et une contrainte Regex avec une expression régulière qui vérifie la présence d'au moins une majuscule, un chiffre et un caractère spécial. Si le mot de passe ne respecte pas ces règles, Symfony bloque la soumission et affiche le message d'erreur correspondant.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Sur ma page product/</a:t>
            </a:r>
            <a:r>
              <a:rPr dirty="0" err="1"/>
              <a:t>show.html.twig</a:t>
            </a:r>
            <a:r>
              <a:rPr dirty="0"/>
              <a:t>, </a:t>
            </a:r>
            <a:r>
              <a:rPr dirty="0" err="1"/>
              <a:t>j'affiche</a:t>
            </a:r>
            <a:r>
              <a:rPr dirty="0"/>
              <a:t> par </a:t>
            </a:r>
            <a:r>
              <a:rPr dirty="0" err="1"/>
              <a:t>exemple</a:t>
            </a:r>
            <a:r>
              <a:rPr dirty="0"/>
              <a:t> </a:t>
            </a:r>
            <a:r>
              <a:rPr dirty="0" err="1"/>
              <a:t>product.description</a:t>
            </a:r>
            <a:r>
              <a:rPr dirty="0"/>
              <a:t> avec la </a:t>
            </a:r>
            <a:r>
              <a:rPr dirty="0" err="1"/>
              <a:t>syntaxe</a:t>
            </a:r>
            <a:r>
              <a:rPr dirty="0"/>
              <a:t> {{ }}. Twig </a:t>
            </a:r>
            <a:r>
              <a:rPr dirty="0" err="1"/>
              <a:t>échappe</a:t>
            </a:r>
            <a:r>
              <a:rPr dirty="0"/>
              <a:t> </a:t>
            </a:r>
            <a:r>
              <a:rPr dirty="0" err="1"/>
              <a:t>automatiquement</a:t>
            </a:r>
            <a:r>
              <a:rPr dirty="0"/>
              <a:t> tout </a:t>
            </a:r>
            <a:r>
              <a:rPr dirty="0" err="1"/>
              <a:t>ce</a:t>
            </a:r>
            <a:r>
              <a:rPr dirty="0"/>
              <a:t> qui </a:t>
            </a:r>
            <a:r>
              <a:rPr dirty="0" err="1"/>
              <a:t>est</a:t>
            </a:r>
            <a:r>
              <a:rPr dirty="0"/>
              <a:t> </a:t>
            </a:r>
            <a:r>
              <a:rPr dirty="0" err="1"/>
              <a:t>affiché</a:t>
            </a:r>
            <a:r>
              <a:rPr dirty="0"/>
              <a:t> de </a:t>
            </a:r>
            <a:r>
              <a:rPr dirty="0" err="1"/>
              <a:t>cette</a:t>
            </a:r>
            <a:r>
              <a:rPr dirty="0"/>
              <a:t> manière : </a:t>
            </a:r>
            <a:r>
              <a:rPr dirty="0" err="1"/>
              <a:t>si</a:t>
            </a:r>
            <a:r>
              <a:rPr dirty="0"/>
              <a:t> un </a:t>
            </a:r>
            <a:r>
              <a:rPr dirty="0" err="1"/>
              <a:t>produit</a:t>
            </a:r>
            <a:r>
              <a:rPr dirty="0"/>
              <a:t> </a:t>
            </a:r>
            <a:r>
              <a:rPr dirty="0" err="1"/>
              <a:t>contenait</a:t>
            </a:r>
            <a:r>
              <a:rPr dirty="0"/>
              <a:t> du code HTML </a:t>
            </a:r>
            <a:r>
              <a:rPr dirty="0" err="1"/>
              <a:t>ou</a:t>
            </a:r>
            <a:r>
              <a:rPr dirty="0"/>
              <a:t> JavaScript </a:t>
            </a:r>
            <a:r>
              <a:rPr dirty="0" err="1"/>
              <a:t>injecté</a:t>
            </a:r>
            <a:r>
              <a:rPr dirty="0"/>
              <a:t> dans </a:t>
            </a:r>
            <a:r>
              <a:rPr dirty="0" err="1"/>
              <a:t>sa</a:t>
            </a:r>
            <a:r>
              <a:rPr dirty="0"/>
              <a:t> description, il </a:t>
            </a:r>
            <a:r>
              <a:rPr dirty="0" err="1"/>
              <a:t>s'afficherait</a:t>
            </a:r>
            <a:r>
              <a:rPr dirty="0"/>
              <a:t> </a:t>
            </a:r>
            <a:r>
              <a:rPr dirty="0" err="1"/>
              <a:t>comme</a:t>
            </a:r>
            <a:r>
              <a:rPr dirty="0"/>
              <a:t> du </a:t>
            </a:r>
            <a:r>
              <a:rPr dirty="0" err="1"/>
              <a:t>texte</a:t>
            </a:r>
            <a:r>
              <a:rPr dirty="0"/>
              <a:t> brut et ne </a:t>
            </a:r>
            <a:r>
              <a:rPr dirty="0" err="1"/>
              <a:t>serait</a:t>
            </a:r>
            <a:r>
              <a:rPr dirty="0"/>
              <a:t> jamais </a:t>
            </a:r>
            <a:r>
              <a:rPr dirty="0" err="1"/>
              <a:t>exécuté</a:t>
            </a:r>
            <a:r>
              <a:rPr dirty="0"/>
              <a:t> par le </a:t>
            </a:r>
            <a:r>
              <a:rPr dirty="0" err="1"/>
              <a:t>navigateur</a:t>
            </a:r>
            <a:r>
              <a:rPr dirty="0"/>
              <a:t>. Je </a:t>
            </a:r>
            <a:r>
              <a:rPr dirty="0" err="1"/>
              <a:t>n'utilise</a:t>
            </a:r>
            <a:r>
              <a:rPr dirty="0"/>
              <a:t> jamais le </a:t>
            </a:r>
            <a:r>
              <a:rPr dirty="0" err="1"/>
              <a:t>filtre</a:t>
            </a:r>
            <a:r>
              <a:rPr dirty="0"/>
              <a:t> |raw sur du </a:t>
            </a:r>
            <a:r>
              <a:rPr dirty="0" err="1"/>
              <a:t>contenu</a:t>
            </a:r>
            <a:r>
              <a:rPr dirty="0"/>
              <a:t> </a:t>
            </a:r>
            <a:r>
              <a:rPr dirty="0" err="1"/>
              <a:t>provenant</a:t>
            </a:r>
            <a:r>
              <a:rPr dirty="0"/>
              <a:t> des </a:t>
            </a:r>
            <a:r>
              <a:rPr dirty="0" err="1"/>
              <a:t>utilisateurs</a:t>
            </a:r>
            <a:r>
              <a:rPr dirty="0"/>
              <a:t> </a:t>
            </a:r>
            <a:r>
              <a:rPr dirty="0" err="1"/>
              <a:t>ou</a:t>
            </a:r>
            <a:r>
              <a:rPr dirty="0"/>
              <a:t> de la base, </a:t>
            </a:r>
            <a:r>
              <a:rPr dirty="0" err="1"/>
              <a:t>ce</a:t>
            </a:r>
            <a:r>
              <a:rPr dirty="0"/>
              <a:t> qui </a:t>
            </a:r>
            <a:r>
              <a:rPr dirty="0" err="1"/>
              <a:t>évite</a:t>
            </a:r>
            <a:r>
              <a:rPr dirty="0"/>
              <a:t> </a:t>
            </a:r>
            <a:r>
              <a:rPr dirty="0" err="1"/>
              <a:t>toute</a:t>
            </a:r>
            <a:r>
              <a:rPr dirty="0"/>
              <a:t> faille XSS </a:t>
            </a:r>
            <a:r>
              <a:rPr dirty="0" err="1"/>
              <a:t>stockée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Dans ProductController, l'identifiant de catégorie affiché dans la boutique vient directement de l'URL, donc d'une entrée utilisateur. Je le passe à $categoryRepository-&gt;find() et $productRepository-&gt;findBy(), des méthodes Doctrine qui génèrent en interne une requête SQL préparée avec un paramètre lié, jamais une concaténation de chaîne. Pour des requêtes plus complexes, j'utilise le QueryBuilder avec setParameter(), ce qui garantit que toute valeur utilisateur est systématiquement échappée par le driver, et empêche toute injection SQL.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Symfony génère automatiquement un token CSRF pour chaque formulaire créé avec le composant Form, et je le fais aussi manuellement pour mes actions sensibles, comme ici la suppression d'un produit en admin avec csrf_token('delete_product_' suivi de l'id). Mon formulaire de connexion active explicitement enable_csrf dans security.yaml. À la soumission, Symfony vérifie que le token correspond, ce qui empêche un site malveillant de déclencher une suppression ou une action sensible à l'insu de l'utilisateur connecté.</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illustrer une fonctionnalité complète, j’ai choisi le parcours de paiement, le cœur métier de l’application. Tout commence dans CartController, où l’ajout au panier est protégé par un token CSRF et enregistré via Doctrine. Quand l’utilisateur lance le paiement, la route checkout_start construit une session Stripe Checkout : je parcours les lignes du panier pour construire les line_items, avec le nom du produit, son prix unitaire et sa quantité, puis je crée la session en mode 'payment' avant de rediriger l’utilisateur vers la page hébergée par Stripe. Une fois le paiement effectué, Stripe redirige vers checkout_success avec l’identifiant de session. Je vérifie alors que le paiement est bien confirmé via le statut payment_status, avant de laisser Doctrine persister la commande et ses lignes. Le client est enfin redirigé vers la page de confirmation Twig, qui affiche son code de commande — que je détaille sur la slide suivante.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la validation du paiement, l’application génère un code de commande avec cette ligne. uniqid avec le préfixe CMD crée un identifiant basé sur le temps et commençant par CMD. substr conserve uniquement les douze premiers caractères afin d’obtenir un code court, puis strtoupper le transforme en majuscules pour améliorer sa lisibilité. Ce code est affiché au client sur la page de confirmation. Le client l’envoie ensuite aux administrateurs sur Discord. Grâce à cette référence, ils peuvent retrouver la commande, vérifier les produits achetés et effectuer la livraison directement dans le jeu. Ce système correspond au fonctionnement actuel de la communauté ; une future évolution pourrait automatiser davantage la livraison ou ajouter le code à un message Discord envoyé par un bot.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Dernière partie : je prends du recul sur mon travail et je termine sur une note positive et proactive.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suis particulièrement fier d'avoir intégré un vrai flux de paiement avec Stripe Checkout, depuis la construction du panier jusqu'à la création de la commande. J'ai aussi réussi à modéliser un système de panier et de commande qui gère des déclinaisons de produits optionnelles, Type et Quality, sans complexifier exagérément le modèle. Enfin, j'ai mis en place une sécurité applicative complète : rôles, protection CSRF, hashing automatique des mots de passe, et une contrainte de robustesse alignée sur les recommandations de la CNIL. [Ajoutez une réussite personnelle supplémentaire.]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difficulté technique a été de gérer proprement les attributs optionnels Type et Quality sur les lignes de panier et de commande, certains produits n'ayant ni type ni qualité. J'ai résolu cela avec des relations ManyToOne nullables et une vérification dans CartController qui demande le type ou la qualité seulement si le produit le requiert (hasType / hasQuality). Une autre difficulté a été de fiabiliser le passage du panier à la commande dans un flux Stripe Checkout hébergé, sans webhook : je vérifie le statut du paiement directement à l'arrivée sur checkout_success avant de créer la commande. [Ajoutez une difficulté personnelle supplémentaire, idéalement non technique ou organisationnelle.]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 j'avais plus de temps, je sécuriserais le paiement avec un webhook Stripe pour ne plus dépendre uniquement du retour navigateur sur checkout_success. Je réactiverais aussi la vérification d'email à l'inscription : le bundle symfonycasts/verify-email-bundle est déjà installé, mais isVerified est aujourd'hui forcé à true par défaut. J'écrirais des tests automatisés avec PHPUnit, déjà présent dans mes dépendances de développement, et je mettrais en place une CI/CD. Enfin, j'aimerais exposer une API REST pour préparer une future application mobile.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Merci de </a:t>
            </a:r>
            <a:r>
              <a:rPr dirty="0" err="1"/>
              <a:t>votre</a:t>
            </a:r>
            <a:r>
              <a:rPr dirty="0"/>
              <a:t> attention, je </a:t>
            </a:r>
            <a:r>
              <a:rPr dirty="0" err="1"/>
              <a:t>suis</a:t>
            </a:r>
            <a:r>
              <a:rPr dirty="0"/>
              <a:t> prêt à </a:t>
            </a:r>
            <a:r>
              <a:rPr dirty="0" err="1"/>
              <a:t>répondre</a:t>
            </a:r>
            <a:r>
              <a:rPr dirty="0"/>
              <a:t> à </a:t>
            </a:r>
            <a:r>
              <a:rPr dirty="0" err="1"/>
              <a:t>vos</a:t>
            </a:r>
            <a:r>
              <a:rPr dirty="0"/>
              <a:t>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8"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811530"/>
            <a:ext cx="10332720" cy="1200329"/>
          </a:xfrm>
          <a:prstGeom prst="rect">
            <a:avLst/>
          </a:prstGeom>
          <a:noFill/>
        </p:spPr>
        <p:txBody>
          <a:bodyPr wrap="square" anchor="t">
            <a:spAutoFit/>
          </a:bodyPr>
          <a:lstStyle/>
          <a:p>
            <a:pPr algn="ctr"/>
            <a:r>
              <a:rPr lang="fr-FR" sz="7200" b="1" i="0" dirty="0">
                <a:solidFill>
                  <a:srgbClr val="F3EEFF"/>
                </a:solidFill>
                <a:latin typeface="Calibri"/>
              </a:rPr>
              <a:t>LES </a:t>
            </a:r>
            <a:r>
              <a:rPr sz="7200" b="1" i="0" dirty="0">
                <a:solidFill>
                  <a:srgbClr val="F3EEFF"/>
                </a:solidFill>
                <a:latin typeface="Calibri"/>
              </a:rPr>
              <a:t>BATARK</a:t>
            </a:r>
          </a:p>
        </p:txBody>
      </p:sp>
      <p:sp>
        <p:nvSpPr>
          <p:cNvPr id="6" name="Rectangle 5"/>
          <p:cNvSpPr/>
          <p:nvPr/>
        </p:nvSpPr>
        <p:spPr>
          <a:xfrm>
            <a:off x="4937760" y="2040890"/>
            <a:ext cx="228600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9640" y="2263140"/>
            <a:ext cx="10332720" cy="640080"/>
          </a:xfrm>
          <a:prstGeom prst="rect">
            <a:avLst/>
          </a:prstGeom>
          <a:noFill/>
        </p:spPr>
        <p:txBody>
          <a:bodyPr wrap="square" anchor="t">
            <a:spAutoFit/>
          </a:bodyPr>
          <a:lstStyle/>
          <a:p>
            <a:pPr algn="ctr"/>
            <a:r>
              <a:rPr sz="2000" b="0" i="1" dirty="0" err="1">
                <a:solidFill>
                  <a:srgbClr val="3DE5E0"/>
                </a:solidFill>
                <a:latin typeface="Calibri"/>
              </a:rPr>
              <a:t>Plateforme</a:t>
            </a:r>
            <a:r>
              <a:rPr sz="2000" b="0" i="1" dirty="0">
                <a:solidFill>
                  <a:srgbClr val="3DE5E0"/>
                </a:solidFill>
                <a:latin typeface="Calibri"/>
              </a:rPr>
              <a:t> </a:t>
            </a:r>
            <a:r>
              <a:rPr sz="2000" b="0" i="1" dirty="0" err="1">
                <a:solidFill>
                  <a:srgbClr val="3DE5E0"/>
                </a:solidFill>
                <a:latin typeface="Calibri"/>
              </a:rPr>
              <a:t>communautaire</a:t>
            </a:r>
            <a:r>
              <a:rPr sz="2000" b="0" i="1" dirty="0">
                <a:solidFill>
                  <a:srgbClr val="3DE5E0"/>
                </a:solidFill>
                <a:latin typeface="Calibri"/>
              </a:rPr>
              <a:t> ARK &amp; boutique e-commerce</a:t>
            </a:r>
          </a:p>
        </p:txBody>
      </p:sp>
      <p:sp>
        <p:nvSpPr>
          <p:cNvPr id="8" name="TextBox 7"/>
          <p:cNvSpPr txBox="1"/>
          <p:nvPr/>
        </p:nvSpPr>
        <p:spPr>
          <a:xfrm>
            <a:off x="929640" y="3097530"/>
            <a:ext cx="10332720" cy="523220"/>
          </a:xfrm>
          <a:prstGeom prst="rect">
            <a:avLst/>
          </a:prstGeom>
          <a:noFill/>
        </p:spPr>
        <p:txBody>
          <a:bodyPr wrap="square" anchor="t">
            <a:spAutoFit/>
          </a:bodyPr>
          <a:lstStyle/>
          <a:p>
            <a:pPr algn="ctr"/>
            <a:r>
              <a:rPr lang="fr-FR" sz="2800" dirty="0">
                <a:solidFill>
                  <a:srgbClr val="B6A6DA"/>
                </a:solidFill>
                <a:latin typeface="Calibri"/>
              </a:rPr>
              <a:t>Antoine </a:t>
            </a:r>
            <a:r>
              <a:rPr lang="fr-FR" sz="2800" dirty="0" err="1">
                <a:solidFill>
                  <a:srgbClr val="B6A6DA"/>
                </a:solidFill>
                <a:latin typeface="Calibri"/>
              </a:rPr>
              <a:t>Ponvienne</a:t>
            </a:r>
            <a:endParaRPr sz="2800" b="0" i="0" dirty="0">
              <a:solidFill>
                <a:srgbClr val="B6A6DA"/>
              </a:solidFill>
              <a:latin typeface="Calibri"/>
            </a:endParaRPr>
          </a:p>
        </p:txBody>
      </p:sp>
      <p:sp>
        <p:nvSpPr>
          <p:cNvPr id="9" name="TextBox 8"/>
          <p:cNvSpPr txBox="1"/>
          <p:nvPr/>
        </p:nvSpPr>
        <p:spPr>
          <a:xfrm>
            <a:off x="1085850" y="3972862"/>
            <a:ext cx="10332720" cy="457200"/>
          </a:xfrm>
          <a:prstGeom prst="rect">
            <a:avLst/>
          </a:prstGeom>
          <a:noFill/>
        </p:spPr>
        <p:txBody>
          <a:bodyPr wrap="square" anchor="t">
            <a:spAutoFit/>
          </a:bodyPr>
          <a:lstStyle/>
          <a:p>
            <a:pPr algn="ctr"/>
            <a:r>
              <a:rPr sz="1400" b="0" i="0" dirty="0" err="1">
                <a:solidFill>
                  <a:srgbClr val="B6A6DA"/>
                </a:solidFill>
                <a:latin typeface="Calibri"/>
              </a:rPr>
              <a:t>Soutenance</a:t>
            </a:r>
            <a:r>
              <a:rPr sz="1400" b="0" i="0" dirty="0">
                <a:solidFill>
                  <a:srgbClr val="B6A6DA"/>
                </a:solidFill>
                <a:latin typeface="Calibri"/>
              </a:rPr>
              <a:t> </a:t>
            </a:r>
            <a:r>
              <a:rPr sz="1400" b="0" i="0" dirty="0" err="1">
                <a:solidFill>
                  <a:srgbClr val="B6A6DA"/>
                </a:solidFill>
                <a:latin typeface="Calibri"/>
              </a:rPr>
              <a:t>Titre</a:t>
            </a:r>
            <a:r>
              <a:rPr sz="1400" b="0" i="0" dirty="0">
                <a:solidFill>
                  <a:srgbClr val="B6A6DA"/>
                </a:solidFill>
                <a:latin typeface="Calibri"/>
              </a:rPr>
              <a:t> </a:t>
            </a:r>
            <a:r>
              <a:rPr sz="1400" b="0" i="0" dirty="0" err="1">
                <a:solidFill>
                  <a:srgbClr val="B6A6DA"/>
                </a:solidFill>
                <a:latin typeface="Calibri"/>
              </a:rPr>
              <a:t>Professionnel</a:t>
            </a:r>
            <a:r>
              <a:rPr sz="1400" b="0" i="0" dirty="0">
                <a:solidFill>
                  <a:srgbClr val="B6A6DA"/>
                </a:solidFill>
                <a:latin typeface="Calibri"/>
              </a:rPr>
              <a:t> — </a:t>
            </a:r>
            <a:r>
              <a:rPr sz="1400" b="0" i="0" dirty="0" err="1">
                <a:solidFill>
                  <a:srgbClr val="B6A6DA"/>
                </a:solidFill>
                <a:latin typeface="Calibri"/>
              </a:rPr>
              <a:t>Développeur</a:t>
            </a:r>
            <a:r>
              <a:rPr sz="1400" b="0" i="0" dirty="0">
                <a:solidFill>
                  <a:srgbClr val="B6A6DA"/>
                </a:solidFill>
                <a:latin typeface="Calibri"/>
              </a:rPr>
              <a:t> Web et Web Mobile</a:t>
            </a:r>
          </a:p>
        </p:txBody>
      </p:sp>
      <p:sp>
        <p:nvSpPr>
          <p:cNvPr id="10" name="TextBox 9"/>
          <p:cNvSpPr txBox="1"/>
          <p:nvPr/>
        </p:nvSpPr>
        <p:spPr>
          <a:xfrm>
            <a:off x="742950" y="4782175"/>
            <a:ext cx="10332720" cy="276999"/>
          </a:xfrm>
          <a:prstGeom prst="rect">
            <a:avLst/>
          </a:prstGeom>
          <a:noFill/>
        </p:spPr>
        <p:txBody>
          <a:bodyPr wrap="square" anchor="t">
            <a:spAutoFit/>
          </a:bodyPr>
          <a:lstStyle/>
          <a:p>
            <a:pPr algn="ctr"/>
            <a:r>
              <a:rPr sz="1200" b="0" i="0" dirty="0">
                <a:solidFill>
                  <a:srgbClr val="B6A6DA"/>
                </a:solidFill>
                <a:latin typeface="Calibri"/>
              </a:rPr>
              <a:t>[</a:t>
            </a:r>
            <a:r>
              <a:rPr lang="fr-FR" sz="1200" b="0" i="0" dirty="0">
                <a:solidFill>
                  <a:srgbClr val="B6A6DA"/>
                </a:solidFill>
                <a:latin typeface="Calibri"/>
              </a:rPr>
              <a:t>16/07/2026</a:t>
            </a:r>
            <a:r>
              <a:rPr sz="1200" b="0" i="0" dirty="0">
                <a:solidFill>
                  <a:srgbClr val="B6A6DA"/>
                </a:solidFill>
                <a:latin typeface="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822960" y="57404"/>
            <a:ext cx="2743200" cy="2011680"/>
          </a:xfrm>
          <a:prstGeom prst="rect">
            <a:avLst/>
          </a:prstGeom>
          <a:noFill/>
        </p:spPr>
        <p:txBody>
          <a:bodyPr wrap="square" anchor="t">
            <a:spAutoFit/>
          </a:bodyPr>
          <a:lstStyle/>
          <a:p>
            <a:pPr algn="l"/>
            <a:r>
              <a:rPr sz="14000" b="1" i="0">
                <a:solidFill>
                  <a:srgbClr val="351C5C"/>
                </a:solidFill>
                <a:latin typeface="Calibri"/>
              </a:rPr>
              <a:t>1</a:t>
            </a:r>
          </a:p>
        </p:txBody>
      </p:sp>
      <p:sp>
        <p:nvSpPr>
          <p:cNvPr id="4" name="TextBox 3"/>
          <p:cNvSpPr txBox="1"/>
          <p:nvPr/>
        </p:nvSpPr>
        <p:spPr>
          <a:xfrm>
            <a:off x="2514600" y="783526"/>
            <a:ext cx="8412480" cy="822960"/>
          </a:xfrm>
          <a:prstGeom prst="rect">
            <a:avLst/>
          </a:prstGeom>
          <a:noFill/>
        </p:spPr>
        <p:txBody>
          <a:bodyPr wrap="square" anchor="t">
            <a:spAutoFit/>
          </a:bodyPr>
          <a:lstStyle/>
          <a:p>
            <a:pPr algn="l"/>
            <a:r>
              <a:rPr sz="3800" b="1" i="0" dirty="0" err="1">
                <a:solidFill>
                  <a:srgbClr val="F3EEFF"/>
                </a:solidFill>
                <a:latin typeface="Calibri"/>
              </a:rPr>
              <a:t>Présentation</a:t>
            </a:r>
            <a:r>
              <a:rPr sz="3800" b="1" i="0" dirty="0">
                <a:solidFill>
                  <a:srgbClr val="F3EEFF"/>
                </a:solidFill>
                <a:latin typeface="Calibri"/>
              </a:rPr>
              <a:t> </a:t>
            </a:r>
            <a:r>
              <a:rPr sz="3800" b="1" i="0" dirty="0" err="1">
                <a:solidFill>
                  <a:srgbClr val="F3EEFF"/>
                </a:solidFill>
                <a:latin typeface="Calibri"/>
              </a:rPr>
              <a:t>personnelle</a:t>
            </a:r>
            <a:endParaRPr sz="3800" b="1" i="0" dirty="0">
              <a:solidFill>
                <a:srgbClr val="F3EEFF"/>
              </a:solidFill>
              <a:latin typeface="Calibri"/>
            </a:endParaRPr>
          </a:p>
        </p:txBody>
      </p:sp>
      <p:sp>
        <p:nvSpPr>
          <p:cNvPr id="5" name="TextBox 4"/>
          <p:cNvSpPr txBox="1"/>
          <p:nvPr/>
        </p:nvSpPr>
        <p:spPr>
          <a:xfrm>
            <a:off x="2534602" y="1529016"/>
            <a:ext cx="8412480" cy="457200"/>
          </a:xfrm>
          <a:prstGeom prst="rect">
            <a:avLst/>
          </a:prstGeom>
          <a:noFill/>
        </p:spPr>
        <p:txBody>
          <a:bodyPr wrap="square" anchor="t">
            <a:spAutoFit/>
          </a:bodyPr>
          <a:lstStyle/>
          <a:p>
            <a:pPr algn="l"/>
            <a:r>
              <a:rPr sz="1600" b="0" i="1">
                <a:solidFill>
                  <a:srgbClr val="3DE5E0"/>
                </a:solidFill>
                <a:latin typeface="Calibri"/>
              </a:rPr>
              <a:t>≈ 3 minutes</a:t>
            </a:r>
          </a:p>
        </p:txBody>
      </p:sp>
      <p:sp>
        <p:nvSpPr>
          <p:cNvPr id="6" name="Rectangle 5"/>
          <p:cNvSpPr/>
          <p:nvPr/>
        </p:nvSpPr>
        <p:spPr>
          <a:xfrm>
            <a:off x="2540317" y="2005786"/>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
        <p:nvSpPr>
          <p:cNvPr id="10" name="TextBox 5">
            <a:extLst>
              <a:ext uri="{FF2B5EF4-FFF2-40B4-BE49-F238E27FC236}">
                <a16:creationId xmlns:a16="http://schemas.microsoft.com/office/drawing/2014/main" id="{76E225B3-DC05-411F-9E99-7AA266911AE0}"/>
              </a:ext>
            </a:extLst>
          </p:cNvPr>
          <p:cNvSpPr txBox="1"/>
          <p:nvPr/>
        </p:nvSpPr>
        <p:spPr>
          <a:xfrm>
            <a:off x="579120" y="2242979"/>
            <a:ext cx="10789920" cy="4846320"/>
          </a:xfrm>
          <a:prstGeom prst="rect">
            <a:avLst/>
          </a:prstGeom>
          <a:noFill/>
        </p:spPr>
        <p:txBody>
          <a:bodyPr wrap="square">
            <a:spAutoFit/>
          </a:bodyPr>
          <a:lstStyle/>
          <a:p>
            <a:pPr>
              <a:spcAft>
                <a:spcPts val="1000"/>
              </a:spcAft>
            </a:pPr>
            <a:r>
              <a:rPr sz="1700" b="1" dirty="0">
                <a:solidFill>
                  <a:srgbClr val="F3EEFF"/>
                </a:solidFill>
                <a:latin typeface="Calibri"/>
              </a:rPr>
              <a:t>▸ [À COMPLÉTER : </a:t>
            </a:r>
            <a:r>
              <a:rPr sz="1700" b="1" dirty="0" err="1">
                <a:solidFill>
                  <a:srgbClr val="F3EEFF"/>
                </a:solidFill>
                <a:latin typeface="Calibri"/>
              </a:rPr>
              <a:t>prénom</a:t>
            </a:r>
            <a:r>
              <a:rPr sz="1700" b="1" dirty="0">
                <a:solidFill>
                  <a:srgbClr val="F3EEFF"/>
                </a:solidFill>
                <a:latin typeface="Calibri"/>
              </a:rPr>
              <a:t>, nom]</a:t>
            </a:r>
          </a:p>
          <a:p>
            <a:pPr>
              <a:spcAft>
                <a:spcPts val="1000"/>
              </a:spcAft>
            </a:pPr>
            <a:r>
              <a:rPr sz="1700" b="1" dirty="0">
                <a:solidFill>
                  <a:srgbClr val="F3EEFF"/>
                </a:solidFill>
                <a:latin typeface="Calibri"/>
              </a:rPr>
              <a:t>▸ [À COMPLÉTER : phrase de </a:t>
            </a:r>
            <a:r>
              <a:rPr sz="1700" b="1" dirty="0" err="1">
                <a:solidFill>
                  <a:srgbClr val="F3EEFF"/>
                </a:solidFill>
                <a:latin typeface="Calibri"/>
              </a:rPr>
              <a:t>parcours</a:t>
            </a:r>
            <a:r>
              <a:rPr sz="1700" b="1" dirty="0">
                <a:solidFill>
                  <a:srgbClr val="F3EEFF"/>
                </a:solidFill>
                <a:latin typeface="Calibri"/>
              </a:rPr>
              <a:t> </a:t>
            </a:r>
            <a:r>
              <a:rPr sz="1700" b="1" dirty="0" err="1">
                <a:solidFill>
                  <a:srgbClr val="F3EEFF"/>
                </a:solidFill>
                <a:latin typeface="Calibri"/>
              </a:rPr>
              <a:t>en</a:t>
            </a:r>
            <a:r>
              <a:rPr sz="1700" b="1" dirty="0">
                <a:solidFill>
                  <a:srgbClr val="F3EEFF"/>
                </a:solidFill>
                <a:latin typeface="Calibri"/>
              </a:rPr>
              <a:t> </a:t>
            </a:r>
            <a:r>
              <a:rPr sz="1700" b="1" dirty="0" err="1">
                <a:solidFill>
                  <a:srgbClr val="F3EEFF"/>
                </a:solidFill>
                <a:latin typeface="Calibri"/>
              </a:rPr>
              <a:t>une</a:t>
            </a:r>
            <a:r>
              <a:rPr sz="1700" b="1" dirty="0">
                <a:solidFill>
                  <a:srgbClr val="F3EEFF"/>
                </a:solidFill>
                <a:latin typeface="Calibri"/>
              </a:rPr>
              <a:t> </a:t>
            </a:r>
            <a:r>
              <a:rPr sz="1700" b="1" dirty="0" err="1">
                <a:solidFill>
                  <a:srgbClr val="F3EEFF"/>
                </a:solidFill>
                <a:latin typeface="Calibri"/>
              </a:rPr>
              <a:t>ligne</a:t>
            </a:r>
            <a:r>
              <a:rPr sz="1700" b="1" dirty="0">
                <a:solidFill>
                  <a:srgbClr val="F3EEFF"/>
                </a:solidFill>
                <a:latin typeface="Calibri"/>
              </a:rPr>
              <a:t> — ex. reconversion, </a:t>
            </a:r>
            <a:r>
              <a:rPr sz="1700" b="1" dirty="0" err="1">
                <a:solidFill>
                  <a:srgbClr val="F3EEFF"/>
                </a:solidFill>
                <a:latin typeface="Calibri"/>
              </a:rPr>
              <a:t>autodidacte</a:t>
            </a:r>
            <a:r>
              <a:rPr sz="1700" b="1" dirty="0">
                <a:solidFill>
                  <a:srgbClr val="F3EEFF"/>
                </a:solidFill>
                <a:latin typeface="Calibri"/>
              </a:rPr>
              <a:t>, etc.]</a:t>
            </a:r>
          </a:p>
          <a:p>
            <a:pPr>
              <a:spcAft>
                <a:spcPts val="1000"/>
              </a:spcAft>
            </a:pPr>
            <a:r>
              <a:rPr sz="1700" b="1" dirty="0">
                <a:solidFill>
                  <a:srgbClr val="F3EEFF"/>
                </a:solidFill>
                <a:latin typeface="Calibri"/>
              </a:rPr>
              <a:t>▸ [À COMPLÉTER : </a:t>
            </a:r>
            <a:r>
              <a:rPr sz="1700" b="1" dirty="0" err="1">
                <a:solidFill>
                  <a:srgbClr val="F3EEFF"/>
                </a:solidFill>
                <a:latin typeface="Calibri"/>
              </a:rPr>
              <a:t>ce</a:t>
            </a:r>
            <a:r>
              <a:rPr sz="1700" b="1" dirty="0">
                <a:solidFill>
                  <a:srgbClr val="F3EEFF"/>
                </a:solidFill>
                <a:latin typeface="Calibri"/>
              </a:rPr>
              <a:t> qui </a:t>
            </a:r>
            <a:r>
              <a:rPr sz="1700" b="1" dirty="0" err="1">
                <a:solidFill>
                  <a:srgbClr val="F3EEFF"/>
                </a:solidFill>
                <a:latin typeface="Calibri"/>
              </a:rPr>
              <a:t>vous</a:t>
            </a:r>
            <a:r>
              <a:rPr sz="1700" b="1" dirty="0">
                <a:solidFill>
                  <a:srgbClr val="F3EEFF"/>
                </a:solidFill>
                <a:latin typeface="Calibri"/>
              </a:rPr>
              <a:t> a </a:t>
            </a:r>
            <a:r>
              <a:rPr sz="1700" b="1" dirty="0" err="1">
                <a:solidFill>
                  <a:srgbClr val="F3EEFF"/>
                </a:solidFill>
                <a:latin typeface="Calibri"/>
              </a:rPr>
              <a:t>amené</a:t>
            </a:r>
            <a:r>
              <a:rPr sz="1700" b="1" dirty="0">
                <a:solidFill>
                  <a:srgbClr val="F3EEFF"/>
                </a:solidFill>
                <a:latin typeface="Calibri"/>
              </a:rPr>
              <a:t> au </a:t>
            </a:r>
            <a:r>
              <a:rPr sz="1700" b="1" dirty="0" err="1">
                <a:solidFill>
                  <a:srgbClr val="F3EEFF"/>
                </a:solidFill>
                <a:latin typeface="Calibri"/>
              </a:rPr>
              <a:t>développement</a:t>
            </a:r>
            <a:r>
              <a:rPr sz="1700" b="1" dirty="0">
                <a:solidFill>
                  <a:srgbClr val="F3EEFF"/>
                </a:solidFill>
                <a:latin typeface="Calibri"/>
              </a:rPr>
              <a:t> web]</a:t>
            </a:r>
          </a:p>
          <a:p>
            <a:pPr>
              <a:spcAft>
                <a:spcPts val="1000"/>
              </a:spcAft>
            </a:pPr>
            <a:r>
              <a:rPr sz="1700" b="1" dirty="0">
                <a:solidFill>
                  <a:srgbClr val="F3EEFF"/>
                </a:solidFill>
                <a:latin typeface="Calibri"/>
              </a:rPr>
              <a:t>▸ [À COMPLÉTER : 1-2 </a:t>
            </a:r>
            <a:r>
              <a:rPr sz="1700" b="1" dirty="0" err="1">
                <a:solidFill>
                  <a:srgbClr val="F3EEFF"/>
                </a:solidFill>
                <a:latin typeface="Calibri"/>
              </a:rPr>
              <a:t>expériences</a:t>
            </a:r>
            <a:r>
              <a:rPr sz="1700" b="1" dirty="0">
                <a:solidFill>
                  <a:srgbClr val="F3EEFF"/>
                </a:solidFill>
                <a:latin typeface="Calibri"/>
              </a:rPr>
              <a:t> </a:t>
            </a:r>
            <a:r>
              <a:rPr sz="1700" b="1" dirty="0" err="1">
                <a:solidFill>
                  <a:srgbClr val="F3EEFF"/>
                </a:solidFill>
                <a:latin typeface="Calibri"/>
              </a:rPr>
              <a:t>significatives</a:t>
            </a:r>
            <a:r>
              <a:rPr sz="1700" b="1" dirty="0">
                <a:solidFill>
                  <a:srgbClr val="F3EEFF"/>
                </a:solidFill>
                <a:latin typeface="Calibri"/>
              </a:rPr>
              <a:t> </a:t>
            </a:r>
            <a:r>
              <a:rPr sz="1700" b="1" dirty="0" err="1">
                <a:solidFill>
                  <a:srgbClr val="F3EEFF"/>
                </a:solidFill>
                <a:latin typeface="Calibri"/>
              </a:rPr>
              <a:t>liées</a:t>
            </a:r>
            <a:r>
              <a:rPr sz="1700" b="1" dirty="0">
                <a:solidFill>
                  <a:srgbClr val="F3EEFF"/>
                </a:solidFill>
                <a:latin typeface="Calibri"/>
              </a:rPr>
              <a:t> au dev]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65798" y="-137160"/>
            <a:ext cx="2743200" cy="2011680"/>
          </a:xfrm>
          <a:prstGeom prst="rect">
            <a:avLst/>
          </a:prstGeom>
          <a:noFill/>
        </p:spPr>
        <p:txBody>
          <a:bodyPr wrap="square" anchor="t">
            <a:spAutoFit/>
          </a:bodyPr>
          <a:lstStyle/>
          <a:p>
            <a:pPr algn="l"/>
            <a:r>
              <a:rPr sz="14000" b="1" i="0">
                <a:solidFill>
                  <a:srgbClr val="351C5C"/>
                </a:solidFill>
                <a:latin typeface="Calibri"/>
              </a:rPr>
              <a:t>2</a:t>
            </a:r>
          </a:p>
        </p:txBody>
      </p:sp>
      <p:sp>
        <p:nvSpPr>
          <p:cNvPr id="4" name="TextBox 3"/>
          <p:cNvSpPr txBox="1"/>
          <p:nvPr/>
        </p:nvSpPr>
        <p:spPr>
          <a:xfrm>
            <a:off x="2514600" y="397764"/>
            <a:ext cx="8412480" cy="822960"/>
          </a:xfrm>
          <a:prstGeom prst="rect">
            <a:avLst/>
          </a:prstGeom>
          <a:noFill/>
        </p:spPr>
        <p:txBody>
          <a:bodyPr wrap="square" anchor="t">
            <a:spAutoFit/>
          </a:bodyPr>
          <a:lstStyle/>
          <a:p>
            <a:pPr algn="l"/>
            <a:r>
              <a:rPr sz="3800" b="1" i="0" dirty="0" err="1">
                <a:solidFill>
                  <a:srgbClr val="F3EEFF"/>
                </a:solidFill>
                <a:latin typeface="Calibri"/>
              </a:rPr>
              <a:t>Présentation</a:t>
            </a:r>
            <a:r>
              <a:rPr sz="3800" b="1" i="0" dirty="0">
                <a:solidFill>
                  <a:srgbClr val="F3EEFF"/>
                </a:solidFill>
                <a:latin typeface="Calibri"/>
              </a:rPr>
              <a:t> du </a:t>
            </a:r>
            <a:r>
              <a:rPr sz="3800" b="1" i="0" dirty="0" err="1">
                <a:solidFill>
                  <a:srgbClr val="F3EEFF"/>
                </a:solidFill>
                <a:latin typeface="Calibri"/>
              </a:rPr>
              <a:t>projet</a:t>
            </a:r>
            <a:endParaRPr sz="3800" b="1" i="0" dirty="0">
              <a:solidFill>
                <a:srgbClr val="F3EEFF"/>
              </a:solidFill>
              <a:latin typeface="Calibri"/>
            </a:endParaRPr>
          </a:p>
        </p:txBody>
      </p:sp>
      <p:sp>
        <p:nvSpPr>
          <p:cNvPr id="5" name="TextBox 4"/>
          <p:cNvSpPr txBox="1"/>
          <p:nvPr/>
        </p:nvSpPr>
        <p:spPr>
          <a:xfrm>
            <a:off x="2514600" y="1070991"/>
            <a:ext cx="8412480" cy="457200"/>
          </a:xfrm>
          <a:prstGeom prst="rect">
            <a:avLst/>
          </a:prstGeom>
          <a:noFill/>
        </p:spPr>
        <p:txBody>
          <a:bodyPr wrap="square" anchor="t">
            <a:spAutoFit/>
          </a:bodyPr>
          <a:lstStyle/>
          <a:p>
            <a:pPr algn="l"/>
            <a:r>
              <a:rPr sz="1600" b="0" i="1" dirty="0">
                <a:solidFill>
                  <a:srgbClr val="3DE5E0"/>
                </a:solidFill>
                <a:latin typeface="Calibri"/>
              </a:rPr>
              <a:t>≈ 4 minutes</a:t>
            </a:r>
          </a:p>
        </p:txBody>
      </p:sp>
      <p:sp>
        <p:nvSpPr>
          <p:cNvPr id="6" name="Rectangle 5"/>
          <p:cNvSpPr/>
          <p:nvPr/>
        </p:nvSpPr>
        <p:spPr>
          <a:xfrm>
            <a:off x="2311718" y="1528191"/>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94484" y="2036190"/>
            <a:ext cx="9332596" cy="1477328"/>
          </a:xfrm>
          <a:prstGeom prst="rect">
            <a:avLst/>
          </a:prstGeom>
          <a:noFill/>
        </p:spPr>
        <p:txBody>
          <a:bodyPr wrap="square">
            <a:spAutoFit/>
          </a:bodyPr>
          <a:lstStyle/>
          <a:p>
            <a:r>
              <a:rPr lang="fr-FR" b="1" dirty="0">
                <a:solidFill>
                  <a:schemeClr val="bg1"/>
                </a:solidFill>
              </a:rPr>
              <a:t>Le projet LES BATARK est un site communautaire dédié à ARK: Survival Ascended.</a:t>
            </a:r>
            <a:endParaRPr lang="fr-FR" dirty="0">
              <a:solidFill>
                <a:schemeClr val="bg1"/>
              </a:solidFill>
            </a:endParaRPr>
          </a:p>
          <a:p>
            <a:r>
              <a:rPr lang="fr-FR" dirty="0">
                <a:solidFill>
                  <a:schemeClr val="bg1"/>
                </a:solidFill>
              </a:rPr>
              <a:t>Il permet de présenter la communauté, ses serveurs, et ses événements tout en proposant une boutique en ligne.</a:t>
            </a:r>
          </a:p>
          <a:p>
            <a:r>
              <a:rPr lang="fr-FR" dirty="0">
                <a:solidFill>
                  <a:schemeClr val="bg1"/>
                </a:solidFill>
              </a:rPr>
              <a:t>L’objectif est de centraliser les informations importantes sur un seul site clair, accessible aux joueurs, avec un espace d’administration pour gérer facilement le contenu.</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1" name="Image 10">
            <a:extLst>
              <a:ext uri="{FF2B5EF4-FFF2-40B4-BE49-F238E27FC236}">
                <a16:creationId xmlns:a16="http://schemas.microsoft.com/office/drawing/2014/main" id="{1D690134-C5D3-4D86-9EAA-2F5A1837BE77}"/>
              </a:ext>
            </a:extLst>
          </p:cNvPr>
          <p:cNvPicPr>
            <a:picLocks noChangeAspect="1"/>
          </p:cNvPicPr>
          <p:nvPr/>
        </p:nvPicPr>
        <p:blipFill rotWithShape="1">
          <a:blip r:embed="rId3"/>
          <a:srcRect r="2611"/>
          <a:stretch/>
        </p:blipFill>
        <p:spPr>
          <a:xfrm>
            <a:off x="2251233" y="3613074"/>
            <a:ext cx="6820218" cy="3089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2. PRÉSENTATION DU PROJET</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Contexte &amp; problématique</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1785104"/>
          </a:xfrm>
          <a:prstGeom prst="rect">
            <a:avLst/>
          </a:prstGeom>
          <a:noFill/>
        </p:spPr>
        <p:txBody>
          <a:bodyPr wrap="square">
            <a:spAutoFit/>
          </a:bodyPr>
          <a:lstStyle/>
          <a:p>
            <a:pPr>
              <a:spcAft>
                <a:spcPts val="1000"/>
              </a:spcAft>
            </a:pPr>
            <a:r>
              <a:rPr sz="1700" b="1" dirty="0">
                <a:solidFill>
                  <a:srgbClr val="F3EEFF"/>
                </a:solidFill>
                <a:latin typeface="Calibri"/>
              </a:rPr>
              <a:t>▸ </a:t>
            </a:r>
            <a:r>
              <a:rPr sz="1700" b="1" dirty="0" err="1">
                <a:solidFill>
                  <a:srgbClr val="F3EEFF"/>
                </a:solidFill>
                <a:latin typeface="Calibri"/>
              </a:rPr>
              <a:t>Communauté</a:t>
            </a:r>
            <a:r>
              <a:rPr sz="1700" b="1" dirty="0">
                <a:solidFill>
                  <a:srgbClr val="F3EEFF"/>
                </a:solidFill>
                <a:latin typeface="Calibri"/>
              </a:rPr>
              <a:t> de </a:t>
            </a:r>
            <a:r>
              <a:rPr sz="1700" b="1" dirty="0" err="1">
                <a:solidFill>
                  <a:srgbClr val="F3EEFF"/>
                </a:solidFill>
                <a:latin typeface="Calibri"/>
              </a:rPr>
              <a:t>joueurs</a:t>
            </a:r>
            <a:r>
              <a:rPr sz="1700" b="1" dirty="0">
                <a:solidFill>
                  <a:srgbClr val="F3EEFF"/>
                </a:solidFill>
                <a:latin typeface="Calibri"/>
              </a:rPr>
              <a:t> sur un </a:t>
            </a:r>
            <a:r>
              <a:rPr sz="1700" b="1" dirty="0" err="1">
                <a:solidFill>
                  <a:srgbClr val="F3EEFF"/>
                </a:solidFill>
                <a:latin typeface="Calibri"/>
              </a:rPr>
              <a:t>serveur</a:t>
            </a:r>
            <a:r>
              <a:rPr sz="1700" b="1" dirty="0">
                <a:solidFill>
                  <a:srgbClr val="F3EEFF"/>
                </a:solidFill>
                <a:latin typeface="Calibri"/>
              </a:rPr>
              <a:t> ARK : Survival Evolved</a:t>
            </a:r>
          </a:p>
          <a:p>
            <a:pPr>
              <a:spcAft>
                <a:spcPts val="1000"/>
              </a:spcAft>
            </a:pPr>
            <a:r>
              <a:rPr sz="1700" b="1" dirty="0">
                <a:solidFill>
                  <a:srgbClr val="F3EEFF"/>
                </a:solidFill>
                <a:latin typeface="Calibri"/>
              </a:rPr>
              <a:t>▸ </a:t>
            </a:r>
            <a:r>
              <a:rPr sz="1700" b="1" dirty="0" err="1">
                <a:solidFill>
                  <a:srgbClr val="F3EEFF"/>
                </a:solidFill>
                <a:latin typeface="Calibri"/>
              </a:rPr>
              <a:t>Constat</a:t>
            </a:r>
            <a:r>
              <a:rPr sz="1700" b="1" dirty="0">
                <a:solidFill>
                  <a:srgbClr val="F3EEFF"/>
                </a:solidFill>
                <a:latin typeface="Calibri"/>
              </a:rPr>
              <a:t> : </a:t>
            </a:r>
            <a:r>
              <a:rPr sz="1700" b="1" dirty="0" err="1">
                <a:solidFill>
                  <a:srgbClr val="F3EEFF"/>
                </a:solidFill>
                <a:latin typeface="Calibri"/>
              </a:rPr>
              <a:t>informations</a:t>
            </a:r>
            <a:r>
              <a:rPr sz="1700" b="1" dirty="0">
                <a:solidFill>
                  <a:srgbClr val="F3EEFF"/>
                </a:solidFill>
                <a:latin typeface="Calibri"/>
              </a:rPr>
              <a:t> </a:t>
            </a:r>
            <a:r>
              <a:rPr sz="1700" b="1" dirty="0" err="1">
                <a:solidFill>
                  <a:srgbClr val="F3EEFF"/>
                </a:solidFill>
                <a:latin typeface="Calibri"/>
              </a:rPr>
              <a:t>dispersées</a:t>
            </a:r>
            <a:r>
              <a:rPr sz="1700" b="1" dirty="0">
                <a:solidFill>
                  <a:srgbClr val="F3EEFF"/>
                </a:solidFill>
                <a:latin typeface="Calibri"/>
              </a:rPr>
              <a:t> </a:t>
            </a:r>
            <a:r>
              <a:rPr lang="fr-FR" sz="1700" b="1" dirty="0">
                <a:solidFill>
                  <a:srgbClr val="F3EEFF"/>
                </a:solidFill>
                <a:latin typeface="Calibri"/>
              </a:rPr>
              <a:t>dans discord </a:t>
            </a:r>
            <a:r>
              <a:rPr sz="1700" b="1" dirty="0">
                <a:solidFill>
                  <a:srgbClr val="F3EEFF"/>
                </a:solidFill>
                <a:latin typeface="Calibri"/>
              </a:rPr>
              <a:t>(</a:t>
            </a:r>
            <a:r>
              <a:rPr sz="1700" b="1" dirty="0" err="1">
                <a:solidFill>
                  <a:srgbClr val="F3EEFF"/>
                </a:solidFill>
                <a:latin typeface="Calibri"/>
              </a:rPr>
              <a:t>événements</a:t>
            </a:r>
            <a:r>
              <a:rPr sz="1700" b="1" dirty="0">
                <a:solidFill>
                  <a:srgbClr val="F3EEFF"/>
                </a:solidFill>
                <a:latin typeface="Calibri"/>
              </a:rPr>
              <a:t> </a:t>
            </a:r>
            <a:r>
              <a:rPr sz="1700" b="1" dirty="0" err="1">
                <a:solidFill>
                  <a:srgbClr val="F3EEFF"/>
                </a:solidFill>
                <a:latin typeface="Calibri"/>
              </a:rPr>
              <a:t>PvP</a:t>
            </a:r>
            <a:r>
              <a:rPr sz="1700" b="1" dirty="0">
                <a:solidFill>
                  <a:srgbClr val="F3EEFF"/>
                </a:solidFill>
                <a:latin typeface="Calibri"/>
              </a:rPr>
              <a:t>/</a:t>
            </a:r>
            <a:r>
              <a:rPr sz="1700" b="1" dirty="0" err="1">
                <a:solidFill>
                  <a:srgbClr val="F3EEFF"/>
                </a:solidFill>
                <a:latin typeface="Calibri"/>
              </a:rPr>
              <a:t>PvE</a:t>
            </a:r>
            <a:r>
              <a:rPr sz="1700" b="1" dirty="0">
                <a:solidFill>
                  <a:srgbClr val="F3EEFF"/>
                </a:solidFill>
                <a:latin typeface="Calibri"/>
              </a:rPr>
              <a:t>, </a:t>
            </a:r>
            <a:r>
              <a:rPr sz="1700" b="1" dirty="0" err="1">
                <a:solidFill>
                  <a:srgbClr val="F3EEFF"/>
                </a:solidFill>
                <a:latin typeface="Calibri"/>
              </a:rPr>
              <a:t>annonces</a:t>
            </a:r>
            <a:r>
              <a:rPr sz="1700" b="1" dirty="0">
                <a:solidFill>
                  <a:srgbClr val="F3EEFF"/>
                </a:solidFill>
                <a:latin typeface="Calibri"/>
              </a:rPr>
              <a:t>) et </a:t>
            </a:r>
            <a:r>
              <a:rPr sz="1700" b="1" dirty="0" err="1">
                <a:solidFill>
                  <a:srgbClr val="F3EEFF"/>
                </a:solidFill>
                <a:latin typeface="Calibri"/>
              </a:rPr>
              <a:t>aucune</a:t>
            </a:r>
            <a:r>
              <a:rPr sz="1700" b="1" dirty="0">
                <a:solidFill>
                  <a:srgbClr val="F3EEFF"/>
                </a:solidFill>
                <a:latin typeface="Calibri"/>
              </a:rPr>
              <a:t> boutique </a:t>
            </a:r>
            <a:r>
              <a:rPr sz="1700" b="1" dirty="0" err="1">
                <a:solidFill>
                  <a:srgbClr val="F3EEFF"/>
                </a:solidFill>
                <a:latin typeface="Calibri"/>
              </a:rPr>
              <a:t>centralisée</a:t>
            </a:r>
            <a:r>
              <a:rPr sz="1700" b="1" dirty="0">
                <a:solidFill>
                  <a:srgbClr val="F3EEFF"/>
                </a:solidFill>
                <a:latin typeface="Calibri"/>
              </a:rPr>
              <a:t> </a:t>
            </a:r>
            <a:endParaRPr lang="fr-FR" sz="1700" b="1" dirty="0">
              <a:solidFill>
                <a:srgbClr val="F3EEFF"/>
              </a:solidFill>
              <a:latin typeface="Calibri"/>
            </a:endParaRPr>
          </a:p>
          <a:p>
            <a:pPr>
              <a:spcAft>
                <a:spcPts val="1000"/>
              </a:spcAft>
            </a:pPr>
            <a:r>
              <a:rPr sz="1700" b="1" dirty="0">
                <a:solidFill>
                  <a:srgbClr val="F3EEFF"/>
                </a:solidFill>
                <a:latin typeface="Calibri"/>
              </a:rPr>
              <a:t>▸ </a:t>
            </a:r>
            <a:r>
              <a:rPr sz="1700" b="1" dirty="0" err="1">
                <a:solidFill>
                  <a:srgbClr val="F3EEFF"/>
                </a:solidFill>
                <a:latin typeface="Calibri"/>
              </a:rPr>
              <a:t>Besoin</a:t>
            </a:r>
            <a:r>
              <a:rPr sz="1700" b="1" dirty="0">
                <a:solidFill>
                  <a:srgbClr val="F3EEFF"/>
                </a:solidFill>
                <a:latin typeface="Calibri"/>
              </a:rPr>
              <a:t> : un site unique qui </a:t>
            </a:r>
            <a:r>
              <a:rPr sz="1700" b="1" dirty="0" err="1">
                <a:solidFill>
                  <a:srgbClr val="F3EEFF"/>
                </a:solidFill>
                <a:latin typeface="Calibri"/>
              </a:rPr>
              <a:t>centralise</a:t>
            </a:r>
            <a:r>
              <a:rPr sz="1700" b="1" dirty="0">
                <a:solidFill>
                  <a:srgbClr val="F3EEFF"/>
                </a:solidFill>
                <a:latin typeface="Calibri"/>
              </a:rPr>
              <a:t> les </a:t>
            </a:r>
            <a:r>
              <a:rPr sz="1700" b="1" dirty="0" err="1">
                <a:solidFill>
                  <a:srgbClr val="F3EEFF"/>
                </a:solidFill>
                <a:latin typeface="Calibri"/>
              </a:rPr>
              <a:t>événements</a:t>
            </a:r>
            <a:r>
              <a:rPr sz="1700" b="1" dirty="0">
                <a:solidFill>
                  <a:srgbClr val="F3EEFF"/>
                </a:solidFill>
                <a:latin typeface="Calibri"/>
              </a:rPr>
              <a:t> de la </a:t>
            </a:r>
            <a:r>
              <a:rPr sz="1700" b="1" dirty="0" err="1">
                <a:solidFill>
                  <a:srgbClr val="F3EEFF"/>
                </a:solidFill>
                <a:latin typeface="Calibri"/>
              </a:rPr>
              <a:t>communauté</a:t>
            </a:r>
            <a:r>
              <a:rPr sz="1700" b="1" dirty="0">
                <a:solidFill>
                  <a:srgbClr val="F3EEFF"/>
                </a:solidFill>
                <a:latin typeface="Calibri"/>
              </a:rPr>
              <a:t> ET propose </a:t>
            </a:r>
            <a:r>
              <a:rPr sz="1700" b="1" dirty="0" err="1">
                <a:solidFill>
                  <a:srgbClr val="F3EEFF"/>
                </a:solidFill>
                <a:latin typeface="Calibri"/>
              </a:rPr>
              <a:t>une</a:t>
            </a:r>
            <a:r>
              <a:rPr sz="1700" b="1" dirty="0">
                <a:solidFill>
                  <a:srgbClr val="F3EEFF"/>
                </a:solidFill>
                <a:latin typeface="Calibri"/>
              </a:rPr>
              <a:t> boutique </a:t>
            </a:r>
            <a:r>
              <a:rPr sz="1700" b="1" dirty="0" err="1">
                <a:solidFill>
                  <a:srgbClr val="F3EEFF"/>
                </a:solidFill>
                <a:latin typeface="Calibri"/>
              </a:rPr>
              <a:t>en</a:t>
            </a:r>
            <a:r>
              <a:rPr sz="1700" b="1" dirty="0">
                <a:solidFill>
                  <a:srgbClr val="F3EEFF"/>
                </a:solidFill>
                <a:latin typeface="Calibri"/>
              </a:rPr>
              <a:t> </a:t>
            </a:r>
            <a:r>
              <a:rPr sz="1700" b="1" dirty="0" err="1">
                <a:solidFill>
                  <a:srgbClr val="F3EEFF"/>
                </a:solidFill>
                <a:latin typeface="Calibri"/>
              </a:rPr>
              <a:t>ligne</a:t>
            </a:r>
            <a:r>
              <a:rPr sz="1700" b="1" dirty="0">
                <a:solidFill>
                  <a:srgbClr val="F3EEFF"/>
                </a:solidFill>
                <a:latin typeface="Calibri"/>
              </a:rPr>
              <a:t> </a:t>
            </a:r>
            <a:r>
              <a:rPr sz="1700" b="1" dirty="0" err="1">
                <a:solidFill>
                  <a:srgbClr val="F3EEFF"/>
                </a:solidFill>
                <a:latin typeface="Calibri"/>
              </a:rPr>
              <a:t>sécurisée</a:t>
            </a:r>
            <a:r>
              <a:rPr sz="1700" b="1" dirty="0">
                <a:solidFill>
                  <a:srgbClr val="F3EEFF"/>
                </a:solidFill>
                <a:latin typeface="Calibri"/>
              </a:rPr>
              <a:t> avec </a:t>
            </a:r>
            <a:r>
              <a:rPr sz="1700" b="1" dirty="0" err="1">
                <a:solidFill>
                  <a:srgbClr val="F3EEFF"/>
                </a:solidFill>
                <a:latin typeface="Calibri"/>
              </a:rPr>
              <a:t>paiement</a:t>
            </a:r>
            <a:r>
              <a:rPr sz="1700" b="1" dirty="0">
                <a:solidFill>
                  <a:srgbClr val="F3EEFF"/>
                </a:solidFill>
                <a:latin typeface="Calibri"/>
              </a:rPr>
              <a:t> </a:t>
            </a:r>
            <a:r>
              <a:rPr sz="1700" b="1" dirty="0" err="1">
                <a:solidFill>
                  <a:srgbClr val="F3EEFF"/>
                </a:solidFill>
                <a:latin typeface="Calibri"/>
              </a:rPr>
              <a:t>réel</a:t>
            </a:r>
            <a:r>
              <a:rPr sz="1700" b="1" dirty="0">
                <a:solidFill>
                  <a:srgbClr val="F3EEFF"/>
                </a:solidFill>
                <a:latin typeface="Calibri"/>
              </a:rPr>
              <a:t> (Stripe)</a:t>
            </a:r>
          </a:p>
          <a:p>
            <a:pPr>
              <a:spcAft>
                <a:spcPts val="1000"/>
              </a:spcAft>
            </a:pPr>
            <a:r>
              <a:rPr sz="1700" b="1" dirty="0">
                <a:solidFill>
                  <a:srgbClr val="C84BE0"/>
                </a:solidFill>
                <a:latin typeface="Calibri"/>
              </a:rPr>
              <a:t>▸ [À COMPLÉTER : </a:t>
            </a:r>
            <a:r>
              <a:rPr sz="1700" b="1" dirty="0" err="1">
                <a:solidFill>
                  <a:srgbClr val="C84BE0"/>
                </a:solidFill>
                <a:latin typeface="Calibri"/>
              </a:rPr>
              <a:t>contexte</a:t>
            </a:r>
            <a:r>
              <a:rPr sz="1700" b="1" dirty="0">
                <a:solidFill>
                  <a:srgbClr val="C84BE0"/>
                </a:solidFill>
                <a:latin typeface="Calibri"/>
              </a:rPr>
              <a:t> précis — </a:t>
            </a:r>
            <a:r>
              <a:rPr sz="1700" b="1" dirty="0" err="1">
                <a:solidFill>
                  <a:srgbClr val="C84BE0"/>
                </a:solidFill>
                <a:latin typeface="Calibri"/>
              </a:rPr>
              <a:t>commande</a:t>
            </a:r>
            <a:r>
              <a:rPr sz="1700" b="1" dirty="0">
                <a:solidFill>
                  <a:srgbClr val="C84BE0"/>
                </a:solidFill>
                <a:latin typeface="Calibri"/>
              </a:rPr>
              <a:t> </a:t>
            </a:r>
            <a:r>
              <a:rPr sz="1700" b="1" dirty="0" err="1">
                <a:solidFill>
                  <a:srgbClr val="C84BE0"/>
                </a:solidFill>
                <a:latin typeface="Calibri"/>
              </a:rPr>
              <a:t>personnelle</a:t>
            </a:r>
            <a:r>
              <a:rPr sz="1700" b="1" dirty="0">
                <a:solidFill>
                  <a:srgbClr val="C84BE0"/>
                </a:solidFill>
                <a:latin typeface="Calibri"/>
              </a:rPr>
              <a:t>, </a:t>
            </a:r>
            <a:r>
              <a:rPr sz="1700" b="1" dirty="0" err="1">
                <a:solidFill>
                  <a:srgbClr val="C84BE0"/>
                </a:solidFill>
                <a:latin typeface="Calibri"/>
              </a:rPr>
              <a:t>communauté</a:t>
            </a:r>
            <a:r>
              <a:rPr sz="1700" b="1" dirty="0">
                <a:solidFill>
                  <a:srgbClr val="C84BE0"/>
                </a:solidFill>
                <a:latin typeface="Calibri"/>
              </a:rPr>
              <a:t> </a:t>
            </a:r>
            <a:r>
              <a:rPr sz="1700" b="1" dirty="0" err="1">
                <a:solidFill>
                  <a:srgbClr val="C84BE0"/>
                </a:solidFill>
                <a:latin typeface="Calibri"/>
              </a:rPr>
              <a:t>existante</a:t>
            </a:r>
            <a:r>
              <a:rPr sz="1700" b="1" dirty="0">
                <a:solidFill>
                  <a:srgbClr val="C84BE0"/>
                </a:solidFill>
                <a:latin typeface="Calibri"/>
              </a:rPr>
              <a:t>, etc.]</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2 — Présentation du projet</a:t>
            </a:r>
          </a:p>
        </p:txBody>
      </p:sp>
      <p:sp>
        <p:nvSpPr>
          <p:cNvPr id="8" name="TextBox 7"/>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2743200" cy="2011680"/>
          </a:xfrm>
          <a:prstGeom prst="rect">
            <a:avLst/>
          </a:prstGeom>
          <a:noFill/>
        </p:spPr>
        <p:txBody>
          <a:bodyPr wrap="square" anchor="t">
            <a:spAutoFit/>
          </a:bodyPr>
          <a:lstStyle/>
          <a:p>
            <a:pPr algn="l"/>
            <a:r>
              <a:rPr sz="14000" b="1" i="0">
                <a:solidFill>
                  <a:srgbClr val="351C5C"/>
                </a:solidFill>
                <a:latin typeface="Calibri"/>
              </a:rPr>
              <a:t>3</a:t>
            </a:r>
          </a:p>
        </p:txBody>
      </p:sp>
      <p:sp>
        <p:nvSpPr>
          <p:cNvPr id="4" name="TextBox 3"/>
          <p:cNvSpPr txBox="1"/>
          <p:nvPr/>
        </p:nvSpPr>
        <p:spPr>
          <a:xfrm>
            <a:off x="3108960" y="2286000"/>
            <a:ext cx="8412480" cy="822960"/>
          </a:xfrm>
          <a:prstGeom prst="rect">
            <a:avLst/>
          </a:prstGeom>
          <a:noFill/>
        </p:spPr>
        <p:txBody>
          <a:bodyPr wrap="square" anchor="t">
            <a:spAutoFit/>
          </a:bodyPr>
          <a:lstStyle/>
          <a:p>
            <a:pPr algn="l"/>
            <a:r>
              <a:rPr sz="3800" b="1" i="0">
                <a:solidFill>
                  <a:srgbClr val="F3EEFF"/>
                </a:solidFill>
                <a:latin typeface="Calibri"/>
              </a:rPr>
              <a:t>Conception de l'application</a:t>
            </a:r>
          </a:p>
        </p:txBody>
      </p:sp>
      <p:sp>
        <p:nvSpPr>
          <p:cNvPr id="5" name="TextBox 4"/>
          <p:cNvSpPr txBox="1"/>
          <p:nvPr/>
        </p:nvSpPr>
        <p:spPr>
          <a:xfrm>
            <a:off x="3154680" y="2971800"/>
            <a:ext cx="8412480" cy="457200"/>
          </a:xfrm>
          <a:prstGeom prst="rect">
            <a:avLst/>
          </a:prstGeom>
          <a:noFill/>
        </p:spPr>
        <p:txBody>
          <a:bodyPr wrap="square" anchor="t">
            <a:spAutoFit/>
          </a:bodyPr>
          <a:lstStyle/>
          <a:p>
            <a:pPr algn="l"/>
            <a:r>
              <a:rPr sz="1600" b="0" i="1">
                <a:solidFill>
                  <a:srgbClr val="3DE5E0"/>
                </a:solidFill>
                <a:latin typeface="Calibri"/>
              </a:rPr>
              <a:t>≈ 6 minutes</a:t>
            </a:r>
          </a:p>
        </p:txBody>
      </p:sp>
      <p:sp>
        <p:nvSpPr>
          <p:cNvPr id="6" name="Rectangle 5"/>
          <p:cNvSpPr/>
          <p:nvPr/>
        </p:nvSpPr>
        <p:spPr>
          <a:xfrm>
            <a:off x="3154680" y="3520440"/>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3794760"/>
            <a:ext cx="8046720" cy="2377440"/>
          </a:xfrm>
          <a:prstGeom prst="rect">
            <a:avLst/>
          </a:prstGeom>
          <a:noFill/>
        </p:spPr>
        <p:txBody>
          <a:bodyPr wrap="square">
            <a:spAutoFit/>
          </a:bodyPr>
          <a:lstStyle/>
          <a:p>
            <a:pPr>
              <a:spcAft>
                <a:spcPts val="1000"/>
              </a:spcAft>
            </a:pPr>
            <a:r>
              <a:rPr sz="1600" b="1">
                <a:solidFill>
                  <a:srgbClr val="F3EEFF"/>
                </a:solidFill>
                <a:latin typeface="Calibri"/>
              </a:rPr>
              <a:t>▸ Use Case (acteurs)</a:t>
            </a:r>
          </a:p>
          <a:p>
            <a:pPr>
              <a:spcAft>
                <a:spcPts val="1000"/>
              </a:spcAft>
            </a:pPr>
            <a:r>
              <a:rPr sz="1600" b="1">
                <a:solidFill>
                  <a:srgbClr val="F3EEFF"/>
                </a:solidFill>
                <a:latin typeface="Calibri"/>
              </a:rPr>
              <a:t>▸ Zoning → Wireframe → Maquette</a:t>
            </a:r>
          </a:p>
          <a:p>
            <a:pPr>
              <a:spcAft>
                <a:spcPts val="1000"/>
              </a:spcAft>
            </a:pPr>
            <a:r>
              <a:rPr sz="1600" b="1">
                <a:solidFill>
                  <a:srgbClr val="F3EEFF"/>
                </a:solidFill>
                <a:latin typeface="Calibri"/>
              </a:rPr>
              <a:t>▸ MCD / MLD / MPD (Merise)</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3. CONCEPTION — BESOINS UTILISATEURS</a:t>
            </a:r>
          </a:p>
        </p:txBody>
      </p:sp>
      <p:sp>
        <p:nvSpPr>
          <p:cNvPr id="4" name="TextBox 3"/>
          <p:cNvSpPr txBox="1"/>
          <p:nvPr/>
        </p:nvSpPr>
        <p:spPr>
          <a:xfrm>
            <a:off x="548640" y="621792"/>
            <a:ext cx="5760720" cy="822960"/>
          </a:xfrm>
          <a:prstGeom prst="rect">
            <a:avLst/>
          </a:prstGeom>
          <a:noFill/>
        </p:spPr>
        <p:txBody>
          <a:bodyPr wrap="square" anchor="t">
            <a:spAutoFit/>
          </a:bodyPr>
          <a:lstStyle/>
          <a:p>
            <a:pPr algn="l"/>
            <a:r>
              <a:rPr sz="2700" b="1">
                <a:solidFill>
                  <a:srgbClr val="F3EEFF"/>
                </a:solidFill>
                <a:latin typeface="Calibri"/>
              </a:rPr>
              <a:t>Cas d’utilisation — acteurs UML</a:t>
            </a:r>
          </a:p>
        </p:txBody>
      </p:sp>
      <p:sp>
        <p:nvSpPr>
          <p:cNvPr id="5" name="Rectangle 4"/>
          <p:cNvSpPr/>
          <p:nvPr/>
        </p:nvSpPr>
        <p:spPr>
          <a:xfrm>
            <a:off x="548640" y="1051560"/>
            <a:ext cx="457200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6035040" cy="2800767"/>
          </a:xfrm>
          <a:prstGeom prst="rect">
            <a:avLst/>
          </a:prstGeom>
          <a:noFill/>
        </p:spPr>
        <p:txBody>
          <a:bodyPr wrap="square">
            <a:spAutoFit/>
          </a:bodyPr>
          <a:lstStyle/>
          <a:p>
            <a:pPr>
              <a:lnSpc>
                <a:spcPct val="108000"/>
              </a:lnSpc>
              <a:spcAft>
                <a:spcPts val="1000"/>
              </a:spcAft>
            </a:pPr>
            <a:r>
              <a:rPr sz="1420" b="0">
                <a:solidFill>
                  <a:srgbClr val="F3EEFF"/>
                </a:solidFill>
                <a:latin typeface="Calibri"/>
              </a:rPr>
              <a:t>▸ Voyageur : consulte le site et peut s’inscrire
▸ Membre : hérite des actions du voyageur, puis gère son panier et ses commandes
▸ Admin : hérite des droits du membre et gère les produits et événements
▸ « include » : le paiement Stripe est appelé pour finaliser la commande
▸ Stripe est un acteur externe secondaire, placé à droite du système</a:t>
            </a:r>
          </a:p>
        </p:txBody>
      </p:sp>
      <p:sp>
        <p:nvSpPr>
          <p:cNvPr id="7" name="Rounded Rectangle 6"/>
          <p:cNvSpPr/>
          <p:nvPr/>
        </p:nvSpPr>
        <p:spPr>
          <a:xfrm>
            <a:off x="6858000" y="1371600"/>
            <a:ext cx="4846320" cy="484632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diagramme de cas d'utilisation UML]</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3 — Conception</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1" name="Image 10">
            <a:extLst>
              <a:ext uri="{FF2B5EF4-FFF2-40B4-BE49-F238E27FC236}">
                <a16:creationId xmlns:a16="http://schemas.microsoft.com/office/drawing/2014/main" id="{E46CF575-5DEC-49E6-A6F3-67B0B43EF28F}"/>
              </a:ext>
            </a:extLst>
          </p:cNvPr>
          <p:cNvPicPr>
            <a:picLocks noChangeAspect="1"/>
          </p:cNvPicPr>
          <p:nvPr/>
        </p:nvPicPr>
        <p:blipFill>
          <a:blip r:embed="rId3"/>
          <a:stretch>
            <a:fillRect/>
          </a:stretch>
        </p:blipFill>
        <p:spPr>
          <a:xfrm>
            <a:off x="6421119" y="1"/>
            <a:ext cx="5824879"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2. PRÉSENTATION DU PROJET</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Objectifs fonctionnels vs techniques</a:t>
            </a:r>
          </a:p>
        </p:txBody>
      </p:sp>
      <p:sp>
        <p:nvSpPr>
          <p:cNvPr id="5" name="Rectangle 4"/>
          <p:cNvSpPr/>
          <p:nvPr/>
        </p:nvSpPr>
        <p:spPr>
          <a:xfrm>
            <a:off x="548639" y="1051560"/>
            <a:ext cx="5823585" cy="45719"/>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5486400" cy="4846320"/>
          </a:xfrm>
          <a:prstGeom prst="rect">
            <a:avLst/>
          </a:prstGeom>
          <a:noFill/>
        </p:spPr>
        <p:txBody>
          <a:bodyPr wrap="square">
            <a:spAutoFit/>
          </a:bodyPr>
          <a:lstStyle/>
          <a:p>
            <a:pPr>
              <a:spcAft>
                <a:spcPts val="1000"/>
              </a:spcAft>
            </a:pPr>
            <a:r>
              <a:rPr sz="1500" b="1">
                <a:solidFill>
                  <a:srgbClr val="C84BE0"/>
                </a:solidFill>
                <a:latin typeface="Calibri"/>
              </a:rPr>
              <a:t>▸ Fonctionnels</a:t>
            </a:r>
          </a:p>
          <a:p>
            <a:pPr>
              <a:spcAft>
                <a:spcPts val="1000"/>
              </a:spcAft>
            </a:pPr>
            <a:r>
              <a:rPr sz="1300" b="0">
                <a:solidFill>
                  <a:srgbClr val="B6A6DA"/>
                </a:solidFill>
                <a:latin typeface="Calibri"/>
              </a:rPr>
              <a:t>   –  S'inscrire, se connecter, gérer son compte</a:t>
            </a:r>
          </a:p>
          <a:p>
            <a:pPr>
              <a:spcAft>
                <a:spcPts val="1000"/>
              </a:spcAft>
            </a:pPr>
            <a:r>
              <a:rPr sz="1300" b="0">
                <a:solidFill>
                  <a:srgbClr val="B6A6DA"/>
                </a:solidFill>
                <a:latin typeface="Calibri"/>
              </a:rPr>
              <a:t>   –  Consulter les événements du serveur (à venir / en cours / terminés)</a:t>
            </a:r>
          </a:p>
          <a:p>
            <a:pPr>
              <a:spcAft>
                <a:spcPts val="1000"/>
              </a:spcAft>
            </a:pPr>
            <a:r>
              <a:rPr sz="1300" b="0">
                <a:solidFill>
                  <a:srgbClr val="B6A6DA"/>
                </a:solidFill>
                <a:latin typeface="Calibri"/>
              </a:rPr>
              <a:t>   –  Parcourir la boutique par catégorie, choisir un type / une qualité de produit</a:t>
            </a:r>
          </a:p>
          <a:p>
            <a:pPr>
              <a:spcAft>
                <a:spcPts val="1000"/>
              </a:spcAft>
            </a:pPr>
            <a:r>
              <a:rPr sz="1300" b="0">
                <a:solidFill>
                  <a:srgbClr val="B6A6DA"/>
                </a:solidFill>
                <a:latin typeface="Calibri"/>
              </a:rPr>
              <a:t>   –  Ajouter au panier, payer en ligne via Stripe</a:t>
            </a:r>
          </a:p>
          <a:p>
            <a:pPr>
              <a:spcAft>
                <a:spcPts val="1000"/>
              </a:spcAft>
            </a:pPr>
            <a:r>
              <a:rPr sz="1300" b="0">
                <a:solidFill>
                  <a:srgbClr val="B6A6DA"/>
                </a:solidFill>
                <a:latin typeface="Calibri"/>
              </a:rPr>
              <a:t>   –  Administrer le contenu (événements, produits) en tant qu'admin</a:t>
            </a:r>
          </a:p>
        </p:txBody>
      </p:sp>
      <p:sp>
        <p:nvSpPr>
          <p:cNvPr id="7" name="TextBox 6"/>
          <p:cNvSpPr txBox="1"/>
          <p:nvPr/>
        </p:nvSpPr>
        <p:spPr>
          <a:xfrm>
            <a:off x="6217920" y="1417320"/>
            <a:ext cx="5486400" cy="4846320"/>
          </a:xfrm>
          <a:prstGeom prst="rect">
            <a:avLst/>
          </a:prstGeom>
          <a:noFill/>
        </p:spPr>
        <p:txBody>
          <a:bodyPr wrap="square">
            <a:spAutoFit/>
          </a:bodyPr>
          <a:lstStyle/>
          <a:p>
            <a:pPr>
              <a:spcAft>
                <a:spcPts val="1000"/>
              </a:spcAft>
            </a:pPr>
            <a:r>
              <a:rPr sz="1500" b="1">
                <a:solidFill>
                  <a:srgbClr val="3DE5E0"/>
                </a:solidFill>
                <a:latin typeface="Calibri"/>
              </a:rPr>
              <a:t>▸ Techniques</a:t>
            </a:r>
          </a:p>
          <a:p>
            <a:pPr>
              <a:spcAft>
                <a:spcPts val="1000"/>
              </a:spcAft>
            </a:pPr>
            <a:r>
              <a:rPr sz="1300" b="0">
                <a:solidFill>
                  <a:srgbClr val="B6A6DA"/>
                </a:solidFill>
                <a:latin typeface="Calibri"/>
              </a:rPr>
              <a:t>   –  Architecture MVC avec Symfony 7.4</a:t>
            </a:r>
          </a:p>
          <a:p>
            <a:pPr>
              <a:spcAft>
                <a:spcPts val="1000"/>
              </a:spcAft>
            </a:pPr>
            <a:r>
              <a:rPr sz="1300" b="0">
                <a:solidFill>
                  <a:srgbClr val="B6A6DA"/>
                </a:solidFill>
                <a:latin typeface="Calibri"/>
              </a:rPr>
              <a:t>   –  Modélisation Doctrine ORM (entités, relations, migrations)</a:t>
            </a:r>
          </a:p>
          <a:p>
            <a:pPr>
              <a:spcAft>
                <a:spcPts val="1000"/>
              </a:spcAft>
            </a:pPr>
            <a:r>
              <a:rPr sz="1300" b="0">
                <a:solidFill>
                  <a:srgbClr val="B6A6DA"/>
                </a:solidFill>
                <a:latin typeface="Calibri"/>
              </a:rPr>
              <a:t>   –  Sécurité applicative : rôles, CSRF, hashing, échappement Twig</a:t>
            </a:r>
          </a:p>
          <a:p>
            <a:pPr>
              <a:spcAft>
                <a:spcPts val="1000"/>
              </a:spcAft>
            </a:pPr>
            <a:r>
              <a:rPr sz="1300" b="0">
                <a:solidFill>
                  <a:srgbClr val="B6A6DA"/>
                </a:solidFill>
                <a:latin typeface="Calibri"/>
              </a:rPr>
              <a:t>   –  Intégration d'un paiement réel (Stripe Checkout)</a:t>
            </a:r>
          </a:p>
          <a:p>
            <a:pPr>
              <a:spcAft>
                <a:spcPts val="1000"/>
              </a:spcAft>
            </a:pPr>
            <a:r>
              <a:rPr sz="1300" b="0">
                <a:solidFill>
                  <a:srgbClr val="B6A6DA"/>
                </a:solidFill>
                <a:latin typeface="Calibri"/>
              </a:rPr>
              <a:t>   –  Environnement Docker reproductible (PHP-FPM, Nginx, MySQL)</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2 — Présentation du projet</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3. CONCEPTION — UX/UI</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Zoning → Wireframe → Maquette</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700" b="1">
                <a:solidFill>
                  <a:srgbClr val="F3EEFF"/>
                </a:solidFill>
                <a:latin typeface="Calibri"/>
              </a:rPr>
              <a:t>▸ Zoning : organisation des grandes zones de chaque page (header, nav, contenu, footer)</a:t>
            </a:r>
          </a:p>
          <a:p>
            <a:pPr>
              <a:spcAft>
                <a:spcPts val="1000"/>
              </a:spcAft>
            </a:pPr>
            <a:r>
              <a:rPr sz="1700" b="1">
                <a:solidFill>
                  <a:srgbClr val="F3EEFF"/>
                </a:solidFill>
                <a:latin typeface="Calibri"/>
              </a:rPr>
              <a:t>▸ Wireframe : structure low-fidelity des pages clés (accueil, boutique, panier)</a:t>
            </a:r>
          </a:p>
          <a:p>
            <a:pPr>
              <a:spcAft>
                <a:spcPts val="1000"/>
              </a:spcAft>
            </a:pPr>
            <a:r>
              <a:rPr sz="1700" b="1">
                <a:solidFill>
                  <a:srgbClr val="F3EEFF"/>
                </a:solidFill>
                <a:latin typeface="Calibri"/>
              </a:rPr>
              <a:t>▸ Maquette finale : charte graphique appliquée, thème sombre Bootswatch Vapor</a:t>
            </a:r>
          </a:p>
          <a:p>
            <a:pPr>
              <a:spcAft>
                <a:spcPts val="1000"/>
              </a:spcAft>
            </a:pPr>
            <a:r>
              <a:rPr sz="1700" b="1">
                <a:solidFill>
                  <a:srgbClr val="3DE5E0"/>
                </a:solidFill>
                <a:latin typeface="Calibri"/>
              </a:rPr>
              <a:t>▸ Choix UX : navigation simple, mise en avant des catégories produits et du statut des événements (à venir / en cours / terminé)</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3 — Conception</a:t>
            </a:r>
          </a:p>
        </p:txBody>
      </p:sp>
      <p:sp>
        <p:nvSpPr>
          <p:cNvPr id="11" name="TextBox 10"/>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3" name="Image 12">
            <a:extLst>
              <a:ext uri="{FF2B5EF4-FFF2-40B4-BE49-F238E27FC236}">
                <a16:creationId xmlns:a16="http://schemas.microsoft.com/office/drawing/2014/main" id="{FF6DC7A6-AF0F-4B7C-BB51-29A957357413}"/>
              </a:ext>
            </a:extLst>
          </p:cNvPr>
          <p:cNvPicPr>
            <a:picLocks noChangeAspect="1"/>
          </p:cNvPicPr>
          <p:nvPr/>
        </p:nvPicPr>
        <p:blipFill>
          <a:blip r:embed="rId3"/>
          <a:stretch>
            <a:fillRect/>
          </a:stretch>
        </p:blipFill>
        <p:spPr>
          <a:xfrm>
            <a:off x="4481212" y="3116861"/>
            <a:ext cx="2173370" cy="3370299"/>
          </a:xfrm>
          <a:prstGeom prst="rect">
            <a:avLst/>
          </a:prstGeom>
        </p:spPr>
      </p:pic>
      <p:pic>
        <p:nvPicPr>
          <p:cNvPr id="15" name="Image 14">
            <a:extLst>
              <a:ext uri="{FF2B5EF4-FFF2-40B4-BE49-F238E27FC236}">
                <a16:creationId xmlns:a16="http://schemas.microsoft.com/office/drawing/2014/main" id="{6F1F6502-D1C8-42D6-8EB4-998036A3CDA6}"/>
              </a:ext>
            </a:extLst>
          </p:cNvPr>
          <p:cNvPicPr>
            <a:picLocks noChangeAspect="1"/>
          </p:cNvPicPr>
          <p:nvPr/>
        </p:nvPicPr>
        <p:blipFill>
          <a:blip r:embed="rId4"/>
          <a:stretch>
            <a:fillRect/>
          </a:stretch>
        </p:blipFill>
        <p:spPr>
          <a:xfrm>
            <a:off x="699560" y="3151474"/>
            <a:ext cx="2470360" cy="3322478"/>
          </a:xfrm>
          <a:prstGeom prst="rect">
            <a:avLst/>
          </a:prstGeom>
        </p:spPr>
      </p:pic>
      <p:pic>
        <p:nvPicPr>
          <p:cNvPr id="17" name="Image 16">
            <a:extLst>
              <a:ext uri="{FF2B5EF4-FFF2-40B4-BE49-F238E27FC236}">
                <a16:creationId xmlns:a16="http://schemas.microsoft.com/office/drawing/2014/main" id="{33EA425D-867B-4169-8E0A-F4510168D96E}"/>
              </a:ext>
            </a:extLst>
          </p:cNvPr>
          <p:cNvPicPr>
            <a:picLocks noChangeAspect="1"/>
          </p:cNvPicPr>
          <p:nvPr/>
        </p:nvPicPr>
        <p:blipFill>
          <a:blip r:embed="rId5"/>
          <a:stretch>
            <a:fillRect/>
          </a:stretch>
        </p:blipFill>
        <p:spPr>
          <a:xfrm>
            <a:off x="7965875" y="2989700"/>
            <a:ext cx="2173370" cy="3624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3. CONCEPTION — BASE DE DONNÉES</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a:solidFill>
                  <a:srgbClr val="F3EEFF"/>
                </a:solidFill>
                <a:latin typeface="Calibri"/>
              </a:rPr>
              <a:t>Méthode Merise — du métier à la base MySQL</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6035040" cy="4846320"/>
          </a:xfrm>
          <a:prstGeom prst="rect">
            <a:avLst/>
          </a:prstGeom>
          <a:noFill/>
        </p:spPr>
        <p:txBody>
          <a:bodyPr wrap="square">
            <a:spAutoFit/>
          </a:bodyPr>
          <a:lstStyle/>
          <a:p>
            <a:pPr>
              <a:spcAft>
                <a:spcPts val="1000"/>
              </a:spcAft>
            </a:pPr>
            <a:r>
              <a:rPr sz="1600" b="0">
                <a:solidFill>
                  <a:srgbClr val="F3EEFF"/>
                </a:solidFill>
                <a:latin typeface="Calibri"/>
              </a:rPr>
              <a:t>▸ MCD : identifier les données métier, les associations et les cardinalités
▸ MLD : transformer les entités en tables, avec clés primaires et étrangères
▸ MPD : appliquer les types MySQL et les contraintes réelles
▸ Objectif : vérifier la cohérence de la base avant le développement</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3 — Conception</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
        <p:nvSpPr>
          <p:cNvPr id="10" name="Rounded Rectangle 9"/>
          <p:cNvSpPr/>
          <p:nvPr/>
        </p:nvSpPr>
        <p:spPr>
          <a:xfrm>
            <a:off x="6903720" y="1417320"/>
            <a:ext cx="4572000" cy="1143000"/>
          </a:xfrm>
          <a:prstGeom prst="roundRect">
            <a:avLst/>
          </a:prstGeom>
          <a:solidFill>
            <a:srgbClr val="1E0E38"/>
          </a:solidFill>
          <a:ln w="1524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0" y="1563624"/>
            <a:ext cx="960120" cy="365760"/>
          </a:xfrm>
          <a:prstGeom prst="rect">
            <a:avLst/>
          </a:prstGeom>
          <a:noFill/>
        </p:spPr>
        <p:txBody>
          <a:bodyPr wrap="square" lIns="36576" tIns="36576" rIns="36576" bIns="36576" anchor="ctr">
            <a:spAutoFit/>
          </a:bodyPr>
          <a:lstStyle/>
          <a:p>
            <a:pPr algn="l">
              <a:spcBef>
                <a:spcPts val="0"/>
              </a:spcBef>
              <a:spcAft>
                <a:spcPts val="0"/>
              </a:spcAft>
            </a:pPr>
            <a:r>
              <a:rPr sz="2200" b="1">
                <a:solidFill>
                  <a:srgbClr val="3DE5E0"/>
                </a:solidFill>
                <a:latin typeface="Calibri"/>
              </a:rPr>
              <a:t>MCD</a:t>
            </a:r>
          </a:p>
        </p:txBody>
      </p:sp>
      <p:sp>
        <p:nvSpPr>
          <p:cNvPr id="12" name="TextBox 11"/>
          <p:cNvSpPr txBox="1"/>
          <p:nvPr/>
        </p:nvSpPr>
        <p:spPr>
          <a:xfrm>
            <a:off x="8092440" y="1545336"/>
            <a:ext cx="3063240" cy="658368"/>
          </a:xfrm>
          <a:prstGeom prst="rect">
            <a:avLst/>
          </a:prstGeom>
          <a:noFill/>
        </p:spPr>
        <p:txBody>
          <a:bodyPr wrap="square" lIns="36576" tIns="36576" rIns="36576" bIns="36576" anchor="ctr">
            <a:spAutoFit/>
          </a:bodyPr>
          <a:lstStyle/>
          <a:p>
            <a:pPr algn="l">
              <a:spcBef>
                <a:spcPts val="0"/>
              </a:spcBef>
              <a:spcAft>
                <a:spcPts val="0"/>
              </a:spcAft>
            </a:pPr>
            <a:r>
              <a:rPr sz="1330" b="0">
                <a:solidFill>
                  <a:srgbClr val="F3EEFF"/>
                </a:solidFill>
                <a:latin typeface="Calibri"/>
              </a:rPr>
              <a:t>Besoins métier
Entités • associations • cardinalités</a:t>
            </a:r>
          </a:p>
        </p:txBody>
      </p:sp>
      <p:sp>
        <p:nvSpPr>
          <p:cNvPr id="13" name="Rounded Rectangle 12"/>
          <p:cNvSpPr/>
          <p:nvPr/>
        </p:nvSpPr>
        <p:spPr>
          <a:xfrm>
            <a:off x="6903720" y="2944368"/>
            <a:ext cx="4572000" cy="1143000"/>
          </a:xfrm>
          <a:prstGeom prst="roundRect">
            <a:avLst/>
          </a:prstGeom>
          <a:solidFill>
            <a:srgbClr val="1E0E38"/>
          </a:solidFill>
          <a:ln w="1524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3090672"/>
            <a:ext cx="960120" cy="365760"/>
          </a:xfrm>
          <a:prstGeom prst="rect">
            <a:avLst/>
          </a:prstGeom>
          <a:noFill/>
        </p:spPr>
        <p:txBody>
          <a:bodyPr wrap="square" lIns="36576" tIns="36576" rIns="36576" bIns="36576" anchor="ctr">
            <a:spAutoFit/>
          </a:bodyPr>
          <a:lstStyle/>
          <a:p>
            <a:pPr algn="l">
              <a:spcBef>
                <a:spcPts val="0"/>
              </a:spcBef>
              <a:spcAft>
                <a:spcPts val="0"/>
              </a:spcAft>
            </a:pPr>
            <a:r>
              <a:rPr sz="2200" b="1">
                <a:solidFill>
                  <a:srgbClr val="3DE5E0"/>
                </a:solidFill>
                <a:latin typeface="Calibri"/>
              </a:rPr>
              <a:t>MLD</a:t>
            </a:r>
          </a:p>
        </p:txBody>
      </p:sp>
      <p:sp>
        <p:nvSpPr>
          <p:cNvPr id="15" name="TextBox 14"/>
          <p:cNvSpPr txBox="1"/>
          <p:nvPr/>
        </p:nvSpPr>
        <p:spPr>
          <a:xfrm>
            <a:off x="8092440" y="3072384"/>
            <a:ext cx="3063240" cy="658368"/>
          </a:xfrm>
          <a:prstGeom prst="rect">
            <a:avLst/>
          </a:prstGeom>
          <a:noFill/>
        </p:spPr>
        <p:txBody>
          <a:bodyPr wrap="square" lIns="36576" tIns="36576" rIns="36576" bIns="36576" anchor="ctr">
            <a:spAutoFit/>
          </a:bodyPr>
          <a:lstStyle/>
          <a:p>
            <a:pPr algn="l">
              <a:spcBef>
                <a:spcPts val="0"/>
              </a:spcBef>
              <a:spcAft>
                <a:spcPts val="0"/>
              </a:spcAft>
            </a:pPr>
            <a:r>
              <a:rPr sz="1330" b="0">
                <a:solidFill>
                  <a:srgbClr val="F3EEFF"/>
                </a:solidFill>
                <a:latin typeface="Calibri"/>
              </a:rPr>
              <a:t>Structure relationnelle
Tables • PK • FK</a:t>
            </a:r>
          </a:p>
        </p:txBody>
      </p:sp>
      <p:sp>
        <p:nvSpPr>
          <p:cNvPr id="16" name="Rounded Rectangle 15"/>
          <p:cNvSpPr/>
          <p:nvPr/>
        </p:nvSpPr>
        <p:spPr>
          <a:xfrm>
            <a:off x="6903720" y="4471416"/>
            <a:ext cx="4572000" cy="1143000"/>
          </a:xfrm>
          <a:prstGeom prst="roundRect">
            <a:avLst/>
          </a:prstGeom>
          <a:solidFill>
            <a:srgbClr val="1E0E38"/>
          </a:solidFill>
          <a:ln w="1524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132320" y="4617720"/>
            <a:ext cx="960120" cy="365760"/>
          </a:xfrm>
          <a:prstGeom prst="rect">
            <a:avLst/>
          </a:prstGeom>
          <a:noFill/>
        </p:spPr>
        <p:txBody>
          <a:bodyPr wrap="square" lIns="36576" tIns="36576" rIns="36576" bIns="36576" anchor="ctr">
            <a:spAutoFit/>
          </a:bodyPr>
          <a:lstStyle/>
          <a:p>
            <a:pPr algn="l">
              <a:spcBef>
                <a:spcPts val="0"/>
              </a:spcBef>
              <a:spcAft>
                <a:spcPts val="0"/>
              </a:spcAft>
            </a:pPr>
            <a:r>
              <a:rPr sz="2200" b="1">
                <a:solidFill>
                  <a:srgbClr val="3DE5E0"/>
                </a:solidFill>
                <a:latin typeface="Calibri"/>
              </a:rPr>
              <a:t>MPD</a:t>
            </a:r>
          </a:p>
        </p:txBody>
      </p:sp>
      <p:sp>
        <p:nvSpPr>
          <p:cNvPr id="18" name="TextBox 17"/>
          <p:cNvSpPr txBox="1"/>
          <p:nvPr/>
        </p:nvSpPr>
        <p:spPr>
          <a:xfrm>
            <a:off x="8092440" y="4599431"/>
            <a:ext cx="3063240" cy="658368"/>
          </a:xfrm>
          <a:prstGeom prst="rect">
            <a:avLst/>
          </a:prstGeom>
          <a:noFill/>
        </p:spPr>
        <p:txBody>
          <a:bodyPr wrap="square" lIns="36576" tIns="36576" rIns="36576" bIns="36576" anchor="ctr">
            <a:spAutoFit/>
          </a:bodyPr>
          <a:lstStyle/>
          <a:p>
            <a:pPr algn="l">
              <a:spcBef>
                <a:spcPts val="0"/>
              </a:spcBef>
              <a:spcAft>
                <a:spcPts val="0"/>
              </a:spcAft>
            </a:pPr>
            <a:r>
              <a:rPr sz="1330" b="0">
                <a:solidFill>
                  <a:srgbClr val="F3EEFF"/>
                </a:solidFill>
                <a:latin typeface="Calibri"/>
              </a:rPr>
              <a:t>Implémentation MySQL
Types • contraintes • migrations</a:t>
            </a:r>
          </a:p>
        </p:txBody>
      </p:sp>
      <p:sp>
        <p:nvSpPr>
          <p:cNvPr id="19" name="TextBox 18"/>
          <p:cNvSpPr txBox="1"/>
          <p:nvPr/>
        </p:nvSpPr>
        <p:spPr>
          <a:xfrm>
            <a:off x="8897112" y="2624328"/>
            <a:ext cx="548640" cy="256032"/>
          </a:xfrm>
          <a:prstGeom prst="rect">
            <a:avLst/>
          </a:prstGeom>
          <a:noFill/>
        </p:spPr>
        <p:txBody>
          <a:bodyPr wrap="square" lIns="36576" tIns="36576" rIns="36576" bIns="36576" anchor="t">
            <a:spAutoFit/>
          </a:bodyPr>
          <a:lstStyle/>
          <a:p>
            <a:pPr algn="ctr">
              <a:spcBef>
                <a:spcPts val="0"/>
              </a:spcBef>
              <a:spcAft>
                <a:spcPts val="0"/>
              </a:spcAft>
            </a:pPr>
            <a:r>
              <a:rPr sz="2000" b="1">
                <a:solidFill>
                  <a:srgbClr val="C84BE0"/>
                </a:solidFill>
                <a:latin typeface="Calibri"/>
              </a:rPr>
              <a:t>↓</a:t>
            </a:r>
          </a:p>
        </p:txBody>
      </p:sp>
      <p:sp>
        <p:nvSpPr>
          <p:cNvPr id="20" name="TextBox 19"/>
          <p:cNvSpPr txBox="1"/>
          <p:nvPr/>
        </p:nvSpPr>
        <p:spPr>
          <a:xfrm>
            <a:off x="8897112" y="4151376"/>
            <a:ext cx="548640" cy="256032"/>
          </a:xfrm>
          <a:prstGeom prst="rect">
            <a:avLst/>
          </a:prstGeom>
          <a:noFill/>
        </p:spPr>
        <p:txBody>
          <a:bodyPr wrap="square" lIns="36576" tIns="36576" rIns="36576" bIns="36576" anchor="t">
            <a:spAutoFit/>
          </a:bodyPr>
          <a:lstStyle/>
          <a:p>
            <a:pPr algn="ctr">
              <a:spcBef>
                <a:spcPts val="0"/>
              </a:spcBef>
              <a:spcAft>
                <a:spcPts val="0"/>
              </a:spcAft>
            </a:pPr>
            <a:r>
              <a:rPr sz="2000" b="1">
                <a:solidFill>
                  <a:srgbClr val="C84BE0"/>
                </a:solidFill>
                <a:latin typeface="Calibr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8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83464"/>
            <a:ext cx="10972800" cy="320040"/>
          </a:xfrm>
          <a:prstGeom prst="rect">
            <a:avLst/>
          </a:prstGeom>
          <a:noFill/>
        </p:spPr>
        <p:txBody>
          <a:bodyPr wrap="square" lIns="36576" tIns="36576" rIns="36576" bIns="36576" anchor="t">
            <a:spAutoFit/>
          </a:bodyPr>
          <a:lstStyle/>
          <a:p>
            <a:pPr algn="l">
              <a:spcBef>
                <a:spcPts val="0"/>
              </a:spcBef>
              <a:spcAft>
                <a:spcPts val="0"/>
              </a:spcAft>
            </a:pPr>
            <a:r>
              <a:rPr sz="1300" b="1">
                <a:solidFill>
                  <a:srgbClr val="C84BE0"/>
                </a:solidFill>
                <a:latin typeface="Calibri"/>
              </a:rPr>
              <a:t>3. CONCEPTION — BASE DE DONNÉES</a:t>
            </a:r>
          </a:p>
        </p:txBody>
      </p:sp>
      <p:sp>
        <p:nvSpPr>
          <p:cNvPr id="4" name="TextBox 3"/>
          <p:cNvSpPr txBox="1"/>
          <p:nvPr/>
        </p:nvSpPr>
        <p:spPr>
          <a:xfrm>
            <a:off x="548640" y="576072"/>
            <a:ext cx="11064240" cy="566928"/>
          </a:xfrm>
          <a:prstGeom prst="rect">
            <a:avLst/>
          </a:prstGeom>
          <a:noFill/>
        </p:spPr>
        <p:txBody>
          <a:bodyPr wrap="square" lIns="36576" tIns="36576" rIns="36576" bIns="36576" anchor="t">
            <a:spAutoFit/>
          </a:bodyPr>
          <a:lstStyle/>
          <a:p>
            <a:pPr algn="l">
              <a:spcBef>
                <a:spcPts val="0"/>
              </a:spcBef>
              <a:spcAft>
                <a:spcPts val="0"/>
              </a:spcAft>
            </a:pPr>
            <a:r>
              <a:rPr sz="2800" b="1">
                <a:solidFill>
                  <a:srgbClr val="F3EEFF"/>
                </a:solidFill>
                <a:latin typeface="Calibri"/>
              </a:rPr>
              <a:t>MCD — Modèle Conceptuel de Données</a:t>
            </a:r>
          </a:p>
        </p:txBody>
      </p:sp>
      <p:sp>
        <p:nvSpPr>
          <p:cNvPr id="5" name="Rectangle 4"/>
          <p:cNvSpPr/>
          <p:nvPr/>
        </p:nvSpPr>
        <p:spPr>
          <a:xfrm>
            <a:off x="548640" y="1051560"/>
            <a:ext cx="2011680" cy="54864"/>
          </a:xfrm>
          <a:prstGeom prst="rect">
            <a:avLst/>
          </a:prstGeom>
          <a:solidFill>
            <a:srgbClr val="3D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37376"/>
            <a:ext cx="7315200" cy="228600"/>
          </a:xfrm>
          <a:prstGeom prst="rect">
            <a:avLst/>
          </a:prstGeom>
          <a:noFill/>
        </p:spPr>
        <p:txBody>
          <a:bodyPr wrap="square" lIns="36576" tIns="36576" rIns="36576" bIns="36576" anchor="t">
            <a:spAutoFit/>
          </a:bodyPr>
          <a:lstStyle/>
          <a:p>
            <a:pPr algn="l">
              <a:spcBef>
                <a:spcPts val="0"/>
              </a:spcBef>
              <a:spcAft>
                <a:spcPts val="0"/>
              </a:spcAft>
            </a:pPr>
            <a:r>
              <a:rPr sz="1000" b="0">
                <a:solidFill>
                  <a:srgbClr val="B6A6DA"/>
                </a:solidFill>
                <a:latin typeface="Calibri"/>
              </a:rPr>
              <a:t>Section 3 — Conception</a:t>
            </a:r>
          </a:p>
        </p:txBody>
      </p:sp>
      <p:sp>
        <p:nvSpPr>
          <p:cNvPr id="7" name="TextBox 6"/>
          <p:cNvSpPr txBox="1"/>
          <p:nvPr/>
        </p:nvSpPr>
        <p:spPr>
          <a:xfrm>
            <a:off x="10241280" y="6437376"/>
            <a:ext cx="1371600" cy="228600"/>
          </a:xfrm>
          <a:prstGeom prst="rect">
            <a:avLst/>
          </a:prstGeom>
          <a:noFill/>
        </p:spPr>
        <p:txBody>
          <a:bodyPr wrap="square" lIns="36576" tIns="36576" rIns="36576" bIns="36576" anchor="t">
            <a:spAutoFit/>
          </a:bodyPr>
          <a:lstStyle/>
          <a:p>
            <a:pPr algn="r">
              <a:spcBef>
                <a:spcPts val="0"/>
              </a:spcBef>
              <a:spcAft>
                <a:spcPts val="0"/>
              </a:spcAft>
            </a:pPr>
            <a:r>
              <a:rPr sz="1000" b="1">
                <a:solidFill>
                  <a:srgbClr val="6E559A"/>
                </a:solidFill>
                <a:latin typeface="Calibri"/>
              </a:rPr>
              <a:t>BATARK</a:t>
            </a:r>
          </a:p>
        </p:txBody>
      </p:sp>
      <p:sp>
        <p:nvSpPr>
          <p:cNvPr id="8" name="Rounded Rectangle 7"/>
          <p:cNvSpPr/>
          <p:nvPr/>
        </p:nvSpPr>
        <p:spPr>
          <a:xfrm>
            <a:off x="548640" y="1261872"/>
            <a:ext cx="11064240" cy="475488"/>
          </a:xfrm>
          <a:prstGeom prst="roundRect">
            <a:avLst/>
          </a:prstGeom>
          <a:solidFill>
            <a:srgbClr val="1E0E38"/>
          </a:solidFill>
          <a:ln w="1270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371600"/>
            <a:ext cx="10652760" cy="219456"/>
          </a:xfrm>
          <a:prstGeom prst="rect">
            <a:avLst/>
          </a:prstGeom>
          <a:noFill/>
        </p:spPr>
        <p:txBody>
          <a:bodyPr wrap="square" lIns="36576" tIns="36576" rIns="36576" bIns="36576" anchor="ctr">
            <a:spAutoFit/>
          </a:bodyPr>
          <a:lstStyle/>
          <a:p>
            <a:pPr algn="l">
              <a:spcBef>
                <a:spcPts val="0"/>
              </a:spcBef>
              <a:spcAft>
                <a:spcPts val="0"/>
              </a:spcAft>
            </a:pPr>
            <a:r>
              <a:rPr sz="1350" b="0">
                <a:solidFill>
                  <a:srgbClr val="F3EEFF"/>
                </a:solidFill>
                <a:latin typeface="Calibri"/>
              </a:rPr>
              <a:t>Le métier avant la technique : entités, associations et cardinalités.</a:t>
            </a:r>
          </a:p>
        </p:txBody>
      </p:sp>
      <p:sp>
        <p:nvSpPr>
          <p:cNvPr id="10" name="Rounded Rectangle 9"/>
          <p:cNvSpPr/>
          <p:nvPr/>
        </p:nvSpPr>
        <p:spPr>
          <a:xfrm>
            <a:off x="548640" y="1901952"/>
            <a:ext cx="11064240" cy="4315968"/>
          </a:xfrm>
          <a:prstGeom prst="roundRect">
            <a:avLst/>
          </a:prstGeom>
          <a:solidFill>
            <a:srgbClr val="F5F5F5"/>
          </a:solidFill>
          <a:ln w="1524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stretch>
            <a:fillRect/>
          </a:stretch>
        </p:blipFill>
        <p:spPr>
          <a:xfrm>
            <a:off x="935735" y="1975104"/>
            <a:ext cx="10290048" cy="41696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8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83464"/>
            <a:ext cx="10972800" cy="320040"/>
          </a:xfrm>
          <a:prstGeom prst="rect">
            <a:avLst/>
          </a:prstGeom>
          <a:noFill/>
        </p:spPr>
        <p:txBody>
          <a:bodyPr wrap="square" lIns="36576" tIns="36576" rIns="36576" bIns="36576" anchor="t">
            <a:spAutoFit/>
          </a:bodyPr>
          <a:lstStyle/>
          <a:p>
            <a:pPr algn="l">
              <a:spcBef>
                <a:spcPts val="0"/>
              </a:spcBef>
              <a:spcAft>
                <a:spcPts val="0"/>
              </a:spcAft>
            </a:pPr>
            <a:r>
              <a:rPr sz="1300" b="1">
                <a:solidFill>
                  <a:srgbClr val="C84BE0"/>
                </a:solidFill>
                <a:latin typeface="Calibri"/>
              </a:rPr>
              <a:t>3. CONCEPTION — BASE DE DONNÉES</a:t>
            </a:r>
          </a:p>
        </p:txBody>
      </p:sp>
      <p:sp>
        <p:nvSpPr>
          <p:cNvPr id="4" name="TextBox 3"/>
          <p:cNvSpPr txBox="1"/>
          <p:nvPr/>
        </p:nvSpPr>
        <p:spPr>
          <a:xfrm>
            <a:off x="548640" y="576072"/>
            <a:ext cx="11064240" cy="566928"/>
          </a:xfrm>
          <a:prstGeom prst="rect">
            <a:avLst/>
          </a:prstGeom>
          <a:noFill/>
        </p:spPr>
        <p:txBody>
          <a:bodyPr wrap="square" lIns="36576" tIns="36576" rIns="36576" bIns="36576" anchor="t">
            <a:spAutoFit/>
          </a:bodyPr>
          <a:lstStyle/>
          <a:p>
            <a:pPr algn="l">
              <a:spcBef>
                <a:spcPts val="0"/>
              </a:spcBef>
              <a:spcAft>
                <a:spcPts val="0"/>
              </a:spcAft>
            </a:pPr>
            <a:r>
              <a:rPr sz="2800" b="1">
                <a:solidFill>
                  <a:srgbClr val="F3EEFF"/>
                </a:solidFill>
                <a:latin typeface="Calibri"/>
              </a:rPr>
              <a:t>MLD — Modèle Logique de Données</a:t>
            </a:r>
          </a:p>
        </p:txBody>
      </p:sp>
      <p:sp>
        <p:nvSpPr>
          <p:cNvPr id="5" name="Rectangle 4"/>
          <p:cNvSpPr/>
          <p:nvPr/>
        </p:nvSpPr>
        <p:spPr>
          <a:xfrm>
            <a:off x="548640" y="1051560"/>
            <a:ext cx="2011680" cy="54864"/>
          </a:xfrm>
          <a:prstGeom prst="rect">
            <a:avLst/>
          </a:prstGeom>
          <a:solidFill>
            <a:srgbClr val="3D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37376"/>
            <a:ext cx="7315200" cy="228600"/>
          </a:xfrm>
          <a:prstGeom prst="rect">
            <a:avLst/>
          </a:prstGeom>
          <a:noFill/>
        </p:spPr>
        <p:txBody>
          <a:bodyPr wrap="square" lIns="36576" tIns="36576" rIns="36576" bIns="36576" anchor="t">
            <a:spAutoFit/>
          </a:bodyPr>
          <a:lstStyle/>
          <a:p>
            <a:pPr algn="l">
              <a:spcBef>
                <a:spcPts val="0"/>
              </a:spcBef>
              <a:spcAft>
                <a:spcPts val="0"/>
              </a:spcAft>
            </a:pPr>
            <a:r>
              <a:rPr sz="1000" b="0">
                <a:solidFill>
                  <a:srgbClr val="B6A6DA"/>
                </a:solidFill>
                <a:latin typeface="Calibri"/>
              </a:rPr>
              <a:t>Section 3 — Conception</a:t>
            </a:r>
          </a:p>
        </p:txBody>
      </p:sp>
      <p:sp>
        <p:nvSpPr>
          <p:cNvPr id="7" name="TextBox 6"/>
          <p:cNvSpPr txBox="1"/>
          <p:nvPr/>
        </p:nvSpPr>
        <p:spPr>
          <a:xfrm>
            <a:off x="10241280" y="6437376"/>
            <a:ext cx="1371600" cy="228600"/>
          </a:xfrm>
          <a:prstGeom prst="rect">
            <a:avLst/>
          </a:prstGeom>
          <a:noFill/>
        </p:spPr>
        <p:txBody>
          <a:bodyPr wrap="square" lIns="36576" tIns="36576" rIns="36576" bIns="36576" anchor="t">
            <a:spAutoFit/>
          </a:bodyPr>
          <a:lstStyle/>
          <a:p>
            <a:pPr algn="r">
              <a:spcBef>
                <a:spcPts val="0"/>
              </a:spcBef>
              <a:spcAft>
                <a:spcPts val="0"/>
              </a:spcAft>
            </a:pPr>
            <a:r>
              <a:rPr sz="1000" b="1">
                <a:solidFill>
                  <a:srgbClr val="6E559A"/>
                </a:solidFill>
                <a:latin typeface="Calibri"/>
              </a:rPr>
              <a:t>BATARK</a:t>
            </a:r>
          </a:p>
        </p:txBody>
      </p:sp>
      <p:sp>
        <p:nvSpPr>
          <p:cNvPr id="8" name="Rounded Rectangle 7"/>
          <p:cNvSpPr/>
          <p:nvPr/>
        </p:nvSpPr>
        <p:spPr>
          <a:xfrm>
            <a:off x="548640" y="1261872"/>
            <a:ext cx="11064240" cy="475488"/>
          </a:xfrm>
          <a:prstGeom prst="roundRect">
            <a:avLst/>
          </a:prstGeom>
          <a:solidFill>
            <a:srgbClr val="1E0E38"/>
          </a:solidFill>
          <a:ln w="1270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371600"/>
            <a:ext cx="10652760" cy="219456"/>
          </a:xfrm>
          <a:prstGeom prst="rect">
            <a:avLst/>
          </a:prstGeom>
          <a:noFill/>
        </p:spPr>
        <p:txBody>
          <a:bodyPr wrap="square" lIns="36576" tIns="36576" rIns="36576" bIns="36576" anchor="ctr">
            <a:spAutoFit/>
          </a:bodyPr>
          <a:lstStyle/>
          <a:p>
            <a:pPr algn="l">
              <a:spcBef>
                <a:spcPts val="0"/>
              </a:spcBef>
              <a:spcAft>
                <a:spcPts val="0"/>
              </a:spcAft>
            </a:pPr>
            <a:r>
              <a:rPr sz="1350" b="0">
                <a:solidFill>
                  <a:srgbClr val="F3EEFF"/>
                </a:solidFill>
                <a:latin typeface="Calibri"/>
              </a:rPr>
              <a:t>Depuis le MCD : entité → table • identifiant → clé primaire • relation 1,N → clé étrangère côté N.</a:t>
            </a:r>
          </a:p>
        </p:txBody>
      </p:sp>
      <p:sp>
        <p:nvSpPr>
          <p:cNvPr id="10" name="Rounded Rectangle 9"/>
          <p:cNvSpPr/>
          <p:nvPr/>
        </p:nvSpPr>
        <p:spPr>
          <a:xfrm>
            <a:off x="548640" y="1901952"/>
            <a:ext cx="11064240" cy="4315968"/>
          </a:xfrm>
          <a:prstGeom prst="roundRect">
            <a:avLst/>
          </a:prstGeom>
          <a:solidFill>
            <a:srgbClr val="F5F5F5"/>
          </a:solidFill>
          <a:ln w="1524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apture d'écran 2026-07-07 101929.png"/>
          <p:cNvPicPr>
            <a:picLocks noChangeAspect="1"/>
          </p:cNvPicPr>
          <p:nvPr/>
        </p:nvPicPr>
        <p:blipFill>
          <a:blip r:embed="rId3"/>
          <a:stretch>
            <a:fillRect/>
          </a:stretch>
        </p:blipFill>
        <p:spPr>
          <a:xfrm>
            <a:off x="1684575" y="1975104"/>
            <a:ext cx="8792369" cy="41696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8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83464"/>
            <a:ext cx="10972800" cy="320040"/>
          </a:xfrm>
          <a:prstGeom prst="rect">
            <a:avLst/>
          </a:prstGeom>
          <a:noFill/>
        </p:spPr>
        <p:txBody>
          <a:bodyPr wrap="square" lIns="36576" tIns="36576" rIns="36576" bIns="36576" anchor="t">
            <a:spAutoFit/>
          </a:bodyPr>
          <a:lstStyle/>
          <a:p>
            <a:pPr algn="l">
              <a:spcBef>
                <a:spcPts val="0"/>
              </a:spcBef>
              <a:spcAft>
                <a:spcPts val="0"/>
              </a:spcAft>
            </a:pPr>
            <a:r>
              <a:rPr sz="1300" b="1">
                <a:solidFill>
                  <a:srgbClr val="C84BE0"/>
                </a:solidFill>
                <a:latin typeface="Calibri"/>
              </a:rPr>
              <a:t>3. CONCEPTION — BASE DE DONNÉES</a:t>
            </a:r>
          </a:p>
        </p:txBody>
      </p:sp>
      <p:sp>
        <p:nvSpPr>
          <p:cNvPr id="4" name="TextBox 3"/>
          <p:cNvSpPr txBox="1"/>
          <p:nvPr/>
        </p:nvSpPr>
        <p:spPr>
          <a:xfrm>
            <a:off x="548640" y="576072"/>
            <a:ext cx="11064240" cy="566928"/>
          </a:xfrm>
          <a:prstGeom prst="rect">
            <a:avLst/>
          </a:prstGeom>
          <a:noFill/>
        </p:spPr>
        <p:txBody>
          <a:bodyPr wrap="square" lIns="36576" tIns="36576" rIns="36576" bIns="36576" anchor="t">
            <a:spAutoFit/>
          </a:bodyPr>
          <a:lstStyle/>
          <a:p>
            <a:pPr algn="l">
              <a:spcBef>
                <a:spcPts val="0"/>
              </a:spcBef>
              <a:spcAft>
                <a:spcPts val="0"/>
              </a:spcAft>
            </a:pPr>
            <a:r>
              <a:rPr sz="2800" b="1">
                <a:solidFill>
                  <a:srgbClr val="F3EEFF"/>
                </a:solidFill>
                <a:latin typeface="Calibri"/>
              </a:rPr>
              <a:t>MPD — Modèle Physique de Données</a:t>
            </a:r>
          </a:p>
        </p:txBody>
      </p:sp>
      <p:sp>
        <p:nvSpPr>
          <p:cNvPr id="5" name="Rectangle 4"/>
          <p:cNvSpPr/>
          <p:nvPr/>
        </p:nvSpPr>
        <p:spPr>
          <a:xfrm>
            <a:off x="548640" y="1051560"/>
            <a:ext cx="2011680" cy="54864"/>
          </a:xfrm>
          <a:prstGeom prst="rect">
            <a:avLst/>
          </a:prstGeom>
          <a:solidFill>
            <a:srgbClr val="3D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37376"/>
            <a:ext cx="7315200" cy="228600"/>
          </a:xfrm>
          <a:prstGeom prst="rect">
            <a:avLst/>
          </a:prstGeom>
          <a:noFill/>
        </p:spPr>
        <p:txBody>
          <a:bodyPr wrap="square" lIns="36576" tIns="36576" rIns="36576" bIns="36576" anchor="t">
            <a:spAutoFit/>
          </a:bodyPr>
          <a:lstStyle/>
          <a:p>
            <a:pPr algn="l">
              <a:spcBef>
                <a:spcPts val="0"/>
              </a:spcBef>
              <a:spcAft>
                <a:spcPts val="0"/>
              </a:spcAft>
            </a:pPr>
            <a:r>
              <a:rPr sz="1000" b="0">
                <a:solidFill>
                  <a:srgbClr val="B6A6DA"/>
                </a:solidFill>
                <a:latin typeface="Calibri"/>
              </a:rPr>
              <a:t>Section 3 — Conception</a:t>
            </a:r>
          </a:p>
        </p:txBody>
      </p:sp>
      <p:sp>
        <p:nvSpPr>
          <p:cNvPr id="7" name="TextBox 6"/>
          <p:cNvSpPr txBox="1"/>
          <p:nvPr/>
        </p:nvSpPr>
        <p:spPr>
          <a:xfrm>
            <a:off x="10241280" y="6437376"/>
            <a:ext cx="1371600" cy="228600"/>
          </a:xfrm>
          <a:prstGeom prst="rect">
            <a:avLst/>
          </a:prstGeom>
          <a:noFill/>
        </p:spPr>
        <p:txBody>
          <a:bodyPr wrap="square" lIns="36576" tIns="36576" rIns="36576" bIns="36576" anchor="t">
            <a:spAutoFit/>
          </a:bodyPr>
          <a:lstStyle/>
          <a:p>
            <a:pPr algn="r">
              <a:spcBef>
                <a:spcPts val="0"/>
              </a:spcBef>
              <a:spcAft>
                <a:spcPts val="0"/>
              </a:spcAft>
            </a:pPr>
            <a:r>
              <a:rPr sz="1000" b="1">
                <a:solidFill>
                  <a:srgbClr val="6E559A"/>
                </a:solidFill>
                <a:latin typeface="Calibri"/>
              </a:rPr>
              <a:t>BATARK</a:t>
            </a:r>
          </a:p>
        </p:txBody>
      </p:sp>
      <p:sp>
        <p:nvSpPr>
          <p:cNvPr id="8" name="Rounded Rectangle 7"/>
          <p:cNvSpPr/>
          <p:nvPr/>
        </p:nvSpPr>
        <p:spPr>
          <a:xfrm>
            <a:off x="548640" y="1261872"/>
            <a:ext cx="11064240" cy="475488"/>
          </a:xfrm>
          <a:prstGeom prst="roundRect">
            <a:avLst/>
          </a:prstGeom>
          <a:solidFill>
            <a:srgbClr val="1E0E38"/>
          </a:solidFill>
          <a:ln w="1270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371600"/>
            <a:ext cx="10652760" cy="219456"/>
          </a:xfrm>
          <a:prstGeom prst="rect">
            <a:avLst/>
          </a:prstGeom>
          <a:noFill/>
        </p:spPr>
        <p:txBody>
          <a:bodyPr wrap="square" lIns="36576" tIns="36576" rIns="36576" bIns="36576" anchor="ctr">
            <a:spAutoFit/>
          </a:bodyPr>
          <a:lstStyle/>
          <a:p>
            <a:pPr algn="l">
              <a:spcBef>
                <a:spcPts val="0"/>
              </a:spcBef>
              <a:spcAft>
                <a:spcPts val="0"/>
              </a:spcAft>
            </a:pPr>
            <a:r>
              <a:rPr sz="1350" b="0">
                <a:solidFill>
                  <a:srgbClr val="F3EEFF"/>
                </a:solidFill>
                <a:latin typeface="Calibri"/>
              </a:rPr>
              <a:t>Depuis le MLD : ajout des types SQL et des contraintes, puis génération par Doctrine et les migrations.</a:t>
            </a:r>
          </a:p>
        </p:txBody>
      </p:sp>
      <p:sp>
        <p:nvSpPr>
          <p:cNvPr id="10" name="Rounded Rectangle 9"/>
          <p:cNvSpPr/>
          <p:nvPr/>
        </p:nvSpPr>
        <p:spPr>
          <a:xfrm>
            <a:off x="548640" y="1901952"/>
            <a:ext cx="11064240" cy="4315968"/>
          </a:xfrm>
          <a:prstGeom prst="roundRect">
            <a:avLst/>
          </a:prstGeom>
          <a:solidFill>
            <a:srgbClr val="F5F5F5"/>
          </a:solidFill>
          <a:ln w="1524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PD MYSQL.png"/>
          <p:cNvPicPr>
            <a:picLocks noChangeAspect="1"/>
          </p:cNvPicPr>
          <p:nvPr/>
        </p:nvPicPr>
        <p:blipFill>
          <a:blip r:embed="rId3"/>
          <a:stretch>
            <a:fillRect/>
          </a:stretch>
        </p:blipFill>
        <p:spPr>
          <a:xfrm>
            <a:off x="1715795" y="1975104"/>
            <a:ext cx="8729928" cy="41696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2743200" cy="2011680"/>
          </a:xfrm>
          <a:prstGeom prst="rect">
            <a:avLst/>
          </a:prstGeom>
          <a:noFill/>
        </p:spPr>
        <p:txBody>
          <a:bodyPr wrap="square" anchor="t">
            <a:spAutoFit/>
          </a:bodyPr>
          <a:lstStyle/>
          <a:p>
            <a:pPr algn="l"/>
            <a:r>
              <a:rPr sz="14000" b="1" i="0">
                <a:solidFill>
                  <a:srgbClr val="351C5C"/>
                </a:solidFill>
                <a:latin typeface="Calibri"/>
              </a:rPr>
              <a:t>4</a:t>
            </a:r>
          </a:p>
        </p:txBody>
      </p:sp>
      <p:sp>
        <p:nvSpPr>
          <p:cNvPr id="4" name="TextBox 3"/>
          <p:cNvSpPr txBox="1"/>
          <p:nvPr/>
        </p:nvSpPr>
        <p:spPr>
          <a:xfrm>
            <a:off x="3108960" y="2286000"/>
            <a:ext cx="8412480" cy="822960"/>
          </a:xfrm>
          <a:prstGeom prst="rect">
            <a:avLst/>
          </a:prstGeom>
          <a:noFill/>
        </p:spPr>
        <p:txBody>
          <a:bodyPr wrap="square" anchor="t">
            <a:spAutoFit/>
          </a:bodyPr>
          <a:lstStyle/>
          <a:p>
            <a:pPr algn="l"/>
            <a:r>
              <a:rPr sz="3800" b="1" i="0">
                <a:solidFill>
                  <a:srgbClr val="F3EEFF"/>
                </a:solidFill>
                <a:latin typeface="Calibri"/>
              </a:rPr>
              <a:t>Mise en place du projet</a:t>
            </a:r>
          </a:p>
        </p:txBody>
      </p:sp>
      <p:sp>
        <p:nvSpPr>
          <p:cNvPr id="5" name="TextBox 4"/>
          <p:cNvSpPr txBox="1"/>
          <p:nvPr/>
        </p:nvSpPr>
        <p:spPr>
          <a:xfrm>
            <a:off x="3154680" y="2971800"/>
            <a:ext cx="8412480" cy="457200"/>
          </a:xfrm>
          <a:prstGeom prst="rect">
            <a:avLst/>
          </a:prstGeom>
          <a:noFill/>
        </p:spPr>
        <p:txBody>
          <a:bodyPr wrap="square" anchor="t">
            <a:spAutoFit/>
          </a:bodyPr>
          <a:lstStyle/>
          <a:p>
            <a:pPr algn="l"/>
            <a:r>
              <a:rPr sz="1600" b="0" i="1">
                <a:solidFill>
                  <a:srgbClr val="3DE5E0"/>
                </a:solidFill>
                <a:latin typeface="Calibri"/>
              </a:rPr>
              <a:t>≈ 4 minutes</a:t>
            </a:r>
          </a:p>
        </p:txBody>
      </p:sp>
      <p:sp>
        <p:nvSpPr>
          <p:cNvPr id="6" name="Rectangle 5"/>
          <p:cNvSpPr/>
          <p:nvPr/>
        </p:nvSpPr>
        <p:spPr>
          <a:xfrm>
            <a:off x="3154680" y="3520440"/>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3794760"/>
            <a:ext cx="8046720" cy="2377440"/>
          </a:xfrm>
          <a:prstGeom prst="rect">
            <a:avLst/>
          </a:prstGeom>
          <a:noFill/>
        </p:spPr>
        <p:txBody>
          <a:bodyPr wrap="square">
            <a:spAutoFit/>
          </a:bodyPr>
          <a:lstStyle/>
          <a:p>
            <a:pPr>
              <a:spcAft>
                <a:spcPts val="1000"/>
              </a:spcAft>
            </a:pPr>
            <a:r>
              <a:rPr sz="1600" b="1">
                <a:solidFill>
                  <a:srgbClr val="F3EEFF"/>
                </a:solidFill>
                <a:latin typeface="Calibri"/>
              </a:rPr>
              <a:t>▸ Gestion de projet (Jira)</a:t>
            </a:r>
          </a:p>
          <a:p>
            <a:pPr>
              <a:spcAft>
                <a:spcPts val="1000"/>
              </a:spcAft>
            </a:pPr>
            <a:r>
              <a:rPr sz="1600" b="1">
                <a:solidFill>
                  <a:srgbClr val="F3EEFF"/>
                </a:solidFill>
                <a:latin typeface="Calibri"/>
              </a:rPr>
              <a:t>▸ Environnement Docker</a:t>
            </a:r>
          </a:p>
          <a:p>
            <a:pPr>
              <a:spcAft>
                <a:spcPts val="1000"/>
              </a:spcAft>
            </a:pPr>
            <a:r>
              <a:rPr sz="1600" b="1">
                <a:solidFill>
                  <a:srgbClr val="F3EEFF"/>
                </a:solidFill>
                <a:latin typeface="Calibri"/>
              </a:rPr>
              <a:t>▸ GitHub : branches &amp; commits</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4. MISE EN PLACE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Gestion de projet — Jira (Kanban)</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6400800" cy="4846320"/>
          </a:xfrm>
          <a:prstGeom prst="rect">
            <a:avLst/>
          </a:prstGeom>
          <a:noFill/>
        </p:spPr>
        <p:txBody>
          <a:bodyPr wrap="square">
            <a:spAutoFit/>
          </a:bodyPr>
          <a:lstStyle/>
          <a:p>
            <a:pPr>
              <a:spcAft>
                <a:spcPts val="1000"/>
              </a:spcAft>
            </a:pPr>
            <a:r>
              <a:rPr sz="1700" b="1">
                <a:solidFill>
                  <a:srgbClr val="F3EEFF"/>
                </a:solidFill>
                <a:latin typeface="Calibri"/>
              </a:rPr>
              <a:t>▸ Méthode Kanban : colonnes À faire / En cours / Terminé</a:t>
            </a:r>
          </a:p>
          <a:p>
            <a:pPr>
              <a:spcAft>
                <a:spcPts val="1000"/>
              </a:spcAft>
            </a:pPr>
            <a:r>
              <a:rPr sz="1700" b="1">
                <a:solidFill>
                  <a:srgbClr val="F3EEFF"/>
                </a:solidFill>
                <a:latin typeface="Calibri"/>
              </a:rPr>
              <a:t>▸ Tickets découpés par fonctionnalité (ex : authentification, panier, paiement Stripe, espace admin)</a:t>
            </a:r>
          </a:p>
          <a:p>
            <a:pPr>
              <a:spcAft>
                <a:spcPts val="1000"/>
              </a:spcAft>
            </a:pPr>
            <a:r>
              <a:rPr sz="1700" b="1">
                <a:solidFill>
                  <a:srgbClr val="F3EEFF"/>
                </a:solidFill>
                <a:latin typeface="Calibri"/>
              </a:rPr>
              <a:t>▸ Priorisation des fonctionnalités cœur de métier (compte, boutique) avant les à-côtés</a:t>
            </a:r>
          </a:p>
          <a:p>
            <a:pPr>
              <a:spcAft>
                <a:spcPts val="1000"/>
              </a:spcAft>
            </a:pPr>
            <a:r>
              <a:rPr sz="1700" b="1">
                <a:solidFill>
                  <a:srgbClr val="C84BE0"/>
                </a:solidFill>
                <a:latin typeface="Calibri"/>
              </a:rPr>
              <a:t>▸ [À COMPLÉTER : détails spécifiques de votre board / sprints]</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4 — Mise en place</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1" name="Image 10">
            <a:extLst>
              <a:ext uri="{FF2B5EF4-FFF2-40B4-BE49-F238E27FC236}">
                <a16:creationId xmlns:a16="http://schemas.microsoft.com/office/drawing/2014/main" id="{7BE77DAB-A65E-4D05-9B01-FBAEEBDD695B}"/>
              </a:ext>
            </a:extLst>
          </p:cNvPr>
          <p:cNvPicPr>
            <a:picLocks noChangeAspect="1"/>
          </p:cNvPicPr>
          <p:nvPr/>
        </p:nvPicPr>
        <p:blipFill>
          <a:blip r:embed="rId3"/>
          <a:stretch>
            <a:fillRect/>
          </a:stretch>
        </p:blipFill>
        <p:spPr>
          <a:xfrm>
            <a:off x="295696" y="2987040"/>
            <a:ext cx="10631384" cy="351040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4. MISE EN PLACE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Environnement Docker</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6035040" cy="4846320"/>
          </a:xfrm>
          <a:prstGeom prst="rect">
            <a:avLst/>
          </a:prstGeom>
          <a:noFill/>
        </p:spPr>
        <p:txBody>
          <a:bodyPr wrap="square">
            <a:spAutoFit/>
          </a:bodyPr>
          <a:lstStyle/>
          <a:p>
            <a:pPr>
              <a:spcAft>
                <a:spcPts val="1000"/>
              </a:spcAft>
            </a:pPr>
            <a:r>
              <a:rPr sz="1500" b="1">
                <a:solidFill>
                  <a:srgbClr val="3DE5E0"/>
                </a:solidFill>
                <a:latin typeface="Calibri"/>
              </a:rPr>
              <a:t>▸ Services déclarés dans docker-compose.yml :</a:t>
            </a:r>
          </a:p>
          <a:p>
            <a:pPr>
              <a:spcAft>
                <a:spcPts val="1000"/>
              </a:spcAft>
            </a:pPr>
            <a:r>
              <a:rPr sz="1300" b="0">
                <a:solidFill>
                  <a:srgbClr val="B6A6DA"/>
                </a:solidFill>
                <a:latin typeface="Calibri"/>
              </a:rPr>
              <a:t>   –  php : conteneur PHP-FPM 8.2 (Alpine) qui exécute l'application Symfony</a:t>
            </a:r>
          </a:p>
          <a:p>
            <a:pPr>
              <a:spcAft>
                <a:spcPts val="1000"/>
              </a:spcAft>
            </a:pPr>
            <a:r>
              <a:rPr sz="1300" b="0">
                <a:solidFill>
                  <a:srgbClr val="B6A6DA"/>
                </a:solidFill>
                <a:latin typeface="Calibri"/>
              </a:rPr>
              <a:t>   –  nginx : reverse-proxy qui sert l'application sur le port 8080</a:t>
            </a:r>
          </a:p>
          <a:p>
            <a:pPr>
              <a:spcAft>
                <a:spcPts val="1000"/>
              </a:spcAft>
            </a:pPr>
            <a:r>
              <a:rPr sz="1300" b="0">
                <a:solidFill>
                  <a:srgbClr val="B6A6DA"/>
                </a:solidFill>
                <a:latin typeface="Calibri"/>
              </a:rPr>
              <a:t>   –  mysql : MySQL 8.0, base de données 'batark'</a:t>
            </a:r>
          </a:p>
          <a:p>
            <a:pPr>
              <a:spcAft>
                <a:spcPts val="1000"/>
              </a:spcAft>
            </a:pPr>
            <a:r>
              <a:rPr sz="1300" b="0">
                <a:solidFill>
                  <a:srgbClr val="B6A6DA"/>
                </a:solidFill>
                <a:latin typeface="Calibri"/>
              </a:rPr>
              <a:t>   –  phpmyadmin : interface d'administration de la base sur le port 8081</a:t>
            </a:r>
          </a:p>
          <a:p>
            <a:pPr>
              <a:spcAft>
                <a:spcPts val="1000"/>
              </a:spcAft>
            </a:pPr>
            <a:r>
              <a:rPr sz="1500" b="1">
                <a:solidFill>
                  <a:srgbClr val="3DE5E0"/>
                </a:solidFill>
                <a:latin typeface="Calibri"/>
              </a:rPr>
              <a:t>▸ Pourquoi Docker : environnement reproductible, isolé, identique pour toute l'équipe, sans dépendre des versions installées localement</a:t>
            </a:r>
          </a:p>
        </p:txBody>
      </p:sp>
      <p:sp>
        <p:nvSpPr>
          <p:cNvPr id="7" name="Rounded Rectangle 6"/>
          <p:cNvSpPr/>
          <p:nvPr/>
        </p:nvSpPr>
        <p:spPr>
          <a:xfrm>
            <a:off x="6858000" y="1371600"/>
            <a:ext cx="4846320" cy="310896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services:</a:t>
            </a:r>
          </a:p>
          <a:p>
            <a:r>
              <a:rPr sz="1350">
                <a:solidFill>
                  <a:srgbClr val="3DE5E0"/>
                </a:solidFill>
                <a:latin typeface="Consolas"/>
              </a:rPr>
              <a:t>  php:        # PHP-FPM 8.2 Alpine + Symfony</a:t>
            </a:r>
          </a:p>
          <a:p>
            <a:r>
              <a:rPr sz="1350">
                <a:solidFill>
                  <a:srgbClr val="3DE5E0"/>
                </a:solidFill>
                <a:latin typeface="Consolas"/>
              </a:rPr>
              <a:t>  nginx:      # reverse-proxy : 8080</a:t>
            </a:r>
          </a:p>
          <a:p>
            <a:r>
              <a:rPr sz="1350">
                <a:solidFill>
                  <a:srgbClr val="3DE5E0"/>
                </a:solidFill>
                <a:latin typeface="Consolas"/>
              </a:rPr>
              <a:t>  mysql:      # MySQL 8.0 (batark)</a:t>
            </a:r>
          </a:p>
          <a:p>
            <a:r>
              <a:rPr sz="1350">
                <a:solidFill>
                  <a:srgbClr val="3DE5E0"/>
                </a:solidFill>
                <a:latin typeface="Consolas"/>
              </a:rPr>
              <a:t>  phpmyadmin: # admin BDD : 8081</a:t>
            </a:r>
          </a:p>
        </p:txBody>
      </p:sp>
      <p:sp>
        <p:nvSpPr>
          <p:cNvPr id="8" name="Rounded Rectangle 7"/>
          <p:cNvSpPr/>
          <p:nvPr/>
        </p:nvSpPr>
        <p:spPr>
          <a:xfrm>
            <a:off x="6858000" y="4663440"/>
            <a:ext cx="4846320" cy="155448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capture docker-compose.yml / docker ps]</a:t>
            </a:r>
          </a:p>
        </p:txBody>
      </p:sp>
      <p:sp>
        <p:nvSpPr>
          <p:cNvPr id="9" name="TextBox 8"/>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4 — Mise en place</a:t>
            </a:r>
          </a:p>
        </p:txBody>
      </p:sp>
      <p:sp>
        <p:nvSpPr>
          <p:cNvPr id="10" name="TextBox 9"/>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2" name="Image 11">
            <a:extLst>
              <a:ext uri="{FF2B5EF4-FFF2-40B4-BE49-F238E27FC236}">
                <a16:creationId xmlns:a16="http://schemas.microsoft.com/office/drawing/2014/main" id="{14A517FA-EDF5-484C-8DAA-CA8508A1F4FE}"/>
              </a:ext>
            </a:extLst>
          </p:cNvPr>
          <p:cNvPicPr>
            <a:picLocks noChangeAspect="1"/>
          </p:cNvPicPr>
          <p:nvPr/>
        </p:nvPicPr>
        <p:blipFill>
          <a:blip r:embed="rId3"/>
          <a:stretch>
            <a:fillRect/>
          </a:stretch>
        </p:blipFill>
        <p:spPr>
          <a:xfrm>
            <a:off x="6498718" y="569469"/>
            <a:ext cx="5251322" cy="57190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4. MISE EN PLACE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GitHub — branches &amp; commits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600" b="1">
                <a:solidFill>
                  <a:srgbClr val="F3EEFF"/>
                </a:solidFill>
                <a:latin typeface="Calibri"/>
              </a:rPr>
              <a:t>▸ Une branche par fonctionnalité : feature/login-register, feature/events, feature/admin, feature/shop, puis refactor</a:t>
            </a:r>
          </a:p>
          <a:p>
            <a:pPr>
              <a:spcAft>
                <a:spcPts val="1000"/>
              </a:spcAft>
            </a:pPr>
            <a:r>
              <a:rPr sz="1600" b="1">
                <a:solidFill>
                  <a:srgbClr val="F3EEFF"/>
                </a:solidFill>
                <a:latin typeface="Calibri"/>
              </a:rPr>
              <a:t>▸ Commits préfixés par type : feature/..., refactor:, fix:</a:t>
            </a:r>
          </a:p>
          <a:p>
            <a:pPr>
              <a:spcAft>
                <a:spcPts val="1000"/>
              </a:spcAft>
            </a:pPr>
            <a:r>
              <a:rPr sz="1600" b="1">
                <a:solidFill>
                  <a:srgbClr val="F3EEFF"/>
                </a:solidFill>
                <a:latin typeface="Calibri"/>
              </a:rPr>
              <a:t>▸ Fusion progressive vers main au fil de l'avancement</a:t>
            </a:r>
          </a:p>
        </p:txBody>
      </p:sp>
      <p:sp>
        <p:nvSpPr>
          <p:cNvPr id="7" name="Rounded Rectangle 6"/>
          <p:cNvSpPr/>
          <p:nvPr/>
        </p:nvSpPr>
        <p:spPr>
          <a:xfrm>
            <a:off x="548640" y="3291840"/>
            <a:ext cx="10789920" cy="265176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dirty="0">
                <a:solidFill>
                  <a:srgbClr val="3DE5E0"/>
                </a:solidFill>
                <a:latin typeface="Consolas"/>
              </a:rPr>
              <a:t>feature/shop: stripe payment</a:t>
            </a:r>
          </a:p>
          <a:p>
            <a:r>
              <a:rPr sz="1350" dirty="0">
                <a:solidFill>
                  <a:srgbClr val="3DE5E0"/>
                </a:solidFill>
                <a:latin typeface="Consolas"/>
              </a:rPr>
              <a:t>feature/shop: shop pages</a:t>
            </a:r>
          </a:p>
          <a:p>
            <a:r>
              <a:rPr sz="1350" dirty="0">
                <a:solidFill>
                  <a:srgbClr val="3DE5E0"/>
                </a:solidFill>
                <a:latin typeface="Consolas"/>
              </a:rPr>
              <a:t>feature/events: add-</a:t>
            </a:r>
            <a:r>
              <a:rPr sz="1350" dirty="0" err="1">
                <a:solidFill>
                  <a:srgbClr val="3DE5E0"/>
                </a:solidFill>
                <a:latin typeface="Consolas"/>
              </a:rPr>
              <a:t>endDate</a:t>
            </a:r>
            <a:r>
              <a:rPr sz="1350" dirty="0">
                <a:solidFill>
                  <a:srgbClr val="3DE5E0"/>
                </a:solidFill>
                <a:latin typeface="Consolas"/>
              </a:rPr>
              <a:t>-</a:t>
            </a:r>
            <a:r>
              <a:rPr sz="1350" dirty="0" err="1">
                <a:solidFill>
                  <a:srgbClr val="3DE5E0"/>
                </a:solidFill>
                <a:latin typeface="Consolas"/>
              </a:rPr>
              <a:t>eventType</a:t>
            </a:r>
            <a:endParaRPr sz="1350" dirty="0">
              <a:solidFill>
                <a:srgbClr val="3DE5E0"/>
              </a:solidFill>
              <a:latin typeface="Consolas"/>
            </a:endParaRPr>
          </a:p>
          <a:p>
            <a:r>
              <a:rPr sz="1350" dirty="0">
                <a:solidFill>
                  <a:srgbClr val="3DE5E0"/>
                </a:solidFill>
                <a:latin typeface="Consolas"/>
              </a:rPr>
              <a:t>feature/login-register: registration-form-user</a:t>
            </a:r>
          </a:p>
          <a:p>
            <a:r>
              <a:rPr sz="1350" dirty="0">
                <a:solidFill>
                  <a:srgbClr val="3DE5E0"/>
                </a:solidFill>
                <a:latin typeface="Consolas"/>
              </a:rPr>
              <a:t>refactor: category badges and product title in column in product show</a:t>
            </a:r>
          </a:p>
          <a:p>
            <a:r>
              <a:rPr sz="1350" dirty="0">
                <a:solidFill>
                  <a:srgbClr val="3DE5E0"/>
                </a:solidFill>
                <a:latin typeface="Consolas"/>
              </a:rPr>
              <a:t>refactor: add flash login</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4 — Mise en place</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2743200" cy="2011680"/>
          </a:xfrm>
          <a:prstGeom prst="rect">
            <a:avLst/>
          </a:prstGeom>
          <a:noFill/>
        </p:spPr>
        <p:txBody>
          <a:bodyPr wrap="square" anchor="t">
            <a:spAutoFit/>
          </a:bodyPr>
          <a:lstStyle/>
          <a:p>
            <a:pPr algn="l"/>
            <a:r>
              <a:rPr sz="14000" b="1" i="0">
                <a:solidFill>
                  <a:srgbClr val="351C5C"/>
                </a:solidFill>
                <a:latin typeface="Calibri"/>
              </a:rPr>
              <a:t>5</a:t>
            </a:r>
          </a:p>
        </p:txBody>
      </p:sp>
      <p:sp>
        <p:nvSpPr>
          <p:cNvPr id="4" name="TextBox 3"/>
          <p:cNvSpPr txBox="1"/>
          <p:nvPr/>
        </p:nvSpPr>
        <p:spPr>
          <a:xfrm>
            <a:off x="3108960" y="2286000"/>
            <a:ext cx="8412480" cy="822960"/>
          </a:xfrm>
          <a:prstGeom prst="rect">
            <a:avLst/>
          </a:prstGeom>
          <a:noFill/>
        </p:spPr>
        <p:txBody>
          <a:bodyPr wrap="square" anchor="t">
            <a:spAutoFit/>
          </a:bodyPr>
          <a:lstStyle/>
          <a:p>
            <a:pPr algn="l"/>
            <a:r>
              <a:rPr sz="3800" b="1" i="0">
                <a:solidFill>
                  <a:srgbClr val="F3EEFF"/>
                </a:solidFill>
                <a:latin typeface="Calibri"/>
              </a:rPr>
              <a:t>Présentation côté utilisateur</a:t>
            </a:r>
          </a:p>
        </p:txBody>
      </p:sp>
      <p:sp>
        <p:nvSpPr>
          <p:cNvPr id="5" name="TextBox 4"/>
          <p:cNvSpPr txBox="1"/>
          <p:nvPr/>
        </p:nvSpPr>
        <p:spPr>
          <a:xfrm>
            <a:off x="3154680" y="2971800"/>
            <a:ext cx="8412480" cy="457200"/>
          </a:xfrm>
          <a:prstGeom prst="rect">
            <a:avLst/>
          </a:prstGeom>
          <a:noFill/>
        </p:spPr>
        <p:txBody>
          <a:bodyPr wrap="square" anchor="t">
            <a:spAutoFit/>
          </a:bodyPr>
          <a:lstStyle/>
          <a:p>
            <a:pPr algn="l"/>
            <a:r>
              <a:rPr sz="1600" b="0" i="1">
                <a:solidFill>
                  <a:srgbClr val="3DE5E0"/>
                </a:solidFill>
                <a:latin typeface="Calibri"/>
              </a:rPr>
              <a:t>≈ 6 minutes</a:t>
            </a:r>
          </a:p>
        </p:txBody>
      </p:sp>
      <p:sp>
        <p:nvSpPr>
          <p:cNvPr id="6" name="Rectangle 5"/>
          <p:cNvSpPr/>
          <p:nvPr/>
        </p:nvSpPr>
        <p:spPr>
          <a:xfrm>
            <a:off x="3154680" y="3520440"/>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3794760"/>
            <a:ext cx="8046720" cy="2377440"/>
          </a:xfrm>
          <a:prstGeom prst="rect">
            <a:avLst/>
          </a:prstGeom>
          <a:noFill/>
        </p:spPr>
        <p:txBody>
          <a:bodyPr wrap="square">
            <a:spAutoFit/>
          </a:bodyPr>
          <a:lstStyle/>
          <a:p>
            <a:pPr>
              <a:spcAft>
                <a:spcPts val="1000"/>
              </a:spcAft>
            </a:pPr>
            <a:r>
              <a:rPr sz="1600" b="1">
                <a:solidFill>
                  <a:srgbClr val="F3EEFF"/>
                </a:solidFill>
                <a:latin typeface="Calibri"/>
              </a:rPr>
              <a:t>▸ Démonstration live</a:t>
            </a:r>
          </a:p>
          <a:p>
            <a:pPr>
              <a:spcAft>
                <a:spcPts val="1000"/>
              </a:spcAft>
            </a:pPr>
            <a:r>
              <a:rPr sz="1600" b="1">
                <a:solidFill>
                  <a:srgbClr val="F3EEFF"/>
                </a:solidFill>
                <a:latin typeface="Calibri"/>
              </a:rPr>
              <a:t>▸ Responsive</a:t>
            </a:r>
          </a:p>
          <a:p>
            <a:pPr>
              <a:spcAft>
                <a:spcPts val="1000"/>
              </a:spcAft>
            </a:pPr>
            <a:r>
              <a:rPr sz="1600" b="1">
                <a:solidFill>
                  <a:srgbClr val="F3EEFF"/>
                </a:solidFill>
                <a:latin typeface="Calibri"/>
              </a:rPr>
              <a:t>▸ Validation des formulaires</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5. CÔTÉ UTILISATEUR</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Parcours de démonstration</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450" b="0">
                <a:solidFill>
                  <a:srgbClr val="F3EEFF"/>
                </a:solidFill>
                <a:latin typeface="Calibri"/>
              </a:rPr>
              <a:t>▸ Inscription — /register (app_register)
▸ Connexion — /login (app_login)
▸ Ajout au panier — /shop/{id} puis POST /panier/ajouter/{id}
▸ Paiement — Stripe Checkout → création de la commande
▸ Le client reçoit un code et l’envoie aux admins sur Discord pour être livré en jeu</a:t>
            </a:r>
          </a:p>
        </p:txBody>
      </p:sp>
      <p:sp>
        <p:nvSpPr>
          <p:cNvPr id="7" name="Rounded Rectangle 6"/>
          <p:cNvSpPr/>
          <p:nvPr/>
        </p:nvSpPr>
        <p:spPr>
          <a:xfrm>
            <a:off x="548640" y="4206240"/>
            <a:ext cx="10789920" cy="192024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captures écran du parcours (inscription → panier → paiement)]</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5 — Côté utilisateur</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5. CÔTÉ UTILISATEUR</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Validation des formulaires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500" b="1">
                <a:solidFill>
                  <a:srgbClr val="F3EEFF"/>
                </a:solidFill>
                <a:latin typeface="Calibri"/>
              </a:rPr>
              <a:t>▸ Côté client : types de champ HTML5 (EmailType, PasswordType) + contraintes natives du navigateur</a:t>
            </a:r>
          </a:p>
          <a:p>
            <a:pPr>
              <a:spcAft>
                <a:spcPts val="1000"/>
              </a:spcAft>
            </a:pPr>
            <a:r>
              <a:rPr sz="1500" b="1">
                <a:solidFill>
                  <a:srgbClr val="3DE5E0"/>
                </a:solidFill>
                <a:latin typeface="Calibri"/>
              </a:rPr>
              <a:t>▸ Côté serveur : contraintes Symfony Validator sur RegistrationFormType</a:t>
            </a:r>
          </a:p>
          <a:p>
            <a:pPr>
              <a:spcAft>
                <a:spcPts val="1000"/>
              </a:spcAft>
            </a:pPr>
            <a:r>
              <a:rPr sz="1300" b="0">
                <a:solidFill>
                  <a:srgbClr val="B6A6DA"/>
                </a:solidFill>
                <a:latin typeface="Calibri"/>
              </a:rPr>
              <a:t>   –  Assert\NotBlank sur pseudo, email, mot de passe</a:t>
            </a:r>
          </a:p>
          <a:p>
            <a:pPr>
              <a:spcAft>
                <a:spcPts val="1000"/>
              </a:spcAft>
            </a:pPr>
            <a:r>
              <a:rPr sz="1300" b="0">
                <a:solidFill>
                  <a:srgbClr val="B6A6DA"/>
                </a:solidFill>
                <a:latin typeface="Calibri"/>
              </a:rPr>
              <a:t>   –  Assert\Length : pseudo 3 à 50 caractères, mot de passe 12 caractères minimum</a:t>
            </a:r>
          </a:p>
          <a:p>
            <a:pPr>
              <a:spcAft>
                <a:spcPts val="1000"/>
              </a:spcAft>
            </a:pPr>
            <a:r>
              <a:rPr sz="1300" b="0">
                <a:solidFill>
                  <a:srgbClr val="B6A6DA"/>
                </a:solidFill>
                <a:latin typeface="Calibri"/>
              </a:rPr>
              <a:t>   –  Assert\Regex : mot de passe avec majuscule + chiffre + caractère spécial (recommandation CNIL)</a:t>
            </a:r>
          </a:p>
          <a:p>
            <a:pPr>
              <a:spcAft>
                <a:spcPts val="1000"/>
              </a:spcAft>
            </a:pPr>
            <a:r>
              <a:rPr sz="1500" b="1">
                <a:solidFill>
                  <a:srgbClr val="F3EEFF"/>
                </a:solidFill>
                <a:latin typeface="Calibri"/>
              </a:rPr>
              <a:t>▸ Messages d'erreur clairs affichés à l'utilisateur si le formulaire est invalide</a:t>
            </a:r>
          </a:p>
        </p:txBody>
      </p:sp>
      <p:sp>
        <p:nvSpPr>
          <p:cNvPr id="7" name="Rounded Rectangle 6"/>
          <p:cNvSpPr/>
          <p:nvPr/>
        </p:nvSpPr>
        <p:spPr>
          <a:xfrm>
            <a:off x="548640" y="5074920"/>
            <a:ext cx="10789920" cy="118872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capture des erreurs de validation à la soumission]</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5 — Côté utilisateur</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5. CÔTÉ UTILISATEUR</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Responsive</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1133644"/>
          </a:xfrm>
          <a:prstGeom prst="rect">
            <a:avLst/>
          </a:prstGeom>
          <a:noFill/>
        </p:spPr>
        <p:txBody>
          <a:bodyPr wrap="square">
            <a:spAutoFit/>
          </a:bodyPr>
          <a:lstStyle/>
          <a:p>
            <a:pPr>
              <a:spcAft>
                <a:spcPts val="1000"/>
              </a:spcAft>
            </a:pPr>
            <a:r>
              <a:rPr sz="1700" b="1" dirty="0">
                <a:solidFill>
                  <a:srgbClr val="F3EEFF"/>
                </a:solidFill>
                <a:latin typeface="Calibri"/>
              </a:rPr>
              <a:t>▸ Interface </a:t>
            </a:r>
            <a:r>
              <a:rPr sz="1700" b="1" dirty="0" err="1">
                <a:solidFill>
                  <a:srgbClr val="F3EEFF"/>
                </a:solidFill>
                <a:latin typeface="Calibri"/>
              </a:rPr>
              <a:t>construite</a:t>
            </a:r>
            <a:r>
              <a:rPr sz="1700" b="1" dirty="0">
                <a:solidFill>
                  <a:srgbClr val="F3EEFF"/>
                </a:solidFill>
                <a:latin typeface="Calibri"/>
              </a:rPr>
              <a:t> avec Bootstrap 5 (grille responsive, </a:t>
            </a:r>
            <a:r>
              <a:rPr sz="1700" b="1" dirty="0" err="1">
                <a:solidFill>
                  <a:srgbClr val="F3EEFF"/>
                </a:solidFill>
                <a:latin typeface="Calibri"/>
              </a:rPr>
              <a:t>composants</a:t>
            </a:r>
            <a:r>
              <a:rPr sz="1700" b="1" dirty="0">
                <a:solidFill>
                  <a:srgbClr val="F3EEFF"/>
                </a:solidFill>
                <a:latin typeface="Calibri"/>
              </a:rPr>
              <a:t> </a:t>
            </a:r>
            <a:r>
              <a:rPr sz="1700" b="1" dirty="0" err="1">
                <a:solidFill>
                  <a:srgbClr val="F3EEFF"/>
                </a:solidFill>
                <a:latin typeface="Calibri"/>
              </a:rPr>
              <a:t>adaptatifs</a:t>
            </a:r>
            <a:r>
              <a:rPr sz="1700" b="1" dirty="0">
                <a:solidFill>
                  <a:srgbClr val="F3EEFF"/>
                </a:solidFill>
                <a:latin typeface="Calibri"/>
              </a:rPr>
              <a:t>)</a:t>
            </a:r>
          </a:p>
          <a:p>
            <a:pPr>
              <a:spcAft>
                <a:spcPts val="1000"/>
              </a:spcAft>
            </a:pPr>
            <a:r>
              <a:rPr sz="1700" b="1" dirty="0">
                <a:solidFill>
                  <a:srgbClr val="F3EEFF"/>
                </a:solidFill>
                <a:latin typeface="Calibri"/>
              </a:rPr>
              <a:t>▸ </a:t>
            </a:r>
            <a:r>
              <a:rPr sz="1700" b="1" dirty="0" err="1">
                <a:solidFill>
                  <a:srgbClr val="F3EEFF"/>
                </a:solidFill>
                <a:latin typeface="Calibri"/>
              </a:rPr>
              <a:t>Démonstration</a:t>
            </a:r>
            <a:r>
              <a:rPr sz="1700" b="1" dirty="0">
                <a:solidFill>
                  <a:srgbClr val="F3EEFF"/>
                </a:solidFill>
                <a:latin typeface="Calibri"/>
              </a:rPr>
              <a:t> </a:t>
            </a:r>
            <a:r>
              <a:rPr sz="1700" b="1" dirty="0" err="1">
                <a:solidFill>
                  <a:srgbClr val="F3EEFF"/>
                </a:solidFill>
                <a:latin typeface="Calibri"/>
              </a:rPr>
              <a:t>en</a:t>
            </a:r>
            <a:r>
              <a:rPr sz="1700" b="1" dirty="0">
                <a:solidFill>
                  <a:srgbClr val="F3EEFF"/>
                </a:solidFill>
                <a:latin typeface="Calibri"/>
              </a:rPr>
              <a:t> direct via les </a:t>
            </a:r>
            <a:r>
              <a:rPr sz="1700" b="1" dirty="0" err="1">
                <a:solidFill>
                  <a:srgbClr val="F3EEFF"/>
                </a:solidFill>
                <a:latin typeface="Calibri"/>
              </a:rPr>
              <a:t>DevTools</a:t>
            </a:r>
            <a:r>
              <a:rPr sz="1700" b="1" dirty="0">
                <a:solidFill>
                  <a:srgbClr val="F3EEFF"/>
                </a:solidFill>
                <a:latin typeface="Calibri"/>
              </a:rPr>
              <a:t> du </a:t>
            </a:r>
            <a:r>
              <a:rPr sz="1700" b="1" dirty="0" err="1">
                <a:solidFill>
                  <a:srgbClr val="F3EEFF"/>
                </a:solidFill>
                <a:latin typeface="Calibri"/>
              </a:rPr>
              <a:t>navigateur</a:t>
            </a:r>
            <a:r>
              <a:rPr sz="1700" b="1" dirty="0">
                <a:solidFill>
                  <a:srgbClr val="F3EEFF"/>
                </a:solidFill>
                <a:latin typeface="Calibri"/>
              </a:rPr>
              <a:t>, </a:t>
            </a:r>
            <a:r>
              <a:rPr sz="1700" b="1" dirty="0" err="1">
                <a:solidFill>
                  <a:srgbClr val="F3EEFF"/>
                </a:solidFill>
                <a:latin typeface="Calibri"/>
              </a:rPr>
              <a:t>vue</a:t>
            </a:r>
            <a:r>
              <a:rPr sz="1700" b="1" dirty="0">
                <a:solidFill>
                  <a:srgbClr val="F3EEFF"/>
                </a:solidFill>
                <a:latin typeface="Calibri"/>
              </a:rPr>
              <a:t> mobile 375px</a:t>
            </a:r>
          </a:p>
          <a:p>
            <a:pPr>
              <a:spcAft>
                <a:spcPts val="1000"/>
              </a:spcAft>
            </a:pPr>
            <a:r>
              <a:rPr sz="1700" b="1" dirty="0">
                <a:solidFill>
                  <a:srgbClr val="F3EEFF"/>
                </a:solidFill>
                <a:latin typeface="Calibri"/>
              </a:rPr>
              <a:t>▸ Navigation, boutique et </a:t>
            </a:r>
            <a:r>
              <a:rPr lang="fr-FR" sz="1700" b="1" dirty="0">
                <a:solidFill>
                  <a:srgbClr val="F3EEFF"/>
                </a:solidFill>
                <a:latin typeface="Calibri"/>
              </a:rPr>
              <a:t> </a:t>
            </a:r>
            <a:r>
              <a:rPr lang="fr-FR" sz="1700" b="1" dirty="0" err="1">
                <a:solidFill>
                  <a:srgbClr val="F3EEFF"/>
                </a:solidFill>
                <a:latin typeface="Calibri"/>
              </a:rPr>
              <a:t>event</a:t>
            </a:r>
            <a:r>
              <a:rPr sz="1700" b="1" dirty="0">
                <a:solidFill>
                  <a:srgbClr val="F3EEFF"/>
                </a:solidFill>
                <a:latin typeface="Calibri"/>
              </a:rPr>
              <a:t> sur mobile et </a:t>
            </a:r>
            <a:r>
              <a:rPr sz="1700" b="1" dirty="0" err="1">
                <a:solidFill>
                  <a:srgbClr val="F3EEFF"/>
                </a:solidFill>
                <a:latin typeface="Calibri"/>
              </a:rPr>
              <a:t>tablette</a:t>
            </a:r>
            <a:endParaRPr sz="1700" b="1" dirty="0">
              <a:solidFill>
                <a:srgbClr val="F3EEFF"/>
              </a:solidFill>
              <a:latin typeface="Calibri"/>
            </a:endParaRPr>
          </a:p>
        </p:txBody>
      </p:sp>
      <p:sp>
        <p:nvSpPr>
          <p:cNvPr id="7" name="Rounded Rectangle 6"/>
          <p:cNvSpPr/>
          <p:nvPr/>
        </p:nvSpPr>
        <p:spPr>
          <a:xfrm>
            <a:off x="548640" y="3108960"/>
            <a:ext cx="10789920" cy="301752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captures DevTools en mode responsive (375px)]</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5 — Côté utilisateur</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2743200" cy="2011680"/>
          </a:xfrm>
          <a:prstGeom prst="rect">
            <a:avLst/>
          </a:prstGeom>
          <a:noFill/>
        </p:spPr>
        <p:txBody>
          <a:bodyPr wrap="square" anchor="t">
            <a:spAutoFit/>
          </a:bodyPr>
          <a:lstStyle/>
          <a:p>
            <a:pPr algn="l"/>
            <a:r>
              <a:rPr sz="14000" b="1" i="0">
                <a:solidFill>
                  <a:srgbClr val="351C5C"/>
                </a:solidFill>
                <a:latin typeface="Calibri"/>
              </a:rPr>
              <a:t>6</a:t>
            </a:r>
          </a:p>
        </p:txBody>
      </p:sp>
      <p:sp>
        <p:nvSpPr>
          <p:cNvPr id="4" name="TextBox 3"/>
          <p:cNvSpPr txBox="1"/>
          <p:nvPr/>
        </p:nvSpPr>
        <p:spPr>
          <a:xfrm>
            <a:off x="3108960" y="2286000"/>
            <a:ext cx="8412480" cy="822960"/>
          </a:xfrm>
          <a:prstGeom prst="rect">
            <a:avLst/>
          </a:prstGeom>
          <a:noFill/>
        </p:spPr>
        <p:txBody>
          <a:bodyPr wrap="square" anchor="t">
            <a:spAutoFit/>
          </a:bodyPr>
          <a:lstStyle/>
          <a:p>
            <a:pPr algn="l"/>
            <a:r>
              <a:rPr sz="3800" b="1" i="0">
                <a:solidFill>
                  <a:srgbClr val="F3EEFF"/>
                </a:solidFill>
                <a:latin typeface="Calibri"/>
              </a:rPr>
              <a:t>Présentation technique</a:t>
            </a:r>
          </a:p>
        </p:txBody>
      </p:sp>
      <p:sp>
        <p:nvSpPr>
          <p:cNvPr id="5" name="TextBox 4"/>
          <p:cNvSpPr txBox="1"/>
          <p:nvPr/>
        </p:nvSpPr>
        <p:spPr>
          <a:xfrm>
            <a:off x="3154680" y="2971800"/>
            <a:ext cx="8412480" cy="457200"/>
          </a:xfrm>
          <a:prstGeom prst="rect">
            <a:avLst/>
          </a:prstGeom>
          <a:noFill/>
        </p:spPr>
        <p:txBody>
          <a:bodyPr wrap="square" anchor="t">
            <a:spAutoFit/>
          </a:bodyPr>
          <a:lstStyle/>
          <a:p>
            <a:pPr algn="l"/>
            <a:r>
              <a:rPr sz="1600" b="0" i="1">
                <a:solidFill>
                  <a:srgbClr val="3DE5E0"/>
                </a:solidFill>
                <a:latin typeface="Calibri"/>
              </a:rPr>
              <a:t>≈ 8 minutes — le cœur de la soutenance</a:t>
            </a:r>
          </a:p>
        </p:txBody>
      </p:sp>
      <p:sp>
        <p:nvSpPr>
          <p:cNvPr id="6" name="Rectangle 5"/>
          <p:cNvSpPr/>
          <p:nvPr/>
        </p:nvSpPr>
        <p:spPr>
          <a:xfrm>
            <a:off x="3154680" y="3520440"/>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3794760"/>
            <a:ext cx="8046720" cy="2377440"/>
          </a:xfrm>
          <a:prstGeom prst="rect">
            <a:avLst/>
          </a:prstGeom>
          <a:noFill/>
        </p:spPr>
        <p:txBody>
          <a:bodyPr wrap="square">
            <a:spAutoFit/>
          </a:bodyPr>
          <a:lstStyle/>
          <a:p>
            <a:pPr>
              <a:spcAft>
                <a:spcPts val="1000"/>
              </a:spcAft>
            </a:pPr>
            <a:r>
              <a:rPr sz="1600" b="1">
                <a:solidFill>
                  <a:srgbClr val="F3EEFF"/>
                </a:solidFill>
                <a:latin typeface="Calibri"/>
              </a:rPr>
              <a:t>▸ Architecture MVC</a:t>
            </a:r>
          </a:p>
          <a:p>
            <a:pPr>
              <a:spcAft>
                <a:spcPts val="1000"/>
              </a:spcAft>
            </a:pPr>
            <a:r>
              <a:rPr sz="1600" b="1">
                <a:solidFill>
                  <a:srgbClr val="F3EEFF"/>
                </a:solidFill>
                <a:latin typeface="Calibri"/>
              </a:rPr>
              <a:t>▸ Doctrine : entités &amp; migrations</a:t>
            </a:r>
          </a:p>
          <a:p>
            <a:pPr>
              <a:spcAft>
                <a:spcPts val="1000"/>
              </a:spcAft>
            </a:pPr>
            <a:r>
              <a:rPr sz="1600" b="1">
                <a:solidFill>
                  <a:srgbClr val="F3EEFF"/>
                </a:solidFill>
                <a:latin typeface="Calibri"/>
              </a:rPr>
              <a:t>▸ Sécurité</a:t>
            </a:r>
          </a:p>
          <a:p>
            <a:pPr>
              <a:spcAft>
                <a:spcPts val="1000"/>
              </a:spcAft>
            </a:pPr>
            <a:r>
              <a:rPr sz="1600" b="1">
                <a:solidFill>
                  <a:srgbClr val="F3EEFF"/>
                </a:solidFill>
                <a:latin typeface="Calibri"/>
              </a:rPr>
              <a:t>▸ Fonctionnalité de A à Z</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Architecture MVC</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9120" y="1422400"/>
            <a:ext cx="5943600" cy="2167260"/>
          </a:xfrm>
          <a:prstGeom prst="rect">
            <a:avLst/>
          </a:prstGeom>
          <a:noFill/>
        </p:spPr>
        <p:txBody>
          <a:bodyPr wrap="square">
            <a:spAutoFit/>
          </a:bodyPr>
          <a:lstStyle/>
          <a:p>
            <a:pPr>
              <a:spcAft>
                <a:spcPts val="1000"/>
              </a:spcAft>
            </a:pPr>
            <a:r>
              <a:rPr lang="fr-FR" sz="1450" b="1" dirty="0">
                <a:solidFill>
                  <a:srgbClr val="3DE5E0"/>
                </a:solidFill>
                <a:latin typeface="Calibri"/>
              </a:rPr>
              <a:t>▸ Route → Controller → Repository → </a:t>
            </a:r>
            <a:r>
              <a:rPr lang="fr-FR" sz="1450" b="1" dirty="0" err="1">
                <a:solidFill>
                  <a:srgbClr val="3DE5E0"/>
                </a:solidFill>
                <a:latin typeface="Calibri"/>
              </a:rPr>
              <a:t>Twig</a:t>
            </a:r>
            <a:endParaRPr lang="fr-FR" sz="1450" b="1" dirty="0">
              <a:solidFill>
                <a:srgbClr val="3DE5E0"/>
              </a:solidFill>
              <a:latin typeface="Calibri"/>
            </a:endParaRPr>
          </a:p>
          <a:p>
            <a:pPr>
              <a:spcAft>
                <a:spcPts val="1000"/>
              </a:spcAft>
            </a:pPr>
            <a:r>
              <a:rPr lang="fr-FR" sz="1450" b="1" dirty="0">
                <a:solidFill>
                  <a:srgbClr val="F3EEFF"/>
                </a:solidFill>
                <a:latin typeface="Calibri"/>
              </a:rPr>
              <a:t>▸ src/Controller/ : un contrôleur par domaine </a:t>
            </a:r>
          </a:p>
          <a:p>
            <a:pPr>
              <a:spcAft>
                <a:spcPts val="1000"/>
              </a:spcAft>
            </a:pPr>
            <a:r>
              <a:rPr lang="fr-FR" sz="1450" b="1" dirty="0">
                <a:solidFill>
                  <a:srgbClr val="F3EEFF"/>
                </a:solidFill>
                <a:latin typeface="Calibri"/>
              </a:rPr>
              <a:t>▸ src/Repository/ : accès aux données via Doctrine </a:t>
            </a:r>
          </a:p>
          <a:p>
            <a:pPr>
              <a:spcAft>
                <a:spcPts val="1000"/>
              </a:spcAft>
            </a:pPr>
            <a:r>
              <a:rPr lang="fr-FR" sz="1450" b="1" dirty="0">
                <a:solidFill>
                  <a:srgbClr val="F3EEFF"/>
                </a:solidFill>
                <a:latin typeface="Calibri"/>
              </a:rPr>
              <a:t>▸ src/</a:t>
            </a:r>
            <a:r>
              <a:rPr lang="fr-FR" sz="1450" b="1" dirty="0" err="1">
                <a:solidFill>
                  <a:srgbClr val="F3EEFF"/>
                </a:solidFill>
                <a:latin typeface="Calibri"/>
              </a:rPr>
              <a:t>Entity</a:t>
            </a:r>
            <a:r>
              <a:rPr lang="fr-FR" sz="1450" b="1" dirty="0">
                <a:solidFill>
                  <a:srgbClr val="F3EEFF"/>
                </a:solidFill>
                <a:latin typeface="Calibri"/>
              </a:rPr>
              <a:t>/ : modèle (User, Product, </a:t>
            </a:r>
            <a:r>
              <a:rPr lang="fr-FR" sz="1450" b="1" dirty="0" err="1">
                <a:solidFill>
                  <a:srgbClr val="F3EEFF"/>
                </a:solidFill>
                <a:latin typeface="Calibri"/>
              </a:rPr>
              <a:t>Category</a:t>
            </a:r>
            <a:r>
              <a:rPr lang="fr-FR" sz="1450" b="1" dirty="0">
                <a:solidFill>
                  <a:srgbClr val="F3EEFF"/>
                </a:solidFill>
                <a:latin typeface="Calibri"/>
              </a:rPr>
              <a:t>, </a:t>
            </a:r>
            <a:r>
              <a:rPr lang="fr-FR" sz="1450" b="1" dirty="0" err="1">
                <a:solidFill>
                  <a:srgbClr val="F3EEFF"/>
                </a:solidFill>
                <a:latin typeface="Calibri"/>
              </a:rPr>
              <a:t>Cart</a:t>
            </a:r>
            <a:r>
              <a:rPr lang="fr-FR" sz="1450" b="1" dirty="0">
                <a:solidFill>
                  <a:srgbClr val="F3EEFF"/>
                </a:solidFill>
                <a:latin typeface="Calibri"/>
              </a:rPr>
              <a:t>, </a:t>
            </a:r>
            <a:r>
              <a:rPr lang="fr-FR" sz="1450" b="1" dirty="0" err="1">
                <a:solidFill>
                  <a:srgbClr val="F3EEFF"/>
                </a:solidFill>
                <a:latin typeface="Calibri"/>
              </a:rPr>
              <a:t>CartItem</a:t>
            </a:r>
            <a:r>
              <a:rPr lang="fr-FR" sz="1450" b="1" dirty="0">
                <a:solidFill>
                  <a:srgbClr val="F3EEFF"/>
                </a:solidFill>
                <a:latin typeface="Calibri"/>
              </a:rPr>
              <a:t>, </a:t>
            </a:r>
            <a:r>
              <a:rPr lang="fr-FR" sz="1450" b="1" dirty="0" err="1">
                <a:solidFill>
                  <a:srgbClr val="F3EEFF"/>
                </a:solidFill>
                <a:latin typeface="Calibri"/>
              </a:rPr>
              <a:t>Order</a:t>
            </a:r>
            <a:r>
              <a:rPr lang="fr-FR" sz="1450" b="1" dirty="0">
                <a:solidFill>
                  <a:srgbClr val="F3EEFF"/>
                </a:solidFill>
                <a:latin typeface="Calibri"/>
              </a:rPr>
              <a:t>, </a:t>
            </a:r>
            <a:r>
              <a:rPr lang="fr-FR" sz="1450" b="1" dirty="0" err="1">
                <a:solidFill>
                  <a:srgbClr val="F3EEFF"/>
                </a:solidFill>
                <a:latin typeface="Calibri"/>
              </a:rPr>
              <a:t>OrderItem</a:t>
            </a:r>
            <a:r>
              <a:rPr lang="fr-FR" sz="1450" b="1" dirty="0">
                <a:solidFill>
                  <a:srgbClr val="F3EEFF"/>
                </a:solidFill>
                <a:latin typeface="Calibri"/>
              </a:rPr>
              <a:t>, Event, Type, </a:t>
            </a:r>
            <a:r>
              <a:rPr lang="fr-FR" sz="1450" b="1" dirty="0" err="1">
                <a:solidFill>
                  <a:srgbClr val="F3EEFF"/>
                </a:solidFill>
                <a:latin typeface="Calibri"/>
              </a:rPr>
              <a:t>Quality</a:t>
            </a:r>
            <a:r>
              <a:rPr lang="fr-FR" sz="1450" b="1" dirty="0">
                <a:solidFill>
                  <a:srgbClr val="F3EEFF"/>
                </a:solidFill>
                <a:latin typeface="Calibri"/>
              </a:rPr>
              <a:t>)</a:t>
            </a:r>
          </a:p>
          <a:p>
            <a:pPr>
              <a:spcAft>
                <a:spcPts val="1000"/>
              </a:spcAft>
            </a:pPr>
            <a:r>
              <a:rPr lang="fr-FR" sz="1450" b="1" dirty="0">
                <a:solidFill>
                  <a:srgbClr val="F3EEFF"/>
                </a:solidFill>
                <a:latin typeface="Calibri"/>
              </a:rPr>
              <a:t>▸ </a:t>
            </a:r>
            <a:r>
              <a:rPr lang="fr-FR" sz="1450" b="1" dirty="0" err="1">
                <a:solidFill>
                  <a:srgbClr val="F3EEFF"/>
                </a:solidFill>
                <a:latin typeface="Calibri"/>
              </a:rPr>
              <a:t>templates</a:t>
            </a:r>
            <a:r>
              <a:rPr lang="fr-FR" sz="1450" b="1" dirty="0">
                <a:solidFill>
                  <a:srgbClr val="F3EEFF"/>
                </a:solidFill>
                <a:latin typeface="Calibri"/>
              </a:rPr>
              <a:t>/ : vues </a:t>
            </a:r>
            <a:r>
              <a:rPr lang="fr-FR" sz="1450" b="1" dirty="0" err="1">
                <a:solidFill>
                  <a:srgbClr val="F3EEFF"/>
                </a:solidFill>
                <a:latin typeface="Calibri"/>
              </a:rPr>
              <a:t>Twig</a:t>
            </a:r>
            <a:r>
              <a:rPr lang="fr-FR" sz="1450" b="1" dirty="0">
                <a:solidFill>
                  <a:srgbClr val="F3EEFF"/>
                </a:solidFill>
                <a:latin typeface="Calibri"/>
              </a:rPr>
              <a:t> organisées par domaine (</a:t>
            </a:r>
            <a:r>
              <a:rPr lang="fr-FR" sz="1450" b="1" dirty="0" err="1">
                <a:solidFill>
                  <a:srgbClr val="F3EEFF"/>
                </a:solidFill>
                <a:latin typeface="Calibri"/>
              </a:rPr>
              <a:t>product</a:t>
            </a:r>
            <a:r>
              <a:rPr lang="fr-FR" sz="1450" b="1" dirty="0">
                <a:solidFill>
                  <a:srgbClr val="F3EEFF"/>
                </a:solidFill>
                <a:latin typeface="Calibri"/>
              </a:rPr>
              <a:t>/, </a:t>
            </a:r>
            <a:r>
              <a:rPr lang="fr-FR" sz="1450" b="1" dirty="0" err="1">
                <a:solidFill>
                  <a:srgbClr val="F3EEFF"/>
                </a:solidFill>
                <a:latin typeface="Calibri"/>
              </a:rPr>
              <a:t>cart</a:t>
            </a:r>
            <a:r>
              <a:rPr lang="fr-FR" sz="1450" b="1" dirty="0">
                <a:solidFill>
                  <a:srgbClr val="F3EEFF"/>
                </a:solidFill>
                <a:latin typeface="Calibri"/>
              </a:rPr>
              <a:t>/, </a:t>
            </a:r>
            <a:r>
              <a:rPr lang="fr-FR" sz="1450" b="1" dirty="0" err="1">
                <a:solidFill>
                  <a:srgbClr val="F3EEFF"/>
                </a:solidFill>
                <a:latin typeface="Calibri"/>
              </a:rPr>
              <a:t>checkout</a:t>
            </a:r>
            <a:r>
              <a:rPr lang="fr-FR" sz="1450" b="1" dirty="0">
                <a:solidFill>
                  <a:srgbClr val="F3EEFF"/>
                </a:solidFill>
                <a:latin typeface="Calibri"/>
              </a:rPr>
              <a:t>/, admin/...)</a:t>
            </a:r>
          </a:p>
        </p:txBody>
      </p:sp>
      <p:sp>
        <p:nvSpPr>
          <p:cNvPr id="7" name="Rounded Rectangle 6"/>
          <p:cNvSpPr/>
          <p:nvPr/>
        </p:nvSpPr>
        <p:spPr>
          <a:xfrm>
            <a:off x="7617495" y="96520"/>
            <a:ext cx="3718522" cy="644144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endParaRPr lang="fr-FR" sz="1400" b="0" dirty="0">
              <a:solidFill>
                <a:srgbClr val="BBBEBF"/>
              </a:solidFill>
              <a:effectLst/>
              <a:latin typeface="Consolas" panose="020B0609020204030204" pitchFamily="49" charset="0"/>
            </a:endParaRPr>
          </a:p>
        </p:txBody>
      </p:sp>
      <p:sp>
        <p:nvSpPr>
          <p:cNvPr id="9" name="TextBox 8"/>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a:t>
            </a:r>
          </a:p>
        </p:txBody>
      </p:sp>
      <p:sp>
        <p:nvSpPr>
          <p:cNvPr id="10" name="TextBox 9"/>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pic>
        <p:nvPicPr>
          <p:cNvPr id="12" name="Image 11">
            <a:extLst>
              <a:ext uri="{FF2B5EF4-FFF2-40B4-BE49-F238E27FC236}">
                <a16:creationId xmlns:a16="http://schemas.microsoft.com/office/drawing/2014/main" id="{3AB99BCE-9026-415B-878A-BF0763660B5E}"/>
              </a:ext>
            </a:extLst>
          </p:cNvPr>
          <p:cNvPicPr>
            <a:picLocks noChangeAspect="1"/>
          </p:cNvPicPr>
          <p:nvPr/>
        </p:nvPicPr>
        <p:blipFill>
          <a:blip r:embed="rId3"/>
          <a:stretch>
            <a:fillRect/>
          </a:stretch>
        </p:blipFill>
        <p:spPr>
          <a:xfrm>
            <a:off x="8177227" y="202130"/>
            <a:ext cx="2738120" cy="6230219"/>
          </a:xfrm>
          <a:prstGeom prst="rect">
            <a:avLst/>
          </a:prstGeom>
        </p:spPr>
      </p:pic>
      <p:pic>
        <p:nvPicPr>
          <p:cNvPr id="11" name="Image 10">
            <a:extLst>
              <a:ext uri="{FF2B5EF4-FFF2-40B4-BE49-F238E27FC236}">
                <a16:creationId xmlns:a16="http://schemas.microsoft.com/office/drawing/2014/main" id="{DB25E925-34A7-400B-A0F6-0D829FFCE530}"/>
              </a:ext>
            </a:extLst>
          </p:cNvPr>
          <p:cNvPicPr>
            <a:picLocks noChangeAspect="1"/>
          </p:cNvPicPr>
          <p:nvPr/>
        </p:nvPicPr>
        <p:blipFill>
          <a:blip r:embed="rId4"/>
          <a:stretch>
            <a:fillRect/>
          </a:stretch>
        </p:blipFill>
        <p:spPr>
          <a:xfrm>
            <a:off x="855983" y="3845753"/>
            <a:ext cx="4908925" cy="256419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Doctrine — entité ↔ table ↔ migration</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371600"/>
            <a:ext cx="5852160" cy="365760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User.php</a:t>
            </a:r>
          </a:p>
          <a:p>
            <a:r>
              <a:rPr sz="1350">
                <a:solidFill>
                  <a:srgbClr val="3DE5E0"/>
                </a:solidFill>
                <a:latin typeface="Consolas"/>
              </a:rPr>
              <a:t>#[ORM\Entity(repositoryClass: UserRepository::class)]</a:t>
            </a:r>
          </a:p>
          <a:p>
            <a:r>
              <a:rPr sz="1350">
                <a:solidFill>
                  <a:srgbClr val="3DE5E0"/>
                </a:solidFill>
                <a:latin typeface="Consolas"/>
              </a:rPr>
              <a:t>#[ORM\UniqueConstraint(</a:t>
            </a:r>
          </a:p>
          <a:p>
            <a:r>
              <a:rPr sz="1350">
                <a:solidFill>
                  <a:srgbClr val="3DE5E0"/>
                </a:solidFill>
                <a:latin typeface="Consolas"/>
              </a:rPr>
              <a:t>    name: 'UNIQ_IDENTIFIER_EMAIL', fields: ['email']</a:t>
            </a:r>
          </a:p>
          <a:p>
            <a:r>
              <a:rPr sz="1350">
                <a:solidFill>
                  <a:srgbClr val="3DE5E0"/>
                </a:solidFill>
                <a:latin typeface="Consolas"/>
              </a:rPr>
              <a:t>)]</a:t>
            </a:r>
          </a:p>
          <a:p>
            <a:r>
              <a:rPr sz="1350">
                <a:solidFill>
                  <a:srgbClr val="3DE5E0"/>
                </a:solidFill>
                <a:latin typeface="Consolas"/>
              </a:rPr>
              <a:t>class User implements UserInterface,</a:t>
            </a:r>
          </a:p>
          <a:p>
            <a:r>
              <a:rPr sz="1350">
                <a:solidFill>
                  <a:srgbClr val="3DE5E0"/>
                </a:solidFill>
                <a:latin typeface="Consolas"/>
              </a:rPr>
              <a:t>    PasswordAuthenticatedUserInterface</a:t>
            </a:r>
          </a:p>
          <a:p>
            <a:r>
              <a:rPr sz="1350">
                <a:solidFill>
                  <a:srgbClr val="3DE5E0"/>
                </a:solidFill>
                <a:latin typeface="Consolas"/>
              </a:rPr>
              <a:t>{</a:t>
            </a:r>
          </a:p>
          <a:p>
            <a:r>
              <a:rPr sz="1350">
                <a:solidFill>
                  <a:srgbClr val="3DE5E0"/>
                </a:solidFill>
                <a:latin typeface="Consolas"/>
              </a:rPr>
              <a:t>    #[ORM\Column(length: 180)]</a:t>
            </a:r>
          </a:p>
          <a:p>
            <a:r>
              <a:rPr sz="1350">
                <a:solidFill>
                  <a:srgbClr val="3DE5E0"/>
                </a:solidFill>
                <a:latin typeface="Consolas"/>
              </a:rPr>
              <a:t>    private ?string $email = null;</a:t>
            </a:r>
          </a:p>
          <a:p>
            <a:endParaRPr sz="1350">
              <a:solidFill>
                <a:srgbClr val="3DE5E0"/>
              </a:solidFill>
              <a:latin typeface="Consolas"/>
            </a:endParaRPr>
          </a:p>
          <a:p>
            <a:r>
              <a:rPr sz="1350">
                <a:solidFill>
                  <a:srgbClr val="3DE5E0"/>
                </a:solidFill>
                <a:latin typeface="Consolas"/>
              </a:rPr>
              <a:t>    #[ORM\OneToMany(</a:t>
            </a:r>
          </a:p>
          <a:p>
            <a:r>
              <a:rPr sz="1350">
                <a:solidFill>
                  <a:srgbClr val="3DE5E0"/>
                </a:solidFill>
                <a:latin typeface="Consolas"/>
              </a:rPr>
              <a:t>        targetEntity: Order::class, mappedBy: 'user'</a:t>
            </a:r>
          </a:p>
          <a:p>
            <a:r>
              <a:rPr sz="1350">
                <a:solidFill>
                  <a:srgbClr val="3DE5E0"/>
                </a:solidFill>
                <a:latin typeface="Consolas"/>
              </a:rPr>
              <a:t>    )]</a:t>
            </a:r>
          </a:p>
          <a:p>
            <a:r>
              <a:rPr sz="1350">
                <a:solidFill>
                  <a:srgbClr val="3DE5E0"/>
                </a:solidFill>
                <a:latin typeface="Consolas"/>
              </a:rPr>
              <a:t>    private Collection $orders;</a:t>
            </a:r>
          </a:p>
          <a:p>
            <a:r>
              <a:rPr sz="1350">
                <a:solidFill>
                  <a:srgbClr val="3DE5E0"/>
                </a:solidFill>
                <a:latin typeface="Consolas"/>
              </a:rPr>
              <a:t>}</a:t>
            </a:r>
          </a:p>
        </p:txBody>
      </p:sp>
      <p:sp>
        <p:nvSpPr>
          <p:cNvPr id="7" name="TextBox 6"/>
          <p:cNvSpPr txBox="1"/>
          <p:nvPr/>
        </p:nvSpPr>
        <p:spPr>
          <a:xfrm>
            <a:off x="6675120" y="1463040"/>
            <a:ext cx="5029200" cy="4846320"/>
          </a:xfrm>
          <a:prstGeom prst="rect">
            <a:avLst/>
          </a:prstGeom>
          <a:noFill/>
        </p:spPr>
        <p:txBody>
          <a:bodyPr wrap="square">
            <a:spAutoFit/>
          </a:bodyPr>
          <a:lstStyle/>
          <a:p>
            <a:pPr>
              <a:spcAft>
                <a:spcPts val="1000"/>
              </a:spcAft>
            </a:pPr>
            <a:r>
              <a:rPr sz="1450" b="1">
                <a:solidFill>
                  <a:srgbClr val="F3EEFF"/>
                </a:solidFill>
                <a:latin typeface="Calibri"/>
              </a:rPr>
              <a:t>▸ Attribut #[ORM\Column] = colonne SQL</a:t>
            </a:r>
          </a:p>
          <a:p>
            <a:pPr>
              <a:spcAft>
                <a:spcPts val="1000"/>
              </a:spcAft>
            </a:pPr>
            <a:r>
              <a:rPr sz="1450" b="1">
                <a:solidFill>
                  <a:srgbClr val="F3EEFF"/>
                </a:solidFill>
                <a:latin typeface="Calibri"/>
              </a:rPr>
              <a:t>▸ #[ORM\OneToMany] / #[ORM\ManyToOne] = clé étrangère + relation objet</a:t>
            </a:r>
          </a:p>
          <a:p>
            <a:pPr>
              <a:spcAft>
                <a:spcPts val="1000"/>
              </a:spcAft>
            </a:pPr>
            <a:r>
              <a:rPr sz="1450" b="1">
                <a:solidFill>
                  <a:srgbClr val="3DE5E0"/>
                </a:solidFill>
                <a:latin typeface="Calibri"/>
              </a:rPr>
              <a:t>▸ php bin/console make:migration génère automatiquement le SQL correspondant</a:t>
            </a:r>
          </a:p>
        </p:txBody>
      </p:sp>
      <p:sp>
        <p:nvSpPr>
          <p:cNvPr id="8" name="Rounded Rectangle 7"/>
          <p:cNvSpPr/>
          <p:nvPr/>
        </p:nvSpPr>
        <p:spPr>
          <a:xfrm>
            <a:off x="6675120" y="3291840"/>
            <a:ext cx="5029200" cy="2926080"/>
          </a:xfrm>
          <a:prstGeom prst="roundRect">
            <a:avLst>
              <a:gd name="adj" fmla="val 6000"/>
            </a:avLst>
          </a:prstGeom>
          <a:solidFill>
            <a:srgbClr val="1E0E38"/>
          </a:solidFill>
          <a:ln w="22225">
            <a:solidFill>
              <a:srgbClr val="C84BE0"/>
            </a:solidFill>
            <a:prstDash val="dash"/>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400" b="1" i="1">
                <a:solidFill>
                  <a:srgbClr val="C84BE0"/>
                </a:solidFill>
              </a:rPr>
              <a:t>🖼  [À INSÉRER : migration générée (ex. migrations/VersionXXXXXXXXXXXXXX.php)]</a:t>
            </a:r>
          </a:p>
        </p:txBody>
      </p:sp>
      <p:sp>
        <p:nvSpPr>
          <p:cNvPr id="9" name="TextBox 8"/>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a:t>
            </a:r>
          </a:p>
        </p:txBody>
      </p:sp>
      <p:sp>
        <p:nvSpPr>
          <p:cNvPr id="10" name="TextBox 9"/>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Authentification</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371600"/>
            <a:ext cx="6035040" cy="402336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security.yaml</a:t>
            </a:r>
          </a:p>
          <a:p>
            <a:r>
              <a:rPr sz="1350">
                <a:solidFill>
                  <a:srgbClr val="3DE5E0"/>
                </a:solidFill>
                <a:latin typeface="Consolas"/>
              </a:rPr>
              <a:t>password_hashers:</a:t>
            </a:r>
          </a:p>
          <a:p>
            <a:r>
              <a:rPr sz="1350">
                <a:solidFill>
                  <a:srgbClr val="3DE5E0"/>
                </a:solidFill>
                <a:latin typeface="Consolas"/>
              </a:rPr>
              <a:t>  PasswordAuthenticatedUserInterface: 'auto'</a:t>
            </a:r>
          </a:p>
          <a:p>
            <a:endParaRPr sz="1350">
              <a:solidFill>
                <a:srgbClr val="3DE5E0"/>
              </a:solidFill>
              <a:latin typeface="Consolas"/>
            </a:endParaRPr>
          </a:p>
          <a:p>
            <a:r>
              <a:rPr sz="1350">
                <a:solidFill>
                  <a:srgbClr val="3DE5E0"/>
                </a:solidFill>
                <a:latin typeface="Consolas"/>
              </a:rPr>
              <a:t>providers:</a:t>
            </a:r>
          </a:p>
          <a:p>
            <a:r>
              <a:rPr sz="1350">
                <a:solidFill>
                  <a:srgbClr val="3DE5E0"/>
                </a:solidFill>
                <a:latin typeface="Consolas"/>
              </a:rPr>
              <a:t>  app_user_provider:</a:t>
            </a:r>
          </a:p>
          <a:p>
            <a:r>
              <a:rPr sz="1350">
                <a:solidFill>
                  <a:srgbClr val="3DE5E0"/>
                </a:solidFill>
                <a:latin typeface="Consolas"/>
              </a:rPr>
              <a:t>    entity:</a:t>
            </a:r>
          </a:p>
          <a:p>
            <a:r>
              <a:rPr sz="1350">
                <a:solidFill>
                  <a:srgbClr val="3DE5E0"/>
                </a:solidFill>
                <a:latin typeface="Consolas"/>
              </a:rPr>
              <a:t>      class: App\Entity\User</a:t>
            </a:r>
          </a:p>
          <a:p>
            <a:r>
              <a:rPr sz="1350">
                <a:solidFill>
                  <a:srgbClr val="3DE5E0"/>
                </a:solidFill>
                <a:latin typeface="Consolas"/>
              </a:rPr>
              <a:t>      property: email</a:t>
            </a:r>
          </a:p>
          <a:p>
            <a:endParaRPr sz="1350">
              <a:solidFill>
                <a:srgbClr val="3DE5E0"/>
              </a:solidFill>
              <a:latin typeface="Consolas"/>
            </a:endParaRPr>
          </a:p>
          <a:p>
            <a:r>
              <a:rPr sz="1350">
                <a:solidFill>
                  <a:srgbClr val="3DE5E0"/>
                </a:solidFill>
                <a:latin typeface="Consolas"/>
              </a:rPr>
              <a:t>firewalls:</a:t>
            </a:r>
          </a:p>
          <a:p>
            <a:r>
              <a:rPr sz="1350">
                <a:solidFill>
                  <a:srgbClr val="3DE5E0"/>
                </a:solidFill>
                <a:latin typeface="Consolas"/>
              </a:rPr>
              <a:t>  main:</a:t>
            </a:r>
          </a:p>
          <a:p>
            <a:r>
              <a:rPr sz="1350">
                <a:solidFill>
                  <a:srgbClr val="3DE5E0"/>
                </a:solidFill>
                <a:latin typeface="Consolas"/>
              </a:rPr>
              <a:t>    lazy: true</a:t>
            </a:r>
          </a:p>
          <a:p>
            <a:r>
              <a:rPr sz="1350">
                <a:solidFill>
                  <a:srgbClr val="3DE5E0"/>
                </a:solidFill>
                <a:latin typeface="Consolas"/>
              </a:rPr>
              <a:t>    provider: app_user_provider</a:t>
            </a:r>
          </a:p>
          <a:p>
            <a:r>
              <a:rPr sz="1350">
                <a:solidFill>
                  <a:srgbClr val="3DE5E0"/>
                </a:solidFill>
                <a:latin typeface="Consolas"/>
              </a:rPr>
              <a:t>    form_login:</a:t>
            </a:r>
          </a:p>
          <a:p>
            <a:r>
              <a:rPr sz="1350">
                <a:solidFill>
                  <a:srgbClr val="3DE5E0"/>
                </a:solidFill>
                <a:latin typeface="Consolas"/>
              </a:rPr>
              <a:t>      login_path: app_login</a:t>
            </a:r>
          </a:p>
          <a:p>
            <a:r>
              <a:rPr sz="1350">
                <a:solidFill>
                  <a:srgbClr val="3DE5E0"/>
                </a:solidFill>
                <a:latin typeface="Consolas"/>
              </a:rPr>
              <a:t>      check_path: app_login</a:t>
            </a:r>
          </a:p>
          <a:p>
            <a:r>
              <a:rPr sz="1350">
                <a:solidFill>
                  <a:srgbClr val="3DE5E0"/>
                </a:solidFill>
                <a:latin typeface="Consolas"/>
              </a:rPr>
              <a:t>      enable_csrf: true</a:t>
            </a:r>
          </a:p>
          <a:p>
            <a:r>
              <a:rPr sz="1350">
                <a:solidFill>
                  <a:srgbClr val="3DE5E0"/>
                </a:solidFill>
                <a:latin typeface="Consolas"/>
              </a:rPr>
              <a:t>    logout:</a:t>
            </a:r>
          </a:p>
          <a:p>
            <a:r>
              <a:rPr sz="1350">
                <a:solidFill>
                  <a:srgbClr val="3DE5E0"/>
                </a:solidFill>
                <a:latin typeface="Consolas"/>
              </a:rPr>
              <a:t>      path: app_logout</a:t>
            </a:r>
          </a:p>
        </p:txBody>
      </p:sp>
      <p:sp>
        <p:nvSpPr>
          <p:cNvPr id="7" name="TextBox 6"/>
          <p:cNvSpPr txBox="1"/>
          <p:nvPr/>
        </p:nvSpPr>
        <p:spPr>
          <a:xfrm>
            <a:off x="6812280" y="1463040"/>
            <a:ext cx="4846320" cy="4846320"/>
          </a:xfrm>
          <a:prstGeom prst="rect">
            <a:avLst/>
          </a:prstGeom>
          <a:noFill/>
        </p:spPr>
        <p:txBody>
          <a:bodyPr wrap="square">
            <a:spAutoFit/>
          </a:bodyPr>
          <a:lstStyle/>
          <a:p>
            <a:pPr>
              <a:spcAft>
                <a:spcPts val="1000"/>
              </a:spcAft>
            </a:pPr>
            <a:r>
              <a:rPr sz="1450" b="1">
                <a:solidFill>
                  <a:srgbClr val="F3EEFF"/>
                </a:solidFill>
                <a:latin typeface="Calibri"/>
              </a:rPr>
              <a:t>▸ Provider : récupère l'utilisateur par email (UserRepository)</a:t>
            </a:r>
          </a:p>
          <a:p>
            <a:pPr>
              <a:spcAft>
                <a:spcPts val="1000"/>
              </a:spcAft>
            </a:pPr>
            <a:r>
              <a:rPr sz="1450" b="1">
                <a:solidFill>
                  <a:srgbClr val="3DE5E0"/>
                </a:solidFill>
                <a:latin typeface="Calibri"/>
              </a:rPr>
              <a:t>▸ Hashing : algorithme 'auto' → bcrypt/argon2 choisi par Symfony, jamais de mot de passe en clair stocké</a:t>
            </a:r>
          </a:p>
          <a:p>
            <a:pPr>
              <a:spcAft>
                <a:spcPts val="1000"/>
              </a:spcAft>
            </a:pPr>
            <a:r>
              <a:rPr sz="1450" b="1">
                <a:solidFill>
                  <a:srgbClr val="F3EEFF"/>
                </a:solidFill>
                <a:latin typeface="Calibri"/>
              </a:rPr>
              <a:t>▸ Authentification gérée par le composant form_login natif de Symfony, pas de code maison</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Autorisation &amp; rôles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600" b="1">
                <a:solidFill>
                  <a:srgbClr val="3DE5E0"/>
                </a:solidFill>
                <a:latin typeface="Calibri"/>
              </a:rPr>
              <a:t>▸ Deux rôles applicatifs : ROLE_USER (par défaut) et ROLE_ADMIN</a:t>
            </a:r>
          </a:p>
          <a:p>
            <a:pPr>
              <a:spcAft>
                <a:spcPts val="1000"/>
              </a:spcAft>
            </a:pPr>
            <a:r>
              <a:rPr sz="1600" b="1">
                <a:solidFill>
                  <a:srgbClr val="F3EEFF"/>
                </a:solidFill>
                <a:latin typeface="Calibri"/>
              </a:rPr>
              <a:t>▸ access_control global dans security.yaml :</a:t>
            </a:r>
          </a:p>
        </p:txBody>
      </p:sp>
      <p:sp>
        <p:nvSpPr>
          <p:cNvPr id="7" name="Rounded Rectangle 6"/>
          <p:cNvSpPr/>
          <p:nvPr/>
        </p:nvSpPr>
        <p:spPr>
          <a:xfrm>
            <a:off x="548640" y="2331720"/>
            <a:ext cx="10789920" cy="86868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access_control:</a:t>
            </a:r>
          </a:p>
          <a:p>
            <a:r>
              <a:rPr sz="1350">
                <a:solidFill>
                  <a:srgbClr val="3DE5E0"/>
                </a:solidFill>
                <a:latin typeface="Consolas"/>
              </a:rPr>
              <a:t>    - { path: ^/admin, roles: ROLE_ADMIN }</a:t>
            </a:r>
          </a:p>
        </p:txBody>
      </p:sp>
      <p:sp>
        <p:nvSpPr>
          <p:cNvPr id="8" name="TextBox 7"/>
          <p:cNvSpPr txBox="1"/>
          <p:nvPr/>
        </p:nvSpPr>
        <p:spPr>
          <a:xfrm>
            <a:off x="548640" y="3383280"/>
            <a:ext cx="10789920" cy="4846320"/>
          </a:xfrm>
          <a:prstGeom prst="rect">
            <a:avLst/>
          </a:prstGeom>
          <a:noFill/>
        </p:spPr>
        <p:txBody>
          <a:bodyPr wrap="square">
            <a:spAutoFit/>
          </a:bodyPr>
          <a:lstStyle/>
          <a:p>
            <a:pPr>
              <a:spcAft>
                <a:spcPts val="1000"/>
              </a:spcAft>
            </a:pPr>
            <a:r>
              <a:rPr sz="1600" b="1">
                <a:solidFill>
                  <a:srgbClr val="F3EEFF"/>
                </a:solidFill>
                <a:latin typeface="Calibri"/>
              </a:rPr>
              <a:t>▸ Vérification au niveau contrôleur avec l'attribut #[IsGranted] :</a:t>
            </a:r>
          </a:p>
        </p:txBody>
      </p:sp>
      <p:sp>
        <p:nvSpPr>
          <p:cNvPr id="9" name="Rounded Rectangle 8"/>
          <p:cNvSpPr/>
          <p:nvPr/>
        </p:nvSpPr>
        <p:spPr>
          <a:xfrm>
            <a:off x="548640" y="3840480"/>
            <a:ext cx="10789920" cy="182880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#[Route('/admin', name: 'admin_')]</a:t>
            </a:r>
          </a:p>
          <a:p>
            <a:r>
              <a:rPr sz="1350">
                <a:solidFill>
                  <a:srgbClr val="3DE5E0"/>
                </a:solidFill>
                <a:latin typeface="Consolas"/>
              </a:rPr>
              <a:t>#[IsGranted('ROLE_ADMIN')]</a:t>
            </a:r>
          </a:p>
          <a:p>
            <a:r>
              <a:rPr sz="1350">
                <a:solidFill>
                  <a:srgbClr val="3DE5E0"/>
                </a:solidFill>
                <a:latin typeface="Consolas"/>
              </a:rPr>
              <a:t>final class AdminController extends AbstractController { ... }</a:t>
            </a:r>
          </a:p>
          <a:p>
            <a:endParaRPr sz="1350">
              <a:solidFill>
                <a:srgbClr val="3DE5E0"/>
              </a:solidFill>
              <a:latin typeface="Consolas"/>
            </a:endParaRPr>
          </a:p>
          <a:p>
            <a:r>
              <a:rPr sz="1350">
                <a:solidFill>
                  <a:srgbClr val="3DE5E0"/>
                </a:solidFill>
                <a:latin typeface="Consolas"/>
              </a:rPr>
              <a:t>#[IsGranted('ROLE_USER')]</a:t>
            </a:r>
          </a:p>
          <a:p>
            <a:r>
              <a:rPr sz="1350">
                <a:solidFill>
                  <a:srgbClr val="3DE5E0"/>
                </a:solidFill>
                <a:latin typeface="Consolas"/>
              </a:rPr>
              <a:t>class CartController extends AbstractController { ... }</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11" name="TextBox 10"/>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Mot de passe &amp; recommandation CNIL</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10789920" cy="457200"/>
          </a:xfrm>
          <a:prstGeom prst="rect">
            <a:avLst/>
          </a:prstGeom>
          <a:noFill/>
        </p:spPr>
        <p:txBody>
          <a:bodyPr wrap="square" anchor="t">
            <a:spAutoFit/>
          </a:bodyPr>
          <a:lstStyle/>
          <a:p>
            <a:pPr algn="l"/>
            <a:r>
              <a:rPr sz="1600" b="0" i="1">
                <a:solidFill>
                  <a:srgbClr val="B6A6DA"/>
                </a:solidFill>
                <a:latin typeface="Calibri"/>
              </a:rPr>
              <a:t>La CNIL recommande un mot de passe d'au moins 12 caractères avec majuscule, chiffre et caractère spécial.</a:t>
            </a:r>
          </a:p>
        </p:txBody>
      </p:sp>
      <p:sp>
        <p:nvSpPr>
          <p:cNvPr id="7" name="Rounded Rectangle 6"/>
          <p:cNvSpPr/>
          <p:nvPr/>
        </p:nvSpPr>
        <p:spPr>
          <a:xfrm>
            <a:off x="548640" y="2011680"/>
            <a:ext cx="10789920" cy="329184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RegistrationFormType.php</a:t>
            </a:r>
          </a:p>
          <a:p>
            <a:r>
              <a:rPr sz="1350">
                <a:solidFill>
                  <a:srgbClr val="3DE5E0"/>
                </a:solidFill>
                <a:latin typeface="Consolas"/>
              </a:rPr>
              <a:t>-&gt;add('plainPassword', PasswordType::class, [</a:t>
            </a:r>
          </a:p>
          <a:p>
            <a:r>
              <a:rPr sz="1350">
                <a:solidFill>
                  <a:srgbClr val="3DE5E0"/>
                </a:solidFill>
                <a:latin typeface="Consolas"/>
              </a:rPr>
              <a:t>    'mapped' =&gt; false,</a:t>
            </a:r>
          </a:p>
          <a:p>
            <a:r>
              <a:rPr sz="1350">
                <a:solidFill>
                  <a:srgbClr val="3DE5E0"/>
                </a:solidFill>
                <a:latin typeface="Consolas"/>
              </a:rPr>
              <a:t>    'constraints' =&gt; [</a:t>
            </a:r>
          </a:p>
          <a:p>
            <a:r>
              <a:rPr sz="1350">
                <a:solidFill>
                  <a:srgbClr val="3DE5E0"/>
                </a:solidFill>
                <a:latin typeface="Consolas"/>
              </a:rPr>
              <a:t>        new NotBlank(['message' =&gt; 'Entrez un mot de passe']),</a:t>
            </a:r>
          </a:p>
          <a:p>
            <a:r>
              <a:rPr sz="1350">
                <a:solidFill>
                  <a:srgbClr val="3DE5E0"/>
                </a:solidFill>
                <a:latin typeface="Consolas"/>
              </a:rPr>
              <a:t>        new Length([</a:t>
            </a:r>
          </a:p>
          <a:p>
            <a:r>
              <a:rPr sz="1350">
                <a:solidFill>
                  <a:srgbClr val="3DE5E0"/>
                </a:solidFill>
                <a:latin typeface="Consolas"/>
              </a:rPr>
              <a:t>            'min' =&gt; 12,</a:t>
            </a:r>
          </a:p>
          <a:p>
            <a:r>
              <a:rPr sz="1350">
                <a:solidFill>
                  <a:srgbClr val="3DE5E0"/>
                </a:solidFill>
                <a:latin typeface="Consolas"/>
              </a:rPr>
              <a:t>            'minMessage' =&gt; 'Votre mot de passe doit contenir</a:t>
            </a:r>
          </a:p>
          <a:p>
            <a:r>
              <a:rPr sz="1350">
                <a:solidFill>
                  <a:srgbClr val="3DE5E0"/>
                </a:solidFill>
                <a:latin typeface="Consolas"/>
              </a:rPr>
              <a:t>                au moins {{ limit }} caractères',</a:t>
            </a:r>
          </a:p>
          <a:p>
            <a:r>
              <a:rPr sz="1350">
                <a:solidFill>
                  <a:srgbClr val="3DE5E0"/>
                </a:solidFill>
                <a:latin typeface="Consolas"/>
              </a:rPr>
              <a:t>        ]),</a:t>
            </a:r>
          </a:p>
          <a:p>
            <a:r>
              <a:rPr sz="1350">
                <a:solidFill>
                  <a:srgbClr val="3DE5E0"/>
                </a:solidFill>
                <a:latin typeface="Consolas"/>
              </a:rPr>
              <a:t>        new Regex([</a:t>
            </a:r>
          </a:p>
          <a:p>
            <a:r>
              <a:rPr sz="1350">
                <a:solidFill>
                  <a:srgbClr val="3DE5E0"/>
                </a:solidFill>
                <a:latin typeface="Consolas"/>
              </a:rPr>
              <a:t>            'pattern' =&gt; '/^(?=.*[A-Z])(?=.*\d)(?=.*[^a-zA-Z\d]).+$/',</a:t>
            </a:r>
          </a:p>
          <a:p>
            <a:r>
              <a:rPr sz="1350">
                <a:solidFill>
                  <a:srgbClr val="3DE5E0"/>
                </a:solidFill>
                <a:latin typeface="Consolas"/>
              </a:rPr>
              <a:t>            'message' =&gt; 'Le mot de passe doit contenir au moins</a:t>
            </a:r>
          </a:p>
          <a:p>
            <a:r>
              <a:rPr sz="1350">
                <a:solidFill>
                  <a:srgbClr val="3DE5E0"/>
                </a:solidFill>
                <a:latin typeface="Consolas"/>
              </a:rPr>
              <a:t>                une majuscule, un chiffre et un caractère spécial',</a:t>
            </a:r>
          </a:p>
          <a:p>
            <a:r>
              <a:rPr sz="1350">
                <a:solidFill>
                  <a:srgbClr val="3DE5E0"/>
                </a:solidFill>
                <a:latin typeface="Consolas"/>
              </a:rPr>
              <a:t>        ]),</a:t>
            </a:r>
          </a:p>
          <a:p>
            <a:r>
              <a:rPr sz="1350">
                <a:solidFill>
                  <a:srgbClr val="3DE5E0"/>
                </a:solidFill>
                <a:latin typeface="Consolas"/>
              </a:rPr>
              <a:t>    ],</a:t>
            </a:r>
          </a:p>
          <a:p>
            <a:r>
              <a:rPr sz="1350">
                <a:solidFill>
                  <a:srgbClr val="3DE5E0"/>
                </a:solidFill>
                <a:latin typeface="Consolas"/>
              </a:rPr>
              <a:t>])</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Faille XSS — échappement Twig</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17320"/>
            <a:ext cx="10789920" cy="457200"/>
          </a:xfrm>
          <a:prstGeom prst="rect">
            <a:avLst/>
          </a:prstGeom>
          <a:noFill/>
        </p:spPr>
        <p:txBody>
          <a:bodyPr wrap="square" anchor="t">
            <a:spAutoFit/>
          </a:bodyPr>
          <a:lstStyle/>
          <a:p>
            <a:pPr algn="l"/>
            <a:r>
              <a:rPr sz="1600" b="0" i="1">
                <a:solidFill>
                  <a:srgbClr val="B6A6DA"/>
                </a:solidFill>
                <a:latin typeface="Calibri"/>
              </a:rPr>
              <a:t>Twig échappe automatiquement toutes les variables affichées avec {{ }}.</a:t>
            </a:r>
          </a:p>
        </p:txBody>
      </p:sp>
      <p:sp>
        <p:nvSpPr>
          <p:cNvPr id="7" name="Rounded Rectangle 6"/>
          <p:cNvSpPr/>
          <p:nvPr/>
        </p:nvSpPr>
        <p:spPr>
          <a:xfrm>
            <a:off x="548640" y="2011680"/>
            <a:ext cx="10789920" cy="164592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product/show.html.twig #}</a:t>
            </a:r>
          </a:p>
          <a:p>
            <a:r>
              <a:rPr sz="1350">
                <a:solidFill>
                  <a:srgbClr val="3DE5E0"/>
                </a:solidFill>
                <a:latin typeface="Consolas"/>
              </a:rPr>
              <a:t>&lt;span class="card-title"&gt;{{ product.name }}&lt;/span&gt;</a:t>
            </a:r>
          </a:p>
          <a:p>
            <a:r>
              <a:rPr sz="1350">
                <a:solidFill>
                  <a:srgbClr val="3DE5E0"/>
                </a:solidFill>
                <a:latin typeface="Consolas"/>
              </a:rPr>
              <a:t>&lt;p class="card-desc"&gt;{{ product.description }}&lt;/p&gt;</a:t>
            </a:r>
          </a:p>
        </p:txBody>
      </p:sp>
      <p:sp>
        <p:nvSpPr>
          <p:cNvPr id="8" name="TextBox 7"/>
          <p:cNvSpPr txBox="1"/>
          <p:nvPr/>
        </p:nvSpPr>
        <p:spPr>
          <a:xfrm>
            <a:off x="548640" y="3931920"/>
            <a:ext cx="10789920" cy="4846320"/>
          </a:xfrm>
          <a:prstGeom prst="rect">
            <a:avLst/>
          </a:prstGeom>
          <a:noFill/>
        </p:spPr>
        <p:txBody>
          <a:bodyPr wrap="square">
            <a:spAutoFit/>
          </a:bodyPr>
          <a:lstStyle/>
          <a:p>
            <a:pPr>
              <a:spcAft>
                <a:spcPts val="1000"/>
              </a:spcAft>
            </a:pPr>
            <a:r>
              <a:rPr sz="1700" b="1">
                <a:solidFill>
                  <a:srgbClr val="F3EEFF"/>
                </a:solidFill>
                <a:latin typeface="Calibri"/>
              </a:rPr>
              <a:t>▸ Si un champ comme description contient du HTML/JS injecté, il est affiché comme texte brut, jamais exécuté par le navigateur</a:t>
            </a:r>
          </a:p>
          <a:p>
            <a:pPr>
              <a:spcAft>
                <a:spcPts val="1000"/>
              </a:spcAft>
            </a:pPr>
            <a:r>
              <a:rPr sz="1700" b="1">
                <a:solidFill>
                  <a:srgbClr val="3DE5E0"/>
                </a:solidFill>
                <a:latin typeface="Calibri"/>
              </a:rPr>
              <a:t>▸ Aucun usage de |raw sur du contenu utilisateur dans le projet</a:t>
            </a:r>
          </a:p>
        </p:txBody>
      </p:sp>
      <p:sp>
        <p:nvSpPr>
          <p:cNvPr id="9" name="TextBox 8"/>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10" name="TextBox 9"/>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Injection SQL — requêtes paramétrées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417320"/>
            <a:ext cx="10789920" cy="182880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ProductController.php — app_shop</a:t>
            </a:r>
          </a:p>
          <a:p>
            <a:r>
              <a:rPr sz="1350">
                <a:solidFill>
                  <a:srgbClr val="3DE5E0"/>
                </a:solidFill>
                <a:latin typeface="Consolas"/>
              </a:rPr>
              <a:t>$activeCategoryId = $request-&gt;query-&gt;getInt('category'); // entrée utilisateur</a:t>
            </a:r>
          </a:p>
          <a:p>
            <a:endParaRPr sz="1350">
              <a:solidFill>
                <a:srgbClr val="3DE5E0"/>
              </a:solidFill>
              <a:latin typeface="Consolas"/>
            </a:endParaRPr>
          </a:p>
          <a:p>
            <a:r>
              <a:rPr sz="1350">
                <a:solidFill>
                  <a:srgbClr val="3DE5E0"/>
                </a:solidFill>
                <a:latin typeface="Consolas"/>
              </a:rPr>
              <a:t>$activeCategory = $categoryRepository-&gt;find($activeCategoryId);</a:t>
            </a:r>
          </a:p>
          <a:p>
            <a:r>
              <a:rPr sz="1350">
                <a:solidFill>
                  <a:srgbClr val="3DE5E0"/>
                </a:solidFill>
                <a:latin typeface="Consolas"/>
              </a:rPr>
              <a:t>$products = $productRepository-&gt;findBy(['category' =&gt; $activeCategory]);</a:t>
            </a:r>
          </a:p>
        </p:txBody>
      </p:sp>
      <p:sp>
        <p:nvSpPr>
          <p:cNvPr id="7" name="TextBox 6"/>
          <p:cNvSpPr txBox="1"/>
          <p:nvPr/>
        </p:nvSpPr>
        <p:spPr>
          <a:xfrm>
            <a:off x="548640" y="3474720"/>
            <a:ext cx="10789920" cy="4846320"/>
          </a:xfrm>
          <a:prstGeom prst="rect">
            <a:avLst/>
          </a:prstGeom>
          <a:noFill/>
        </p:spPr>
        <p:txBody>
          <a:bodyPr wrap="square">
            <a:spAutoFit/>
          </a:bodyPr>
          <a:lstStyle/>
          <a:p>
            <a:pPr>
              <a:spcAft>
                <a:spcPts val="1000"/>
              </a:spcAft>
            </a:pPr>
            <a:r>
              <a:rPr sz="1700" b="1">
                <a:solidFill>
                  <a:srgbClr val="F3EEFF"/>
                </a:solidFill>
                <a:latin typeface="Calibri"/>
              </a:rPr>
              <a:t>▸ L'identifiant de catégorie vient directement de l'URL (entrée utilisateur)</a:t>
            </a:r>
          </a:p>
          <a:p>
            <a:pPr>
              <a:spcAft>
                <a:spcPts val="1000"/>
              </a:spcAft>
            </a:pPr>
            <a:r>
              <a:rPr sz="1700" b="1">
                <a:solidFill>
                  <a:srgbClr val="3DE5E0"/>
                </a:solidFill>
                <a:latin typeface="Calibri"/>
              </a:rPr>
              <a:t>▸ Doctrine transforme find() / findBy() en requête préparée avec paramètres liés — jamais de concaténation de chaîne SQL</a:t>
            </a:r>
          </a:p>
          <a:p>
            <a:pPr>
              <a:spcAft>
                <a:spcPts val="1000"/>
              </a:spcAft>
            </a:pPr>
            <a:r>
              <a:rPr sz="1700" b="1">
                <a:solidFill>
                  <a:srgbClr val="F3EEFF"/>
                </a:solidFill>
                <a:latin typeface="Calibri"/>
              </a:rPr>
              <a:t>▸ Même principe avec QueryBuilder : -&gt;setParameter('id', $id) au lieu d'injecter la valeur dans la chaîne</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 — SÉCURITÉ</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Protection CSRF</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48640" y="1417320"/>
            <a:ext cx="10789920" cy="1463040"/>
          </a:xfrm>
          <a:prstGeom prst="roundRect">
            <a:avLst>
              <a:gd name="adj" fmla="val 4000"/>
            </a:avLst>
          </a:prstGeom>
          <a:solidFill>
            <a:srgbClr val="100520"/>
          </a:solidFill>
          <a:ln w="12700">
            <a:solidFill>
              <a:srgbClr val="3DE5E0"/>
            </a:solidFill>
          </a:ln>
          <a:effectLst/>
        </p:spPr>
        <p:style>
          <a:lnRef idx="1">
            <a:schemeClr val="accent1"/>
          </a:lnRef>
          <a:fillRef idx="3">
            <a:schemeClr val="accent1"/>
          </a:fillRef>
          <a:effectRef idx="2">
            <a:schemeClr val="accent1"/>
          </a:effectRef>
          <a:fontRef idx="minor">
            <a:schemeClr val="lt1"/>
          </a:fontRef>
        </p:style>
        <p:txBody>
          <a:bodyPr wrap="square" lIns="164592" tIns="109728" rIns="164592" bIns="109728" rtlCol="0" anchor="ctr"/>
          <a:lstStyle/>
          <a:p>
            <a:pPr algn="ctr"/>
            <a:r>
              <a:rPr sz="1350">
                <a:solidFill>
                  <a:srgbClr val="3DE5E0"/>
                </a:solidFill>
                <a:latin typeface="Consolas"/>
              </a:rPr>
              <a:t>{# admin/product/products_tab.html.twig #}</a:t>
            </a:r>
          </a:p>
          <a:p>
            <a:r>
              <a:rPr sz="1350">
                <a:solidFill>
                  <a:srgbClr val="3DE5E0"/>
                </a:solidFill>
                <a:latin typeface="Consolas"/>
              </a:rPr>
              <a:t>&lt;form method="post" action="{{ path('admin_product_delete', {id: product.id}) }}"&gt;</a:t>
            </a:r>
          </a:p>
          <a:p>
            <a:r>
              <a:rPr sz="1350">
                <a:solidFill>
                  <a:srgbClr val="3DE5E0"/>
                </a:solidFill>
                <a:latin typeface="Consolas"/>
              </a:rPr>
              <a:t>    &lt;input type="hidden" name="_token"</a:t>
            </a:r>
          </a:p>
          <a:p>
            <a:r>
              <a:rPr sz="1350">
                <a:solidFill>
                  <a:srgbClr val="3DE5E0"/>
                </a:solidFill>
                <a:latin typeface="Consolas"/>
              </a:rPr>
              <a:t>           value="{{ csrf_token('delete_product_' ~ product.id) }}"&gt;</a:t>
            </a:r>
          </a:p>
        </p:txBody>
      </p:sp>
      <p:sp>
        <p:nvSpPr>
          <p:cNvPr id="7" name="TextBox 6"/>
          <p:cNvSpPr txBox="1"/>
          <p:nvPr/>
        </p:nvSpPr>
        <p:spPr>
          <a:xfrm>
            <a:off x="548640" y="3291840"/>
            <a:ext cx="10789920" cy="4846320"/>
          </a:xfrm>
          <a:prstGeom prst="rect">
            <a:avLst/>
          </a:prstGeom>
          <a:noFill/>
        </p:spPr>
        <p:txBody>
          <a:bodyPr wrap="square">
            <a:spAutoFit/>
          </a:bodyPr>
          <a:lstStyle/>
          <a:p>
            <a:pPr>
              <a:spcAft>
                <a:spcPts val="1000"/>
              </a:spcAft>
            </a:pPr>
            <a:r>
              <a:rPr sz="1700" b="1">
                <a:solidFill>
                  <a:srgbClr val="F3EEFF"/>
                </a:solidFill>
                <a:latin typeface="Calibri"/>
              </a:rPr>
              <a:t>▸ Chaque formulaire sensible embarque un token CSRF unique généré par Symfony</a:t>
            </a:r>
          </a:p>
          <a:p>
            <a:pPr>
              <a:spcAft>
                <a:spcPts val="1000"/>
              </a:spcAft>
            </a:pPr>
            <a:r>
              <a:rPr sz="1700" b="1">
                <a:solidFill>
                  <a:srgbClr val="3DE5E0"/>
                </a:solidFill>
                <a:latin typeface="Calibri"/>
              </a:rPr>
              <a:t>▸ Le formulaire de connexion utilise enable_csrf: true (security.yaml)</a:t>
            </a:r>
          </a:p>
          <a:p>
            <a:pPr>
              <a:spcAft>
                <a:spcPts val="1000"/>
              </a:spcAft>
            </a:pPr>
            <a:r>
              <a:rPr sz="1700" b="1">
                <a:solidFill>
                  <a:srgbClr val="F3EEFF"/>
                </a:solidFill>
                <a:latin typeface="Calibri"/>
              </a:rPr>
              <a:t>▸ Le token est vérifié à la soumission : un site tiers ne peut pas déclencher une action (suppression, paiement...) à l'insu de l'utilisateur</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 — Sécurité</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6. TECHNIQUE</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a:solidFill>
                  <a:srgbClr val="F3EEFF"/>
                </a:solidFill>
                <a:latin typeface="Calibri"/>
              </a:rPr>
              <a:t>Fonctionnalité de A à Z — Parcours de paiement</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6 — Technique</a:t>
            </a: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
        <p:nvSpPr>
          <p:cNvPr id="10" name="Rounded Rectangle 9"/>
          <p:cNvSpPr/>
          <p:nvPr/>
        </p:nvSpPr>
        <p:spPr>
          <a:xfrm>
            <a:off x="548640" y="1335024"/>
            <a:ext cx="3977639" cy="4846320"/>
          </a:xfrm>
          <a:prstGeom prst="roundRect">
            <a:avLst/>
          </a:prstGeom>
          <a:solidFill>
            <a:srgbClr val="1E0E38"/>
          </a:solidFill>
          <a:ln w="1524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1554480"/>
            <a:ext cx="3520440" cy="320040"/>
          </a:xfrm>
          <a:prstGeom prst="rect">
            <a:avLst/>
          </a:prstGeom>
          <a:noFill/>
        </p:spPr>
        <p:txBody>
          <a:bodyPr wrap="square" lIns="36576" tIns="36576" rIns="36576" bIns="36576" anchor="t">
            <a:spAutoFit/>
          </a:bodyPr>
          <a:lstStyle/>
          <a:p>
            <a:pPr algn="l">
              <a:spcBef>
                <a:spcPts val="0"/>
              </a:spcBef>
              <a:spcAft>
                <a:spcPts val="0"/>
              </a:spcAft>
            </a:pPr>
            <a:r>
              <a:rPr sz="1650" b="1">
                <a:solidFill>
                  <a:srgbClr val="3DE5E0"/>
                </a:solidFill>
                <a:latin typeface="Calibri"/>
              </a:rPr>
              <a:t>Parcours de la fonctionnalité</a:t>
            </a:r>
          </a:p>
        </p:txBody>
      </p:sp>
      <p:sp>
        <p:nvSpPr>
          <p:cNvPr id="12" name="TextBox 11"/>
          <p:cNvSpPr txBox="1"/>
          <p:nvPr/>
        </p:nvSpPr>
        <p:spPr>
          <a:xfrm>
            <a:off x="804672" y="1938528"/>
            <a:ext cx="3401568" cy="3886200"/>
          </a:xfrm>
          <a:prstGeom prst="rect">
            <a:avLst/>
          </a:prstGeom>
          <a:noFill/>
        </p:spPr>
        <p:txBody>
          <a:bodyPr wrap="square" lIns="36576" tIns="36576" rIns="36576" bIns="36576" anchor="t">
            <a:spAutoFit/>
          </a:bodyPr>
          <a:lstStyle/>
          <a:p>
            <a:pPr algn="l">
              <a:spcBef>
                <a:spcPts val="0"/>
              </a:spcBef>
              <a:spcAft>
                <a:spcPts val="0"/>
              </a:spcAft>
            </a:pPr>
            <a:r>
              <a:rPr sz="1340" b="0">
                <a:solidFill>
                  <a:srgbClr val="F3EEFF"/>
                </a:solidFill>
                <a:latin typeface="Calibri"/>
              </a:rPr>
              <a:t>1. Le panier est validé (CSRF), CartController::add enregistre le CartItem
2. checkout_start construit une session Stripe Checkout à partir des lignes du panier
3. L’utilisateur règle sa commande sur la page hébergée par Stripe
4. Stripe redirige vers checkout_success avec le session_id
5. Le paiement est vérifié, Doctrine persiste la commande, puis Twig affiche la confirmation</a:t>
            </a:r>
          </a:p>
        </p:txBody>
      </p:sp>
      <p:sp>
        <p:nvSpPr>
          <p:cNvPr id="13" name="Rounded Rectangle 12"/>
          <p:cNvSpPr/>
          <p:nvPr/>
        </p:nvSpPr>
        <p:spPr>
          <a:xfrm>
            <a:off x="4754880" y="1335024"/>
            <a:ext cx="6858000" cy="4846320"/>
          </a:xfrm>
          <a:prstGeom prst="roundRect">
            <a:avLst/>
          </a:prstGeom>
          <a:solidFill>
            <a:srgbClr val="0C1828"/>
          </a:solidFill>
          <a:ln w="1524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10912" y="1536192"/>
            <a:ext cx="6355080" cy="274320"/>
          </a:xfrm>
          <a:prstGeom prst="rect">
            <a:avLst/>
          </a:prstGeom>
          <a:noFill/>
        </p:spPr>
        <p:txBody>
          <a:bodyPr wrap="square" lIns="36576" tIns="36576" rIns="36576" bIns="36576" anchor="t">
            <a:spAutoFit/>
          </a:bodyPr>
          <a:lstStyle/>
          <a:p>
            <a:pPr algn="l">
              <a:spcBef>
                <a:spcPts val="0"/>
              </a:spcBef>
              <a:spcAft>
                <a:spcPts val="0"/>
              </a:spcAft>
            </a:pPr>
            <a:r>
              <a:rPr sz="1550" b="1">
                <a:solidFill>
                  <a:srgbClr val="3DE5E0"/>
                </a:solidFill>
                <a:latin typeface="Calibri"/>
              </a:rPr>
              <a:t>Création de la session Stripe Checkout</a:t>
            </a:r>
          </a:p>
        </p:txBody>
      </p:sp>
      <p:sp>
        <p:nvSpPr>
          <p:cNvPr id="15" name="TextBox 14"/>
          <p:cNvSpPr txBox="1"/>
          <p:nvPr/>
        </p:nvSpPr>
        <p:spPr>
          <a:xfrm>
            <a:off x="5010912" y="1901952"/>
            <a:ext cx="6309360" cy="3886200"/>
          </a:xfrm>
          <a:prstGeom prst="rect">
            <a:avLst/>
          </a:prstGeom>
          <a:noFill/>
        </p:spPr>
        <p:txBody>
          <a:bodyPr wrap="square" lIns="54864" tIns="36576" rIns="36576" bIns="36576" anchor="t">
            <a:spAutoFit/>
          </a:bodyPr>
          <a:lstStyle/>
          <a:p>
            <a:pPr algn="l">
              <a:spcBef>
                <a:spcPts val="0"/>
              </a:spcBef>
              <a:spcAft>
                <a:spcPts val="0"/>
              </a:spcAft>
            </a:pPr>
            <a:r>
              <a:rPr sz="1019" b="0">
                <a:solidFill>
                  <a:srgbClr val="F3EEFF"/>
                </a:solidFill>
                <a:latin typeface="Consolas"/>
              </a:rPr>
              <a:t>// CheckoutController.php — checkout_start
Stripe::setApiKey($this-&gt;stripeSecretKey);
foreach ($cart-&gt;getCartItems() as $item) {
    $lineItems[] = [
        'price_data' =&gt; [
            'currency'     =&gt; 'eur',
            'product_data' =&gt; ['name' =&gt; $item-&gt;getProduct()-&gt;getName()],
            'unit_amount'  =&gt; $item-&gt;getUnitPrice(),
        ],
        'quantity' =&gt; $item-&gt;getQuantity(),
    ];
}
$session = Session::create([
    'mode'       =&gt; 'payment',
    'line_items' =&gt; $lineItems,
]);
return $this-&gt;redirect($session-&gt;url);</a:t>
            </a:r>
          </a:p>
        </p:txBody>
      </p:sp>
      <p:sp>
        <p:nvSpPr>
          <p:cNvPr id="16" name="TextBox 15"/>
          <p:cNvSpPr txBox="1"/>
          <p:nvPr/>
        </p:nvSpPr>
        <p:spPr>
          <a:xfrm>
            <a:off x="5010912" y="5806440"/>
            <a:ext cx="6263640" cy="228600"/>
          </a:xfrm>
          <a:prstGeom prst="rect">
            <a:avLst/>
          </a:prstGeom>
          <a:noFill/>
        </p:spPr>
        <p:txBody>
          <a:bodyPr wrap="square" lIns="36576" tIns="36576" rIns="36576" bIns="36576" anchor="t">
            <a:spAutoFit/>
          </a:bodyPr>
          <a:lstStyle/>
          <a:p>
            <a:pPr algn="l">
              <a:spcBef>
                <a:spcPts val="0"/>
              </a:spcBef>
              <a:spcAft>
                <a:spcPts val="0"/>
              </a:spcAft>
            </a:pPr>
            <a:r>
              <a:rPr sz="1120" b="0">
                <a:solidFill>
                  <a:srgbClr val="B6A6DA"/>
                </a:solidFill>
                <a:latin typeface="Calibri"/>
              </a:rPr>
              <a:t>Chaque ligne vient de CartItem (produit, prix, quantité) ; Stripe gère le paiement, puis redirige vers checkout_success.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8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83464"/>
            <a:ext cx="10972800" cy="320040"/>
          </a:xfrm>
          <a:prstGeom prst="rect">
            <a:avLst/>
          </a:prstGeom>
          <a:noFill/>
        </p:spPr>
        <p:txBody>
          <a:bodyPr wrap="square" lIns="36576" tIns="36576" rIns="36576" bIns="36576" anchor="t">
            <a:spAutoFit/>
          </a:bodyPr>
          <a:lstStyle/>
          <a:p>
            <a:pPr algn="l">
              <a:spcBef>
                <a:spcPts val="0"/>
              </a:spcBef>
              <a:spcAft>
                <a:spcPts val="0"/>
              </a:spcAft>
            </a:pPr>
            <a:r>
              <a:rPr sz="1300" b="1">
                <a:solidFill>
                  <a:srgbClr val="C84BE0"/>
                </a:solidFill>
                <a:latin typeface="Calibri"/>
              </a:rPr>
              <a:t>6. TECHNIQUE</a:t>
            </a:r>
          </a:p>
        </p:txBody>
      </p:sp>
      <p:sp>
        <p:nvSpPr>
          <p:cNvPr id="4" name="TextBox 3"/>
          <p:cNvSpPr txBox="1"/>
          <p:nvPr/>
        </p:nvSpPr>
        <p:spPr>
          <a:xfrm>
            <a:off x="548640" y="576072"/>
            <a:ext cx="11064240" cy="566928"/>
          </a:xfrm>
          <a:prstGeom prst="rect">
            <a:avLst/>
          </a:prstGeom>
          <a:noFill/>
        </p:spPr>
        <p:txBody>
          <a:bodyPr wrap="square" lIns="36576" tIns="36576" rIns="36576" bIns="36576" anchor="t">
            <a:spAutoFit/>
          </a:bodyPr>
          <a:lstStyle/>
          <a:p>
            <a:pPr algn="l">
              <a:spcBef>
                <a:spcPts val="0"/>
              </a:spcBef>
              <a:spcAft>
                <a:spcPts val="0"/>
              </a:spcAft>
            </a:pPr>
            <a:r>
              <a:rPr sz="2800" b="1">
                <a:solidFill>
                  <a:srgbClr val="F3EEFF"/>
                </a:solidFill>
                <a:latin typeface="Calibri"/>
              </a:rPr>
              <a:t>Commande — génération du code de livraison</a:t>
            </a:r>
          </a:p>
        </p:txBody>
      </p:sp>
      <p:sp>
        <p:nvSpPr>
          <p:cNvPr id="5" name="Rectangle 4"/>
          <p:cNvSpPr/>
          <p:nvPr/>
        </p:nvSpPr>
        <p:spPr>
          <a:xfrm>
            <a:off x="548640" y="1051560"/>
            <a:ext cx="2011680" cy="54864"/>
          </a:xfrm>
          <a:prstGeom prst="rect">
            <a:avLst/>
          </a:prstGeom>
          <a:solidFill>
            <a:srgbClr val="3DE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6437376"/>
            <a:ext cx="7315200" cy="228600"/>
          </a:xfrm>
          <a:prstGeom prst="rect">
            <a:avLst/>
          </a:prstGeom>
          <a:noFill/>
        </p:spPr>
        <p:txBody>
          <a:bodyPr wrap="square" lIns="36576" tIns="36576" rIns="36576" bIns="36576" anchor="t">
            <a:spAutoFit/>
          </a:bodyPr>
          <a:lstStyle/>
          <a:p>
            <a:pPr algn="l">
              <a:spcBef>
                <a:spcPts val="0"/>
              </a:spcBef>
              <a:spcAft>
                <a:spcPts val="0"/>
              </a:spcAft>
            </a:pPr>
            <a:r>
              <a:rPr sz="1000" b="0">
                <a:solidFill>
                  <a:srgbClr val="B6A6DA"/>
                </a:solidFill>
                <a:latin typeface="Calibri"/>
              </a:rPr>
              <a:t>Section 6 — Technique</a:t>
            </a:r>
          </a:p>
        </p:txBody>
      </p:sp>
      <p:sp>
        <p:nvSpPr>
          <p:cNvPr id="7" name="TextBox 6"/>
          <p:cNvSpPr txBox="1"/>
          <p:nvPr/>
        </p:nvSpPr>
        <p:spPr>
          <a:xfrm>
            <a:off x="10241280" y="6437376"/>
            <a:ext cx="1371600" cy="228600"/>
          </a:xfrm>
          <a:prstGeom prst="rect">
            <a:avLst/>
          </a:prstGeom>
          <a:noFill/>
        </p:spPr>
        <p:txBody>
          <a:bodyPr wrap="square" lIns="36576" tIns="36576" rIns="36576" bIns="36576" anchor="t">
            <a:spAutoFit/>
          </a:bodyPr>
          <a:lstStyle/>
          <a:p>
            <a:pPr algn="r">
              <a:spcBef>
                <a:spcPts val="0"/>
              </a:spcBef>
              <a:spcAft>
                <a:spcPts val="0"/>
              </a:spcAft>
            </a:pPr>
            <a:r>
              <a:rPr sz="1000" b="1">
                <a:solidFill>
                  <a:srgbClr val="6E559A"/>
                </a:solidFill>
                <a:latin typeface="Calibri"/>
              </a:rPr>
              <a:t>BATARK</a:t>
            </a:r>
          </a:p>
        </p:txBody>
      </p:sp>
      <p:sp>
        <p:nvSpPr>
          <p:cNvPr id="8" name="Rounded Rectangle 7"/>
          <p:cNvSpPr/>
          <p:nvPr/>
        </p:nvSpPr>
        <p:spPr>
          <a:xfrm>
            <a:off x="548640" y="1353312"/>
            <a:ext cx="5715000" cy="4800600"/>
          </a:xfrm>
          <a:prstGeom prst="roundRect">
            <a:avLst/>
          </a:prstGeom>
          <a:solidFill>
            <a:srgbClr val="1E0E38"/>
          </a:solidFill>
          <a:ln w="1524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609344"/>
            <a:ext cx="5166360" cy="301752"/>
          </a:xfrm>
          <a:prstGeom prst="rect">
            <a:avLst/>
          </a:prstGeom>
          <a:noFill/>
        </p:spPr>
        <p:txBody>
          <a:bodyPr wrap="square" lIns="36576" tIns="36576" rIns="36576" bIns="36576" anchor="t">
            <a:spAutoFit/>
          </a:bodyPr>
          <a:lstStyle/>
          <a:p>
            <a:pPr algn="l">
              <a:spcBef>
                <a:spcPts val="0"/>
              </a:spcBef>
              <a:spcAft>
                <a:spcPts val="0"/>
              </a:spcAft>
            </a:pPr>
            <a:r>
              <a:rPr sz="1650" b="1">
                <a:solidFill>
                  <a:srgbClr val="3DE5E0"/>
                </a:solidFill>
                <a:latin typeface="Calibri"/>
              </a:rPr>
              <a:t>Code généré après validation du paiement</a:t>
            </a:r>
          </a:p>
        </p:txBody>
      </p:sp>
      <p:sp>
        <p:nvSpPr>
          <p:cNvPr id="10" name="Rounded Rectangle 9"/>
          <p:cNvSpPr/>
          <p:nvPr/>
        </p:nvSpPr>
        <p:spPr>
          <a:xfrm>
            <a:off x="822960" y="2029968"/>
            <a:ext cx="5166360" cy="749808"/>
          </a:xfrm>
          <a:prstGeom prst="roundRect">
            <a:avLst/>
          </a:prstGeom>
          <a:solidFill>
            <a:srgbClr val="0C1828"/>
          </a:solidFill>
          <a:ln w="1270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2258568"/>
            <a:ext cx="4828032" cy="256032"/>
          </a:xfrm>
          <a:prstGeom prst="rect">
            <a:avLst/>
          </a:prstGeom>
          <a:noFill/>
        </p:spPr>
        <p:txBody>
          <a:bodyPr wrap="square" lIns="36576" tIns="36576" rIns="36576" bIns="36576" anchor="ctr">
            <a:spAutoFit/>
          </a:bodyPr>
          <a:lstStyle/>
          <a:p>
            <a:pPr algn="l">
              <a:spcBef>
                <a:spcPts val="0"/>
              </a:spcBef>
              <a:spcAft>
                <a:spcPts val="0"/>
              </a:spcAft>
            </a:pPr>
            <a:r>
              <a:rPr sz="1420" b="1">
                <a:solidFill>
                  <a:srgbClr val="F3EEFF"/>
                </a:solidFill>
                <a:latin typeface="Consolas"/>
              </a:rPr>
              <a:t>$orderCode = strtoupper(substr(uniqid('CMD'), 0, 12));</a:t>
            </a:r>
          </a:p>
        </p:txBody>
      </p:sp>
      <p:sp>
        <p:nvSpPr>
          <p:cNvPr id="12" name="TextBox 11"/>
          <p:cNvSpPr txBox="1"/>
          <p:nvPr/>
        </p:nvSpPr>
        <p:spPr>
          <a:xfrm>
            <a:off x="868680" y="3090672"/>
            <a:ext cx="5029200" cy="2542032"/>
          </a:xfrm>
          <a:prstGeom prst="rect">
            <a:avLst/>
          </a:prstGeom>
          <a:noFill/>
        </p:spPr>
        <p:txBody>
          <a:bodyPr wrap="square" lIns="36576" tIns="36576" rIns="36576" bIns="36576" anchor="t">
            <a:spAutoFit/>
          </a:bodyPr>
          <a:lstStyle/>
          <a:p>
            <a:pPr algn="l">
              <a:spcBef>
                <a:spcPts val="0"/>
              </a:spcBef>
              <a:spcAft>
                <a:spcPts val="0"/>
              </a:spcAft>
            </a:pPr>
            <a:r>
              <a:rPr sz="1400">
                <a:solidFill>
                  <a:srgbClr val="F3EEFF"/>
                </a:solidFill>
                <a:latin typeface="Calibri"/>
              </a:rPr>
              <a:t>▸ uniqid('CMD') : crée un identifiant basé sur le temps commençant par CMD
▸ substr(..., 0, 12) : conserve les 12 premiers caractères
▸ strtoupper(...) : transforme le résultat en majuscules
Exemple : CMD686F3A92B</a:t>
            </a:r>
          </a:p>
        </p:txBody>
      </p:sp>
      <p:sp>
        <p:nvSpPr>
          <p:cNvPr id="13" name="Rounded Rectangle 12"/>
          <p:cNvSpPr/>
          <p:nvPr/>
        </p:nvSpPr>
        <p:spPr>
          <a:xfrm>
            <a:off x="6492240" y="1353312"/>
            <a:ext cx="5120640" cy="4800600"/>
          </a:xfrm>
          <a:prstGeom prst="roundRect">
            <a:avLst/>
          </a:prstGeom>
          <a:solidFill>
            <a:srgbClr val="1E0E38"/>
          </a:solidFill>
          <a:ln w="1524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748272" y="1609344"/>
            <a:ext cx="4617720" cy="301752"/>
          </a:xfrm>
          <a:prstGeom prst="rect">
            <a:avLst/>
          </a:prstGeom>
          <a:noFill/>
        </p:spPr>
        <p:txBody>
          <a:bodyPr wrap="square" lIns="36576" tIns="36576" rIns="36576" bIns="36576" anchor="t">
            <a:spAutoFit/>
          </a:bodyPr>
          <a:lstStyle/>
          <a:p>
            <a:pPr algn="l">
              <a:spcBef>
                <a:spcPts val="0"/>
              </a:spcBef>
              <a:spcAft>
                <a:spcPts val="0"/>
              </a:spcAft>
            </a:pPr>
            <a:r>
              <a:rPr sz="1650" b="1">
                <a:solidFill>
                  <a:srgbClr val="3DE5E0"/>
                </a:solidFill>
                <a:latin typeface="Calibri"/>
              </a:rPr>
              <a:t>Parcours de livraison</a:t>
            </a:r>
          </a:p>
        </p:txBody>
      </p:sp>
      <p:sp>
        <p:nvSpPr>
          <p:cNvPr id="15" name="Rounded Rectangle 14"/>
          <p:cNvSpPr/>
          <p:nvPr/>
        </p:nvSpPr>
        <p:spPr>
          <a:xfrm>
            <a:off x="6903720" y="2057400"/>
            <a:ext cx="4297680" cy="713232"/>
          </a:xfrm>
          <a:prstGeom prst="roundRect">
            <a:avLst/>
          </a:prstGeom>
          <a:solidFill>
            <a:srgbClr val="0C1828"/>
          </a:solidFill>
          <a:ln w="1270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095744" y="2157984"/>
            <a:ext cx="1691640" cy="237744"/>
          </a:xfrm>
          <a:prstGeom prst="rect">
            <a:avLst/>
          </a:prstGeom>
          <a:noFill/>
        </p:spPr>
        <p:txBody>
          <a:bodyPr wrap="square" lIns="36576" tIns="36576" rIns="36576" bIns="36576" anchor="t">
            <a:spAutoFit/>
          </a:bodyPr>
          <a:lstStyle/>
          <a:p>
            <a:pPr algn="l">
              <a:spcBef>
                <a:spcPts val="0"/>
              </a:spcBef>
              <a:spcAft>
                <a:spcPts val="0"/>
              </a:spcAft>
            </a:pPr>
            <a:r>
              <a:rPr sz="1330" b="1">
                <a:solidFill>
                  <a:srgbClr val="3DE5E0"/>
                </a:solidFill>
                <a:latin typeface="Calibri"/>
              </a:rPr>
              <a:t>Paiement validé</a:t>
            </a:r>
          </a:p>
        </p:txBody>
      </p:sp>
      <p:sp>
        <p:nvSpPr>
          <p:cNvPr id="17" name="TextBox 16"/>
          <p:cNvSpPr txBox="1"/>
          <p:nvPr/>
        </p:nvSpPr>
        <p:spPr>
          <a:xfrm>
            <a:off x="8668512" y="2130552"/>
            <a:ext cx="2267712" cy="365760"/>
          </a:xfrm>
          <a:prstGeom prst="rect">
            <a:avLst/>
          </a:prstGeom>
          <a:noFill/>
        </p:spPr>
        <p:txBody>
          <a:bodyPr wrap="square" lIns="36576" tIns="36576" rIns="36576" bIns="36576" anchor="ctr">
            <a:spAutoFit/>
          </a:bodyPr>
          <a:lstStyle/>
          <a:p>
            <a:pPr algn="l">
              <a:spcBef>
                <a:spcPts val="0"/>
              </a:spcBef>
              <a:spcAft>
                <a:spcPts val="0"/>
              </a:spcAft>
            </a:pPr>
            <a:r>
              <a:rPr sz="1080" b="0">
                <a:solidFill>
                  <a:srgbClr val="F3EEFF"/>
                </a:solidFill>
                <a:latin typeface="Calibri"/>
              </a:rPr>
              <a:t>Stripe confirme le paiement</a:t>
            </a:r>
          </a:p>
        </p:txBody>
      </p:sp>
      <p:sp>
        <p:nvSpPr>
          <p:cNvPr id="18" name="TextBox 17"/>
          <p:cNvSpPr txBox="1"/>
          <p:nvPr/>
        </p:nvSpPr>
        <p:spPr>
          <a:xfrm>
            <a:off x="8823960" y="2788920"/>
            <a:ext cx="502920" cy="237744"/>
          </a:xfrm>
          <a:prstGeom prst="rect">
            <a:avLst/>
          </a:prstGeom>
          <a:noFill/>
        </p:spPr>
        <p:txBody>
          <a:bodyPr wrap="square" lIns="36576" tIns="36576" rIns="36576" bIns="36576" anchor="t">
            <a:spAutoFit/>
          </a:bodyPr>
          <a:lstStyle/>
          <a:p>
            <a:pPr algn="ctr">
              <a:spcBef>
                <a:spcPts val="0"/>
              </a:spcBef>
              <a:spcAft>
                <a:spcPts val="0"/>
              </a:spcAft>
            </a:pPr>
            <a:r>
              <a:rPr sz="1800" b="1">
                <a:solidFill>
                  <a:srgbClr val="C84BE0"/>
                </a:solidFill>
                <a:latin typeface="Calibri"/>
              </a:rPr>
              <a:t>↓</a:t>
            </a:r>
          </a:p>
        </p:txBody>
      </p:sp>
      <p:sp>
        <p:nvSpPr>
          <p:cNvPr id="19" name="Rounded Rectangle 18"/>
          <p:cNvSpPr/>
          <p:nvPr/>
        </p:nvSpPr>
        <p:spPr>
          <a:xfrm>
            <a:off x="6903720" y="3044952"/>
            <a:ext cx="4297680" cy="713232"/>
          </a:xfrm>
          <a:prstGeom prst="roundRect">
            <a:avLst/>
          </a:prstGeom>
          <a:solidFill>
            <a:srgbClr val="0C1828"/>
          </a:solidFill>
          <a:ln w="1270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95744" y="3145536"/>
            <a:ext cx="1691640" cy="237744"/>
          </a:xfrm>
          <a:prstGeom prst="rect">
            <a:avLst/>
          </a:prstGeom>
          <a:noFill/>
        </p:spPr>
        <p:txBody>
          <a:bodyPr wrap="square" lIns="36576" tIns="36576" rIns="36576" bIns="36576" anchor="t">
            <a:spAutoFit/>
          </a:bodyPr>
          <a:lstStyle/>
          <a:p>
            <a:pPr algn="l">
              <a:spcBef>
                <a:spcPts val="0"/>
              </a:spcBef>
              <a:spcAft>
                <a:spcPts val="0"/>
              </a:spcAft>
            </a:pPr>
            <a:r>
              <a:rPr sz="1330" b="1">
                <a:solidFill>
                  <a:srgbClr val="3DE5E0"/>
                </a:solidFill>
                <a:latin typeface="Calibri"/>
              </a:rPr>
              <a:t>Code affiché</a:t>
            </a:r>
          </a:p>
        </p:txBody>
      </p:sp>
      <p:sp>
        <p:nvSpPr>
          <p:cNvPr id="21" name="TextBox 20"/>
          <p:cNvSpPr txBox="1"/>
          <p:nvPr/>
        </p:nvSpPr>
        <p:spPr>
          <a:xfrm>
            <a:off x="8668512" y="3118104"/>
            <a:ext cx="2267712" cy="365760"/>
          </a:xfrm>
          <a:prstGeom prst="rect">
            <a:avLst/>
          </a:prstGeom>
          <a:noFill/>
        </p:spPr>
        <p:txBody>
          <a:bodyPr wrap="square" lIns="36576" tIns="36576" rIns="36576" bIns="36576" anchor="ctr">
            <a:spAutoFit/>
          </a:bodyPr>
          <a:lstStyle/>
          <a:p>
            <a:pPr algn="l">
              <a:spcBef>
                <a:spcPts val="0"/>
              </a:spcBef>
              <a:spcAft>
                <a:spcPts val="0"/>
              </a:spcAft>
            </a:pPr>
            <a:r>
              <a:rPr sz="1080" b="0">
                <a:solidFill>
                  <a:srgbClr val="F3EEFF"/>
                </a:solidFill>
                <a:latin typeface="Calibri"/>
              </a:rPr>
              <a:t>Le client conserve sa référence</a:t>
            </a:r>
          </a:p>
        </p:txBody>
      </p:sp>
      <p:sp>
        <p:nvSpPr>
          <p:cNvPr id="22" name="TextBox 21"/>
          <p:cNvSpPr txBox="1"/>
          <p:nvPr/>
        </p:nvSpPr>
        <p:spPr>
          <a:xfrm>
            <a:off x="8823960" y="3776472"/>
            <a:ext cx="502920" cy="237744"/>
          </a:xfrm>
          <a:prstGeom prst="rect">
            <a:avLst/>
          </a:prstGeom>
          <a:noFill/>
        </p:spPr>
        <p:txBody>
          <a:bodyPr wrap="square" lIns="36576" tIns="36576" rIns="36576" bIns="36576" anchor="t">
            <a:spAutoFit/>
          </a:bodyPr>
          <a:lstStyle/>
          <a:p>
            <a:pPr algn="ctr">
              <a:spcBef>
                <a:spcPts val="0"/>
              </a:spcBef>
              <a:spcAft>
                <a:spcPts val="0"/>
              </a:spcAft>
            </a:pPr>
            <a:r>
              <a:rPr sz="1800" b="1">
                <a:solidFill>
                  <a:srgbClr val="C84BE0"/>
                </a:solidFill>
                <a:latin typeface="Calibri"/>
              </a:rPr>
              <a:t>↓</a:t>
            </a:r>
          </a:p>
        </p:txBody>
      </p:sp>
      <p:sp>
        <p:nvSpPr>
          <p:cNvPr id="23" name="Rounded Rectangle 22"/>
          <p:cNvSpPr/>
          <p:nvPr/>
        </p:nvSpPr>
        <p:spPr>
          <a:xfrm>
            <a:off x="6903720" y="4032504"/>
            <a:ext cx="4297680" cy="713232"/>
          </a:xfrm>
          <a:prstGeom prst="roundRect">
            <a:avLst/>
          </a:prstGeom>
          <a:solidFill>
            <a:srgbClr val="0C1828"/>
          </a:solidFill>
          <a:ln w="12700">
            <a:solidFill>
              <a:srgbClr val="C84B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95744" y="4133088"/>
            <a:ext cx="1691640" cy="237744"/>
          </a:xfrm>
          <a:prstGeom prst="rect">
            <a:avLst/>
          </a:prstGeom>
          <a:noFill/>
        </p:spPr>
        <p:txBody>
          <a:bodyPr wrap="square" lIns="36576" tIns="36576" rIns="36576" bIns="36576" anchor="t">
            <a:spAutoFit/>
          </a:bodyPr>
          <a:lstStyle/>
          <a:p>
            <a:pPr algn="l">
              <a:spcBef>
                <a:spcPts val="0"/>
              </a:spcBef>
              <a:spcAft>
                <a:spcPts val="0"/>
              </a:spcAft>
            </a:pPr>
            <a:r>
              <a:rPr sz="1330" b="1">
                <a:solidFill>
                  <a:srgbClr val="3DE5E0"/>
                </a:solidFill>
                <a:latin typeface="Calibri"/>
              </a:rPr>
              <a:t>Envoi sur Discord</a:t>
            </a:r>
          </a:p>
        </p:txBody>
      </p:sp>
      <p:sp>
        <p:nvSpPr>
          <p:cNvPr id="25" name="TextBox 24"/>
          <p:cNvSpPr txBox="1"/>
          <p:nvPr/>
        </p:nvSpPr>
        <p:spPr>
          <a:xfrm>
            <a:off x="8668512" y="4105656"/>
            <a:ext cx="2267712" cy="365760"/>
          </a:xfrm>
          <a:prstGeom prst="rect">
            <a:avLst/>
          </a:prstGeom>
          <a:noFill/>
        </p:spPr>
        <p:txBody>
          <a:bodyPr wrap="square" lIns="36576" tIns="36576" rIns="36576" bIns="36576" anchor="ctr">
            <a:spAutoFit/>
          </a:bodyPr>
          <a:lstStyle/>
          <a:p>
            <a:pPr algn="l">
              <a:spcBef>
                <a:spcPts val="0"/>
              </a:spcBef>
              <a:spcAft>
                <a:spcPts val="0"/>
              </a:spcAft>
            </a:pPr>
            <a:r>
              <a:rPr sz="1080" b="0">
                <a:solidFill>
                  <a:srgbClr val="F3EEFF"/>
                </a:solidFill>
                <a:latin typeface="Calibri"/>
              </a:rPr>
              <a:t>Le client transmet le code aux admins</a:t>
            </a:r>
          </a:p>
        </p:txBody>
      </p:sp>
      <p:sp>
        <p:nvSpPr>
          <p:cNvPr id="26" name="TextBox 25"/>
          <p:cNvSpPr txBox="1"/>
          <p:nvPr/>
        </p:nvSpPr>
        <p:spPr>
          <a:xfrm>
            <a:off x="8823960" y="4764024"/>
            <a:ext cx="502920" cy="237744"/>
          </a:xfrm>
          <a:prstGeom prst="rect">
            <a:avLst/>
          </a:prstGeom>
          <a:noFill/>
        </p:spPr>
        <p:txBody>
          <a:bodyPr wrap="square" lIns="36576" tIns="36576" rIns="36576" bIns="36576" anchor="t">
            <a:spAutoFit/>
          </a:bodyPr>
          <a:lstStyle/>
          <a:p>
            <a:pPr algn="ctr">
              <a:spcBef>
                <a:spcPts val="0"/>
              </a:spcBef>
              <a:spcAft>
                <a:spcPts val="0"/>
              </a:spcAft>
            </a:pPr>
            <a:r>
              <a:rPr sz="1800" b="1">
                <a:solidFill>
                  <a:srgbClr val="C84BE0"/>
                </a:solidFill>
                <a:latin typeface="Calibri"/>
              </a:rPr>
              <a:t>↓</a:t>
            </a:r>
          </a:p>
        </p:txBody>
      </p:sp>
      <p:sp>
        <p:nvSpPr>
          <p:cNvPr id="27" name="Rounded Rectangle 26"/>
          <p:cNvSpPr/>
          <p:nvPr/>
        </p:nvSpPr>
        <p:spPr>
          <a:xfrm>
            <a:off x="6903720" y="5020056"/>
            <a:ext cx="4297680" cy="713232"/>
          </a:xfrm>
          <a:prstGeom prst="roundRect">
            <a:avLst/>
          </a:prstGeom>
          <a:solidFill>
            <a:srgbClr val="0C1828"/>
          </a:solidFill>
          <a:ln w="12700">
            <a:solidFill>
              <a:srgbClr val="3DE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95744" y="5120640"/>
            <a:ext cx="1691640" cy="237744"/>
          </a:xfrm>
          <a:prstGeom prst="rect">
            <a:avLst/>
          </a:prstGeom>
          <a:noFill/>
        </p:spPr>
        <p:txBody>
          <a:bodyPr wrap="square" lIns="36576" tIns="36576" rIns="36576" bIns="36576" anchor="t">
            <a:spAutoFit/>
          </a:bodyPr>
          <a:lstStyle/>
          <a:p>
            <a:pPr algn="l">
              <a:spcBef>
                <a:spcPts val="0"/>
              </a:spcBef>
              <a:spcAft>
                <a:spcPts val="0"/>
              </a:spcAft>
            </a:pPr>
            <a:r>
              <a:rPr sz="1330" b="1">
                <a:solidFill>
                  <a:srgbClr val="3DE5E0"/>
                </a:solidFill>
                <a:latin typeface="Calibri"/>
              </a:rPr>
              <a:t>Livraison en jeu</a:t>
            </a:r>
          </a:p>
        </p:txBody>
      </p:sp>
      <p:sp>
        <p:nvSpPr>
          <p:cNvPr id="29" name="TextBox 28"/>
          <p:cNvSpPr txBox="1"/>
          <p:nvPr/>
        </p:nvSpPr>
        <p:spPr>
          <a:xfrm>
            <a:off x="8668512" y="5093208"/>
            <a:ext cx="2267712" cy="365760"/>
          </a:xfrm>
          <a:prstGeom prst="rect">
            <a:avLst/>
          </a:prstGeom>
          <a:noFill/>
        </p:spPr>
        <p:txBody>
          <a:bodyPr wrap="square" lIns="36576" tIns="36576" rIns="36576" bIns="36576" anchor="ctr">
            <a:spAutoFit/>
          </a:bodyPr>
          <a:lstStyle/>
          <a:p>
            <a:pPr algn="l">
              <a:spcBef>
                <a:spcPts val="0"/>
              </a:spcBef>
              <a:spcAft>
                <a:spcPts val="0"/>
              </a:spcAft>
            </a:pPr>
            <a:r>
              <a:rPr sz="1080" b="0">
                <a:solidFill>
                  <a:srgbClr val="F3EEFF"/>
                </a:solidFill>
                <a:latin typeface="Calibri"/>
              </a:rPr>
              <a:t>L’admin retrouve la commande et livre les objets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2743200" cy="2011680"/>
          </a:xfrm>
          <a:prstGeom prst="rect">
            <a:avLst/>
          </a:prstGeom>
          <a:noFill/>
        </p:spPr>
        <p:txBody>
          <a:bodyPr wrap="square" anchor="t">
            <a:spAutoFit/>
          </a:bodyPr>
          <a:lstStyle/>
          <a:p>
            <a:pPr algn="l"/>
            <a:r>
              <a:rPr sz="14000" b="1" i="0">
                <a:solidFill>
                  <a:srgbClr val="351C5C"/>
                </a:solidFill>
                <a:latin typeface="Calibri"/>
              </a:rPr>
              <a:t>7</a:t>
            </a:r>
          </a:p>
        </p:txBody>
      </p:sp>
      <p:sp>
        <p:nvSpPr>
          <p:cNvPr id="4" name="TextBox 3"/>
          <p:cNvSpPr txBox="1"/>
          <p:nvPr/>
        </p:nvSpPr>
        <p:spPr>
          <a:xfrm>
            <a:off x="3108960" y="2286000"/>
            <a:ext cx="8412480" cy="822960"/>
          </a:xfrm>
          <a:prstGeom prst="rect">
            <a:avLst/>
          </a:prstGeom>
          <a:noFill/>
        </p:spPr>
        <p:txBody>
          <a:bodyPr wrap="square" anchor="t">
            <a:spAutoFit/>
          </a:bodyPr>
          <a:lstStyle/>
          <a:p>
            <a:pPr algn="l"/>
            <a:r>
              <a:rPr sz="3800" b="1" i="0">
                <a:solidFill>
                  <a:srgbClr val="F3EEFF"/>
                </a:solidFill>
                <a:latin typeface="Calibri"/>
              </a:rPr>
              <a:t>Conclusion</a:t>
            </a:r>
          </a:p>
        </p:txBody>
      </p:sp>
      <p:sp>
        <p:nvSpPr>
          <p:cNvPr id="5" name="TextBox 4"/>
          <p:cNvSpPr txBox="1"/>
          <p:nvPr/>
        </p:nvSpPr>
        <p:spPr>
          <a:xfrm>
            <a:off x="3154680" y="2971800"/>
            <a:ext cx="8412480" cy="457200"/>
          </a:xfrm>
          <a:prstGeom prst="rect">
            <a:avLst/>
          </a:prstGeom>
          <a:noFill/>
        </p:spPr>
        <p:txBody>
          <a:bodyPr wrap="square" anchor="t">
            <a:spAutoFit/>
          </a:bodyPr>
          <a:lstStyle/>
          <a:p>
            <a:pPr algn="l"/>
            <a:r>
              <a:rPr sz="1600" b="0" i="1">
                <a:solidFill>
                  <a:srgbClr val="3DE5E0"/>
                </a:solidFill>
                <a:latin typeface="Calibri"/>
              </a:rPr>
              <a:t>≈ 4 minutes</a:t>
            </a:r>
          </a:p>
        </p:txBody>
      </p:sp>
      <p:sp>
        <p:nvSpPr>
          <p:cNvPr id="6" name="Rectangle 5"/>
          <p:cNvSpPr/>
          <p:nvPr/>
        </p:nvSpPr>
        <p:spPr>
          <a:xfrm>
            <a:off x="3154680" y="3520440"/>
            <a:ext cx="2194560" cy="50800"/>
          </a:xfrm>
          <a:prstGeom prst="rect">
            <a:avLst/>
          </a:prstGeom>
          <a:solidFill>
            <a:srgbClr val="C84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54680" y="3794760"/>
            <a:ext cx="8046720" cy="2377440"/>
          </a:xfrm>
          <a:prstGeom prst="rect">
            <a:avLst/>
          </a:prstGeom>
          <a:noFill/>
        </p:spPr>
        <p:txBody>
          <a:bodyPr wrap="square">
            <a:spAutoFit/>
          </a:bodyPr>
          <a:lstStyle/>
          <a:p>
            <a:pPr>
              <a:spcAft>
                <a:spcPts val="1000"/>
              </a:spcAft>
            </a:pPr>
            <a:r>
              <a:rPr sz="1600" b="1">
                <a:solidFill>
                  <a:srgbClr val="F3EEFF"/>
                </a:solidFill>
                <a:latin typeface="Calibri"/>
              </a:rPr>
              <a:t>▸ Réussites &amp; difficultés</a:t>
            </a:r>
          </a:p>
          <a:p>
            <a:pPr>
              <a:spcAft>
                <a:spcPts val="1000"/>
              </a:spcAft>
            </a:pPr>
            <a:r>
              <a:rPr sz="1600" b="1">
                <a:solidFill>
                  <a:srgbClr val="F3EEFF"/>
                </a:solidFill>
                <a:latin typeface="Calibri"/>
              </a:rPr>
              <a:t>▸ Évolutions futures</a:t>
            </a:r>
          </a:p>
          <a:p>
            <a:pPr>
              <a:spcAft>
                <a:spcPts val="1000"/>
              </a:spcAft>
            </a:pPr>
            <a:r>
              <a:rPr sz="1600" b="1">
                <a:solidFill>
                  <a:srgbClr val="F3EEFF"/>
                </a:solidFill>
                <a:latin typeface="Calibri"/>
              </a:rPr>
              <a:t>▸ Suite de parcours</a:t>
            </a:r>
          </a:p>
        </p:txBody>
      </p:sp>
      <p:sp>
        <p:nvSpPr>
          <p:cNvPr id="8" name="TextBox 7"/>
          <p:cNvSpPr txBox="1"/>
          <p:nvPr/>
        </p:nvSpPr>
        <p:spPr>
          <a:xfrm>
            <a:off x="548640" y="6473952"/>
            <a:ext cx="7315200" cy="320040"/>
          </a:xfrm>
          <a:prstGeom prst="rect">
            <a:avLst/>
          </a:prstGeom>
          <a:noFill/>
        </p:spPr>
        <p:txBody>
          <a:bodyPr wrap="square" anchor="t">
            <a:spAutoFit/>
          </a:bodyPr>
          <a:lstStyle/>
          <a:p>
            <a:pPr algn="l"/>
            <a:endParaRPr/>
          </a:p>
        </p:txBody>
      </p:sp>
      <p:sp>
        <p:nvSpPr>
          <p:cNvPr id="9" name="TextBox 8"/>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7. CONCLUSION</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Réussites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700" b="1">
                <a:solidFill>
                  <a:srgbClr val="F3EEFF"/>
                </a:solidFill>
                <a:latin typeface="Calibri"/>
              </a:rPr>
              <a:t>▸ Intégration complète d'un paiement réel avec Stripe Checkout, du panier à la commande</a:t>
            </a:r>
          </a:p>
          <a:p>
            <a:pPr>
              <a:spcAft>
                <a:spcPts val="1000"/>
              </a:spcAft>
            </a:pPr>
            <a:r>
              <a:rPr sz="1700" b="1">
                <a:solidFill>
                  <a:srgbClr val="F3EEFF"/>
                </a:solidFill>
                <a:latin typeface="Calibri"/>
              </a:rPr>
              <a:t>▸ Modélisation d'un panier/commande avec déclinaisons produit (Type, Quality) optionnelles et réutilisées entre Cart/CartItem et Order/OrderItem</a:t>
            </a:r>
          </a:p>
          <a:p>
            <a:pPr>
              <a:spcAft>
                <a:spcPts val="1000"/>
              </a:spcAft>
            </a:pPr>
            <a:r>
              <a:rPr sz="1700" b="1">
                <a:solidFill>
                  <a:srgbClr val="F3EEFF"/>
                </a:solidFill>
                <a:latin typeface="Calibri"/>
              </a:rPr>
              <a:t>▸ Sécurité applicative complète : rôles, CSRF, hashing, contrainte de mot de passe CNIL</a:t>
            </a:r>
          </a:p>
          <a:p>
            <a:pPr>
              <a:spcAft>
                <a:spcPts val="1000"/>
              </a:spcAft>
            </a:pPr>
            <a:r>
              <a:rPr sz="1700" b="1">
                <a:solidFill>
                  <a:srgbClr val="C84BE0"/>
                </a:solidFill>
                <a:latin typeface="Calibri"/>
              </a:rPr>
              <a:t>▸ [À COMPLÉTER : 1 réussite supplémentaire dont vous êtes fier]</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7 — Conclusion</a:t>
            </a:r>
          </a:p>
        </p:txBody>
      </p:sp>
      <p:sp>
        <p:nvSpPr>
          <p:cNvPr id="8" name="TextBox 7"/>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7. CONCLUSION</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Difficultés surmontées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700" b="1">
                <a:solidFill>
                  <a:srgbClr val="F3EEFF"/>
                </a:solidFill>
                <a:latin typeface="Calibri"/>
              </a:rPr>
              <a:t>▸ Gestion des attributs optionnels Type/Quality sur CartItem et OrderItem sans dupliquer la logique métier</a:t>
            </a:r>
          </a:p>
          <a:p>
            <a:pPr>
              <a:spcAft>
                <a:spcPts val="1000"/>
              </a:spcAft>
            </a:pPr>
            <a:r>
              <a:rPr sz="1700" b="1">
                <a:solidFill>
                  <a:srgbClr val="F3EEFF"/>
                </a:solidFill>
                <a:latin typeface="Calibri"/>
              </a:rPr>
              <a:t>▸ Synchronisation entre le flux Stripe Checkout (hébergé, sans webhook) et la création fiable de la commande au retour utilisateur</a:t>
            </a:r>
          </a:p>
          <a:p>
            <a:pPr>
              <a:spcAft>
                <a:spcPts val="1000"/>
              </a:spcAft>
            </a:pPr>
            <a:r>
              <a:rPr sz="1700" b="1">
                <a:solidFill>
                  <a:srgbClr val="C84BE0"/>
                </a:solidFill>
                <a:latin typeface="Calibri"/>
              </a:rPr>
              <a:t>▸ [À COMPLÉTER : difficulté personnelle rencontrée et comment vous l'avez résolue]</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7 — Conclusion</a:t>
            </a:r>
          </a:p>
        </p:txBody>
      </p:sp>
      <p:sp>
        <p:nvSpPr>
          <p:cNvPr id="8" name="TextBox 7"/>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pPr algn="l"/>
            <a:r>
              <a:rPr sz="1300" b="1" i="0">
                <a:solidFill>
                  <a:srgbClr val="C84BE0"/>
                </a:solidFill>
                <a:latin typeface="Calibri"/>
              </a:rPr>
              <a:t>7. CONCLUSION</a:t>
            </a:r>
          </a:p>
        </p:txBody>
      </p:sp>
      <p:sp>
        <p:nvSpPr>
          <p:cNvPr id="4" name="TextBox 3"/>
          <p:cNvSpPr txBox="1"/>
          <p:nvPr/>
        </p:nvSpPr>
        <p:spPr>
          <a:xfrm>
            <a:off x="548640" y="621792"/>
            <a:ext cx="11064240" cy="822960"/>
          </a:xfrm>
          <a:prstGeom prst="rect">
            <a:avLst/>
          </a:prstGeom>
          <a:noFill/>
        </p:spPr>
        <p:txBody>
          <a:bodyPr wrap="square" anchor="t">
            <a:spAutoFit/>
          </a:bodyPr>
          <a:lstStyle/>
          <a:p>
            <a:pPr algn="l"/>
            <a:r>
              <a:rPr sz="3000" b="1" i="0">
                <a:solidFill>
                  <a:srgbClr val="F3EEFF"/>
                </a:solidFill>
                <a:latin typeface="Calibri"/>
              </a:rPr>
              <a:t>Évolutions futures</a:t>
            </a:r>
          </a:p>
        </p:txBody>
      </p:sp>
      <p:sp>
        <p:nvSpPr>
          <p:cNvPr id="5" name="Rectangle 4"/>
          <p:cNvSpPr/>
          <p:nvPr/>
        </p:nvSpPr>
        <p:spPr>
          <a:xfrm>
            <a:off x="548640" y="1051560"/>
            <a:ext cx="201168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10789920" cy="4846320"/>
          </a:xfrm>
          <a:prstGeom prst="rect">
            <a:avLst/>
          </a:prstGeom>
          <a:noFill/>
        </p:spPr>
        <p:txBody>
          <a:bodyPr wrap="square">
            <a:spAutoFit/>
          </a:bodyPr>
          <a:lstStyle/>
          <a:p>
            <a:pPr>
              <a:spcAft>
                <a:spcPts val="1000"/>
              </a:spcAft>
            </a:pPr>
            <a:r>
              <a:rPr sz="1700" b="1">
                <a:solidFill>
                  <a:srgbClr val="F3EEFF"/>
                </a:solidFill>
                <a:latin typeface="Calibri"/>
              </a:rPr>
              <a:t>▸ Sécuriser le paiement avec un webhook Stripe (vérification serveur à serveur, plus robuste qu'un simple retour navigateur)</a:t>
            </a:r>
          </a:p>
          <a:p>
            <a:pPr>
              <a:spcAft>
                <a:spcPts val="1000"/>
              </a:spcAft>
            </a:pPr>
            <a:r>
              <a:rPr sz="1700" b="1">
                <a:solidFill>
                  <a:srgbClr val="F3EEFF"/>
                </a:solidFill>
                <a:latin typeface="Calibri"/>
              </a:rPr>
              <a:t>▸ Réactiver la vérification d'email à l'inscription (symfonycasts/verify-email-bundle est déjà présent, mais isVerified est actuellement forcé à true)</a:t>
            </a:r>
          </a:p>
          <a:p>
            <a:pPr>
              <a:spcAft>
                <a:spcPts val="1000"/>
              </a:spcAft>
            </a:pPr>
            <a:r>
              <a:rPr sz="1700" b="1">
                <a:solidFill>
                  <a:srgbClr val="F3EEFF"/>
                </a:solidFill>
                <a:latin typeface="Calibri"/>
              </a:rPr>
              <a:t>▸ Écrire des tests automatisés (PHPUnit, déjà présent en dépendance de dev) et mettre en place une CI/CD</a:t>
            </a:r>
          </a:p>
          <a:p>
            <a:pPr>
              <a:spcAft>
                <a:spcPts val="1000"/>
              </a:spcAft>
            </a:pPr>
            <a:r>
              <a:rPr sz="1700" b="1">
                <a:solidFill>
                  <a:srgbClr val="F3EEFF"/>
                </a:solidFill>
                <a:latin typeface="Calibri"/>
              </a:rPr>
              <a:t>▸ Exposer une API REST pour une future application mobile</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r>
              <a:rPr sz="1000" b="0" i="1">
                <a:solidFill>
                  <a:srgbClr val="B6A6DA"/>
                </a:solidFill>
                <a:latin typeface="Calibri"/>
              </a:rPr>
              <a:t>Section 7 — Conclusion</a:t>
            </a:r>
          </a:p>
        </p:txBody>
      </p:sp>
      <p:sp>
        <p:nvSpPr>
          <p:cNvPr id="8" name="TextBox 7"/>
          <p:cNvSpPr txBox="1"/>
          <p:nvPr/>
        </p:nvSpPr>
        <p:spPr>
          <a:xfrm>
            <a:off x="10241280" y="6473952"/>
            <a:ext cx="1371600" cy="320040"/>
          </a:xfrm>
          <a:prstGeom prst="rect">
            <a:avLst/>
          </a:prstGeom>
          <a:noFill/>
        </p:spPr>
        <p:txBody>
          <a:bodyPr wrap="square" anchor="t">
            <a:spAutoFit/>
          </a:bodyPr>
          <a:lstStyle/>
          <a:p>
            <a:pPr algn="r"/>
            <a:r>
              <a:rPr sz="1000" b="1" i="0">
                <a:solidFill>
                  <a:srgbClr val="6E559A"/>
                </a:solidFill>
                <a:latin typeface="Calibri"/>
              </a:rPr>
              <a:t>BATARK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0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651760"/>
            <a:ext cx="10332720" cy="1097280"/>
          </a:xfrm>
          <a:prstGeom prst="rect">
            <a:avLst/>
          </a:prstGeom>
          <a:noFill/>
        </p:spPr>
        <p:txBody>
          <a:bodyPr wrap="square" anchor="t">
            <a:spAutoFit/>
          </a:bodyPr>
          <a:lstStyle/>
          <a:p>
            <a:pPr algn="ctr"/>
            <a:r>
              <a:rPr sz="4400" b="1" i="0">
                <a:solidFill>
                  <a:srgbClr val="F3EEFF"/>
                </a:solidFill>
                <a:latin typeface="Calibri"/>
              </a:rPr>
              <a:t>Merci de votre attention</a:t>
            </a:r>
          </a:p>
        </p:txBody>
      </p:sp>
      <p:sp>
        <p:nvSpPr>
          <p:cNvPr id="4" name="Rectangle 3"/>
          <p:cNvSpPr/>
          <p:nvPr/>
        </p:nvSpPr>
        <p:spPr>
          <a:xfrm>
            <a:off x="4937760" y="3703320"/>
            <a:ext cx="2286000" cy="50800"/>
          </a:xfrm>
          <a:prstGeom prst="rect">
            <a:avLst/>
          </a:prstGeom>
          <a:solidFill>
            <a:srgbClr val="3DE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931920"/>
            <a:ext cx="10332720" cy="548640"/>
          </a:xfrm>
          <a:prstGeom prst="rect">
            <a:avLst/>
          </a:prstGeom>
          <a:noFill/>
        </p:spPr>
        <p:txBody>
          <a:bodyPr wrap="square" anchor="t">
            <a:spAutoFit/>
          </a:bodyPr>
          <a:lstStyle/>
          <a:p>
            <a:pPr algn="ctr"/>
            <a:r>
              <a:rPr sz="2200" b="0" i="1">
                <a:solidFill>
                  <a:srgbClr val="C84BE0"/>
                </a:solidFill>
                <a:latin typeface="Calibri"/>
              </a:rPr>
              <a:t>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1459</TotalTime>
  <Words>6526</Words>
  <Application>Microsoft Office PowerPoint</Application>
  <PresentationFormat>Grand écran</PresentationFormat>
  <Paragraphs>427</Paragraphs>
  <Slides>36</Slides>
  <Notes>36</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36</vt:i4>
      </vt:variant>
    </vt:vector>
  </HeadingPairs>
  <TitlesOfParts>
    <vt:vector size="41" baseType="lpstr">
      <vt:lpstr>Arial</vt:lpstr>
      <vt:lpstr>Calibri</vt:lpstr>
      <vt:lpstr>Consolas</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Antoine P</cp:lastModifiedBy>
  <cp:revision>50</cp:revision>
  <dcterms:created xsi:type="dcterms:W3CDTF">2013-01-27T09:14:16Z</dcterms:created>
  <dcterms:modified xsi:type="dcterms:W3CDTF">2026-07-11T21:26:40Z</dcterms:modified>
  <cp:category/>
</cp:coreProperties>
</file>